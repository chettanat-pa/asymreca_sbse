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"/>
  </p:notesMasterIdLst>
  <p:sldIdLst>
    <p:sldId id="256" r:id="rId2"/>
    <p:sldId id="257" r:id="rId3"/>
    <p:sldId id="258" r:id="rId4"/>
  </p:sldIdLst>
  <p:sldSz cx="30275213" cy="42840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B79"/>
    <a:srgbClr val="9DE3D1"/>
    <a:srgbClr val="80B6FF"/>
    <a:srgbClr val="FFE6B4"/>
    <a:srgbClr val="EDEDED"/>
    <a:srgbClr val="0000FF"/>
    <a:srgbClr val="F52D28"/>
    <a:srgbClr val="EAA93C"/>
    <a:srgbClr val="274174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08" autoAdjust="0"/>
    <p:restoredTop sz="96449" autoAdjust="0"/>
  </p:normalViewPr>
  <p:slideViewPr>
    <p:cSldViewPr snapToGrid="0">
      <p:cViewPr>
        <p:scale>
          <a:sx n="33" d="100"/>
          <a:sy n="33" d="100"/>
        </p:scale>
        <p:origin x="1992" y="-1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351EF-9549-4F5A-84DB-2AD1A8310DF9}" type="datetimeFigureOut">
              <a:rPr lang="en-GB" smtClean="0"/>
              <a:t>09/12/2025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FC9F7-32CF-473D-BC99-7CD18DE979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47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1pPr>
    <a:lvl2pPr marL="1492069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2pPr>
    <a:lvl3pPr marL="2984138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3pPr>
    <a:lvl4pPr marL="4476207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4pPr>
    <a:lvl5pPr marL="5968276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5pPr>
    <a:lvl6pPr marL="7460345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6pPr>
    <a:lvl7pPr marL="8952414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7pPr>
    <a:lvl8pPr marL="10444479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8pPr>
    <a:lvl9pPr marL="11936548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11132"/>
            <a:ext cx="25733931" cy="14914762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501064"/>
            <a:ext cx="22706410" cy="10343147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6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11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80331"/>
            <a:ext cx="26112371" cy="17820361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69280"/>
            <a:ext cx="26112371" cy="9371307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90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404240"/>
            <a:ext cx="12866966" cy="27181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404240"/>
            <a:ext cx="12866966" cy="27181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50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80857"/>
            <a:ext cx="26112371" cy="8280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501820"/>
            <a:ext cx="12807832" cy="5146780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48601"/>
            <a:ext cx="12807832" cy="23016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501820"/>
            <a:ext cx="12870909" cy="5146780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48601"/>
            <a:ext cx="12870909" cy="23016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6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9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6018"/>
            <a:ext cx="9764544" cy="9996064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8216"/>
            <a:ext cx="15326827" cy="30444362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52082"/>
            <a:ext cx="9764544" cy="23810073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6018"/>
            <a:ext cx="9764544" cy="9996064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8216"/>
            <a:ext cx="15326827" cy="30444362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52082"/>
            <a:ext cx="9764544" cy="23810073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02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3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80848"/>
            <a:ext cx="6528093" cy="363051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80848"/>
            <a:ext cx="19205838" cy="363051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76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2000">
              <a:srgbClr val="01008A"/>
            </a:gs>
            <a:gs pos="0">
              <a:srgbClr val="5F9FD9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80857"/>
            <a:ext cx="26112371" cy="828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404240"/>
            <a:ext cx="26112371" cy="27181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706598"/>
            <a:ext cx="6811923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17E24-91E2-4041-B69C-F720222C8CF5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706598"/>
            <a:ext cx="10217884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706598"/>
            <a:ext cx="6811923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6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0.png"/><Relationship Id="rId15" Type="http://schemas.openxmlformats.org/officeDocument/2006/relationships/image" Target="../media/image12.png"/><Relationship Id="rId10" Type="http://schemas.openxmlformats.org/officeDocument/2006/relationships/image" Target="../media/image4.png"/><Relationship Id="rId19" Type="http://schemas.openxmlformats.org/officeDocument/2006/relationships/image" Target="../media/image16.png"/><Relationship Id="rId4" Type="http://schemas.openxmlformats.org/officeDocument/2006/relationships/image" Target="../media/image30.png"/><Relationship Id="rId9" Type="http://schemas.openxmlformats.org/officeDocument/2006/relationships/image" Target="../media/image3.png"/><Relationship Id="rId14" Type="http://schemas.openxmlformats.org/officeDocument/2006/relationships/image" Target="../media/image1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3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12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11" Type="http://schemas.openxmlformats.org/officeDocument/2006/relationships/image" Target="../media/image21.png"/><Relationship Id="rId5" Type="http://schemas.openxmlformats.org/officeDocument/2006/relationships/image" Target="../media/image30.png"/><Relationship Id="rId10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7.png"/><Relationship Id="rId1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7772CB42-27F8-5367-2634-B670126D8ABB}"/>
              </a:ext>
            </a:extLst>
          </p:cNvPr>
          <p:cNvGrpSpPr>
            <a:grpSpLocks/>
          </p:cNvGrpSpPr>
          <p:nvPr/>
        </p:nvGrpSpPr>
        <p:grpSpPr>
          <a:xfrm>
            <a:off x="1" y="7609124"/>
            <a:ext cx="30275216" cy="30119116"/>
            <a:chOff x="0" y="2922512"/>
            <a:chExt cx="9601201" cy="8424295"/>
          </a:xfrm>
          <a:solidFill>
            <a:schemeClr val="bg1">
              <a:lumMod val="95000"/>
            </a:schemeClr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26134BD-DB7E-382E-A6C0-C35BECA5C2B7}"/>
                </a:ext>
              </a:extLst>
            </p:cNvPr>
            <p:cNvSpPr>
              <a:spLocks/>
            </p:cNvSpPr>
            <p:nvPr/>
          </p:nvSpPr>
          <p:spPr>
            <a:xfrm>
              <a:off x="0" y="2922512"/>
              <a:ext cx="9601200" cy="8424294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519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EB65F2B-095A-CF0D-E0A4-3A747EF6E8CE}"/>
                </a:ext>
              </a:extLst>
            </p:cNvPr>
            <p:cNvSpPr>
              <a:spLocks/>
            </p:cNvSpPr>
            <p:nvPr/>
          </p:nvSpPr>
          <p:spPr>
            <a:xfrm>
              <a:off x="6280150" y="3446378"/>
              <a:ext cx="3321051" cy="790042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519" b="1" dirty="0">
                <a:solidFill>
                  <a:schemeClr val="tx1"/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2B7C7B0-98A3-281E-A8FC-753BF01CB15E}"/>
              </a:ext>
            </a:extLst>
          </p:cNvPr>
          <p:cNvGrpSpPr/>
          <p:nvPr/>
        </p:nvGrpSpPr>
        <p:grpSpPr>
          <a:xfrm>
            <a:off x="1702744" y="1053817"/>
            <a:ext cx="26871887" cy="6283894"/>
            <a:chOff x="1054200" y="32702"/>
            <a:chExt cx="8521901" cy="19928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D4C9CED-BDCB-F7F9-E909-EC846F677E9D}"/>
                </a:ext>
              </a:extLst>
            </p:cNvPr>
            <p:cNvSpPr txBox="1">
              <a:spLocks/>
            </p:cNvSpPr>
            <p:nvPr/>
          </p:nvSpPr>
          <p:spPr>
            <a:xfrm>
              <a:off x="1054200" y="426538"/>
              <a:ext cx="8521901" cy="159898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18920" b="1" dirty="0">
                  <a:solidFill>
                    <a:srgbClr val="FF7B79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  <a:cs typeface="KMITLGO" panose="02000000000000000000" pitchFamily="2" charset="0"/>
                </a:rPr>
                <a:t>				</a:t>
              </a:r>
              <a:r>
                <a:rPr lang="en-US" sz="20812" b="1" spc="946" dirty="0">
                  <a:solidFill>
                    <a:srgbClr val="FF7B79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  <a:cs typeface="KMITLGO" panose="02000000000000000000" pitchFamily="2" charset="0"/>
                </a:rPr>
                <a:t>As</a:t>
              </a:r>
              <a:r>
                <a:rPr lang="en-US" sz="20812" b="1" spc="946" dirty="0">
                  <a:solidFill>
                    <a:srgbClr val="FFE6B4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  <a:cs typeface="KMITLGO" panose="02000000000000000000" pitchFamily="2" charset="0"/>
                </a:rPr>
                <a:t>ym</a:t>
              </a:r>
              <a:r>
                <a:rPr lang="en-US" sz="20812" b="1" spc="946" dirty="0">
                  <a:solidFill>
                    <a:srgbClr val="9DE3D1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  <a:cs typeface="KMITLGO" panose="02000000000000000000" pitchFamily="2" charset="0"/>
                </a:rPr>
                <a:t>Re</a:t>
              </a:r>
              <a:r>
                <a:rPr lang="en-US" sz="20812" b="1" spc="946" dirty="0">
                  <a:solidFill>
                    <a:srgbClr val="80B6FF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  <a:cs typeface="KMITLGO" panose="02000000000000000000" pitchFamily="2" charset="0"/>
                </a:rPr>
                <a:t>ca</a:t>
              </a:r>
              <a:r>
                <a:rPr lang="en-US" sz="20812" b="1" dirty="0">
                  <a:solidFill>
                    <a:srgbClr val="80B6FF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  <a:cs typeface="KMITLGO" panose="02000000000000000000" pitchFamily="2" charset="0"/>
                </a:rPr>
                <a:t> </a:t>
              </a:r>
            </a:p>
            <a:p>
              <a:pPr algn="ctr"/>
              <a:r>
                <a:rPr lang="en-US" sz="11352" dirty="0">
                  <a:solidFill>
                    <a:schemeClr val="bg1">
                      <a:lumMod val="95000"/>
                    </a:schemeClr>
                  </a:solidFill>
                  <a:latin typeface="Segoe UI Semibold" panose="020B0702040204020203" pitchFamily="34" charset="0"/>
                  <a:ea typeface="Sans Serif Collection" panose="020B0502040504020204" pitchFamily="34" charset="0"/>
                  <a:cs typeface="Segoe UI Semibold" panose="020B0702040204020203" pitchFamily="34" charset="0"/>
                </a:rPr>
                <a:t>Optical limiter design using 10x less VO</a:t>
              </a:r>
              <a:r>
                <a:rPr lang="en-US" sz="11352" baseline="-25000" dirty="0">
                  <a:solidFill>
                    <a:schemeClr val="bg1">
                      <a:lumMod val="95000"/>
                    </a:schemeClr>
                  </a:solidFill>
                  <a:latin typeface="Segoe UI Semibold" panose="020B0702040204020203" pitchFamily="34" charset="0"/>
                  <a:ea typeface="Sans Serif Collection" panose="020B0502040504020204" pitchFamily="34" charset="0"/>
                  <a:cs typeface="Segoe UI Semibold" panose="020B0702040204020203" pitchFamily="34" charset="0"/>
                </a:rPr>
                <a:t>2</a:t>
              </a:r>
              <a:endParaRPr lang="en-US" sz="10721" b="1" dirty="0"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8C92397-8A7B-6EA7-2B46-282BDC51D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25890" y="32702"/>
              <a:ext cx="1422647" cy="1422647"/>
            </a:xfrm>
            <a:prstGeom prst="rect">
              <a:avLst/>
            </a:prstGeom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FFD814C-AA7F-3818-276A-9DEAC91E58F9}"/>
              </a:ext>
            </a:extLst>
          </p:cNvPr>
          <p:cNvSpPr txBox="1">
            <a:spLocks/>
          </p:cNvSpPr>
          <p:nvPr/>
        </p:nvSpPr>
        <p:spPr>
          <a:xfrm>
            <a:off x="49303" y="7718470"/>
            <a:ext cx="30225911" cy="174233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6307" b="1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Asymmetrical resonant cavity thin-film devices designed for VO</a:t>
            </a:r>
            <a:r>
              <a:rPr lang="en-US" sz="6307" b="1" baseline="-25000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2</a:t>
            </a:r>
            <a:r>
              <a:rPr lang="en-US" sz="6307" b="1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 applications</a:t>
            </a:r>
          </a:p>
          <a:p>
            <a:pPr defTabSz="1441641">
              <a:defRPr/>
            </a:pPr>
            <a:r>
              <a:rPr lang="en-US" sz="4415" b="1" i="1" dirty="0">
                <a:solidFill>
                  <a:prstClr val="white">
                    <a:lumMod val="50000"/>
                  </a:prstClr>
                </a:solidFill>
                <a:latin typeface="Helvetica" pitchFamily="2" charset="0"/>
                <a:cs typeface="KMITLGO" panose="02000000000000000000" pitchFamily="2" charset="0"/>
              </a:rPr>
              <a:t>         Keywords: optical thin film, thin film design, vanadium dioxide</a:t>
            </a:r>
            <a:endParaRPr lang="en-GB" sz="4415" b="1" i="1" dirty="0">
              <a:solidFill>
                <a:prstClr val="white">
                  <a:lumMod val="50000"/>
                </a:prstClr>
              </a:solidFill>
              <a:latin typeface="Helvetica" pitchFamily="2" charset="0"/>
              <a:cs typeface="KMITLGO" panose="02000000000000000000" pitchFamily="2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9D4226B-5DE8-BEC4-BE55-B245E471CCC6}"/>
              </a:ext>
            </a:extLst>
          </p:cNvPr>
          <p:cNvCxnSpPr>
            <a:cxnSpLocks/>
          </p:cNvCxnSpPr>
          <p:nvPr/>
        </p:nvCxnSpPr>
        <p:spPr>
          <a:xfrm flipH="1">
            <a:off x="19938839" y="14636606"/>
            <a:ext cx="999544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Picture 108" descr="A graph of a function&#10;&#10;Description automatically generated">
            <a:extLst>
              <a:ext uri="{FF2B5EF4-FFF2-40B4-BE49-F238E27FC236}">
                <a16:creationId xmlns:a16="http://schemas.microsoft.com/office/drawing/2014/main" id="{D708DDD0-41BD-9A76-699F-5E07F77E210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0" r="6105"/>
          <a:stretch/>
        </p:blipFill>
        <p:spPr>
          <a:xfrm>
            <a:off x="20365775" y="14963680"/>
            <a:ext cx="9191345" cy="6107538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9044EEE-37F8-8099-2140-60BC08E7BE65}"/>
              </a:ext>
            </a:extLst>
          </p:cNvPr>
          <p:cNvCxnSpPr>
            <a:cxnSpLocks/>
          </p:cNvCxnSpPr>
          <p:nvPr/>
        </p:nvCxnSpPr>
        <p:spPr>
          <a:xfrm flipH="1">
            <a:off x="19988900" y="21353029"/>
            <a:ext cx="994538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0" name="Group 1129">
            <a:extLst>
              <a:ext uri="{FF2B5EF4-FFF2-40B4-BE49-F238E27FC236}">
                <a16:creationId xmlns:a16="http://schemas.microsoft.com/office/drawing/2014/main" id="{1309628A-8E0E-C1AE-A0F4-B0A8911CB78B}"/>
              </a:ext>
            </a:extLst>
          </p:cNvPr>
          <p:cNvGrpSpPr>
            <a:grpSpLocks/>
          </p:cNvGrpSpPr>
          <p:nvPr/>
        </p:nvGrpSpPr>
        <p:grpSpPr>
          <a:xfrm>
            <a:off x="19869134" y="21534445"/>
            <a:ext cx="10552235" cy="3534451"/>
            <a:chOff x="6671729" y="6821142"/>
            <a:chExt cx="2827842" cy="887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4" name="Text Box 2">
                  <a:extLst>
                    <a:ext uri="{FF2B5EF4-FFF2-40B4-BE49-F238E27FC236}">
                      <a16:creationId xmlns:a16="http://schemas.microsoft.com/office/drawing/2014/main" id="{85C227FA-CA30-403E-770A-D8C6111CE7A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8484133" y="6821142"/>
                  <a:ext cx="216000" cy="648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ctr" anchorCtr="0">
                  <a:noAutofit/>
                </a:bodyPr>
                <a:lstStyle/>
                <a:p>
                  <a:pPr algn="di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523" i="1" dirty="0">
                            <a:latin typeface="Cambria Math" panose="02040503050406030204" pitchFamily="18" charset="0"/>
                            <a:cs typeface="KMITLGO" panose="02000000000000000000" pitchFamily="2" charset="0"/>
                          </a:rPr>
                          <m:t>𝐿</m:t>
                        </m:r>
                      </m:oMath>
                    </m:oMathPara>
                  </a14:m>
                  <a:endParaRPr lang="en-GB" sz="2523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endParaRPr>
                </a:p>
              </p:txBody>
            </p:sp>
          </mc:Choice>
          <mc:Fallback xmlns="">
            <p:sp>
              <p:nvSpPr>
                <p:cNvPr id="1054" name="Text Box 2">
                  <a:extLst>
                    <a:ext uri="{FF2B5EF4-FFF2-40B4-BE49-F238E27FC236}">
                      <a16:creationId xmlns:a16="http://schemas.microsoft.com/office/drawing/2014/main" id="{85C227FA-CA30-403E-770A-D8C6111CE7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84133" y="6821142"/>
                  <a:ext cx="216000" cy="648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63" name="Group 1062">
              <a:extLst>
                <a:ext uri="{FF2B5EF4-FFF2-40B4-BE49-F238E27FC236}">
                  <a16:creationId xmlns:a16="http://schemas.microsoft.com/office/drawing/2014/main" id="{1C5557E5-C402-9ACA-FCEE-620E45B5018E}"/>
                </a:ext>
              </a:extLst>
            </p:cNvPr>
            <p:cNvGrpSpPr>
              <a:grpSpLocks/>
            </p:cNvGrpSpPr>
            <p:nvPr/>
          </p:nvGrpSpPr>
          <p:grpSpPr>
            <a:xfrm>
              <a:off x="6838015" y="6918210"/>
              <a:ext cx="2661556" cy="652282"/>
              <a:chOff x="6759419" y="5981007"/>
              <a:chExt cx="2661556" cy="652282"/>
            </a:xfrm>
          </p:grpSpPr>
          <p:grpSp>
            <p:nvGrpSpPr>
              <p:cNvPr id="1060" name="Group 1059">
                <a:extLst>
                  <a:ext uri="{FF2B5EF4-FFF2-40B4-BE49-F238E27FC236}">
                    <a16:creationId xmlns:a16="http://schemas.microsoft.com/office/drawing/2014/main" id="{E35A68FB-1B4D-029A-2999-94F7769EBB89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6759419" y="5981007"/>
                <a:ext cx="2661556" cy="651175"/>
                <a:chOff x="6759419" y="5981007"/>
                <a:chExt cx="2661556" cy="651175"/>
              </a:xfrm>
            </p:grpSpPr>
            <p:grpSp>
              <p:nvGrpSpPr>
                <p:cNvPr id="1051" name="Group 1050">
                  <a:extLst>
                    <a:ext uri="{FF2B5EF4-FFF2-40B4-BE49-F238E27FC236}">
                      <a16:creationId xmlns:a16="http://schemas.microsoft.com/office/drawing/2014/main" id="{CF438F5A-0A7F-CDFD-1B18-50F5BEA1FA76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759419" y="5981007"/>
                  <a:ext cx="2585024" cy="651175"/>
                  <a:chOff x="6759419" y="5981007"/>
                  <a:chExt cx="2585024" cy="651175"/>
                </a:xfrm>
              </p:grpSpPr>
              <p:grpSp>
                <p:nvGrpSpPr>
                  <p:cNvPr id="1048" name="Group 1047">
                    <a:extLst>
                      <a:ext uri="{FF2B5EF4-FFF2-40B4-BE49-F238E27FC236}">
                        <a16:creationId xmlns:a16="http://schemas.microsoft.com/office/drawing/2014/main" id="{98B18666-6DEB-6F6E-4227-E6A784A4FA9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6836580" y="5981007"/>
                    <a:ext cx="2507863" cy="649542"/>
                    <a:chOff x="6764367" y="5877409"/>
                    <a:chExt cx="2507863" cy="649542"/>
                  </a:xfrm>
                </p:grpSpPr>
                <p:sp>
                  <p:nvSpPr>
                    <p:cNvPr id="113" name="Rectangle 112">
                      <a:extLst>
                        <a:ext uri="{FF2B5EF4-FFF2-40B4-BE49-F238E27FC236}">
                          <a16:creationId xmlns:a16="http://schemas.microsoft.com/office/drawing/2014/main" id="{F881A4F5-18CD-B8CA-747C-EDBCBE986D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9164230" y="5878951"/>
                      <a:ext cx="108000" cy="648000"/>
                    </a:xfrm>
                    <a:prstGeom prst="rect">
                      <a:avLst/>
                    </a:prstGeom>
                    <a:solidFill>
                      <a:srgbClr val="80B6FF"/>
                    </a:solidFill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5">
                        <a:shade val="15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8519"/>
                    </a:p>
                  </p:txBody>
                </p:sp>
                <p:grpSp>
                  <p:nvGrpSpPr>
                    <p:cNvPr id="122" name="Group 121">
                      <a:extLst>
                        <a:ext uri="{FF2B5EF4-FFF2-40B4-BE49-F238E27FC236}">
                          <a16:creationId xmlns:a16="http://schemas.microsoft.com/office/drawing/2014/main" id="{FCEC7925-F31B-62B9-3DFF-110F58C9557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8732023" y="5878951"/>
                      <a:ext cx="432000" cy="648000"/>
                      <a:chOff x="8298266" y="5880716"/>
                      <a:chExt cx="432000" cy="648000"/>
                    </a:xfrm>
                  </p:grpSpPr>
                  <p:sp>
                    <p:nvSpPr>
                      <p:cNvPr id="123" name="Rectangle 122">
                        <a:extLst>
                          <a:ext uri="{FF2B5EF4-FFF2-40B4-BE49-F238E27FC236}">
                            <a16:creationId xmlns:a16="http://schemas.microsoft.com/office/drawing/2014/main" id="{BDDF7FBD-A539-9778-BD65-9955FCDD8FA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622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24" name="Rectangle 123">
                        <a:extLst>
                          <a:ext uri="{FF2B5EF4-FFF2-40B4-BE49-F238E27FC236}">
                            <a16:creationId xmlns:a16="http://schemas.microsoft.com/office/drawing/2014/main" id="{E3D42C6C-CD0B-79D4-2CF6-73C96EA961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406266" y="5880716"/>
                        <a:ext cx="216000" cy="648000"/>
                      </a:xfrm>
                      <a:prstGeom prst="rect">
                        <a:avLst/>
                      </a:prstGeom>
                      <a:solidFill>
                        <a:srgbClr val="BFDB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25" name="Rectangle 124">
                        <a:extLst>
                          <a:ext uri="{FF2B5EF4-FFF2-40B4-BE49-F238E27FC236}">
                            <a16:creationId xmlns:a16="http://schemas.microsoft.com/office/drawing/2014/main" id="{20C6511E-FBFD-254D-CC88-B6EEDDC359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298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</p:grpSp>
                <p:sp>
                  <p:nvSpPr>
                    <p:cNvPr id="1024" name="Rectangle 1023">
                      <a:extLst>
                        <a:ext uri="{FF2B5EF4-FFF2-40B4-BE49-F238E27FC236}">
                          <a16:creationId xmlns:a16="http://schemas.microsoft.com/office/drawing/2014/main" id="{B7EB2F2B-655C-4963-F441-A0447DDA45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7736681" y="5878180"/>
                      <a:ext cx="562719" cy="648000"/>
                    </a:xfrm>
                    <a:prstGeom prst="rect">
                      <a:avLst/>
                    </a:prstGeom>
                    <a:solidFill>
                      <a:srgbClr val="9DE3D1"/>
                    </a:solidFill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5">
                        <a:shade val="15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8519"/>
                    </a:p>
                  </p:txBody>
                </p:sp>
                <p:sp>
                  <p:nvSpPr>
                    <p:cNvPr id="1035" name="Rectangle 1034">
                      <a:extLst>
                        <a:ext uri="{FF2B5EF4-FFF2-40B4-BE49-F238E27FC236}">
                          <a16:creationId xmlns:a16="http://schemas.microsoft.com/office/drawing/2014/main" id="{97335E19-4049-9137-53FB-2318461303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6764367" y="5877409"/>
                      <a:ext cx="108000" cy="648000"/>
                    </a:xfrm>
                    <a:prstGeom prst="rect">
                      <a:avLst/>
                    </a:prstGeom>
                    <a:solidFill>
                      <a:srgbClr val="80B6FF"/>
                    </a:solidFill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5">
                        <a:shade val="15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8519"/>
                    </a:p>
                  </p:txBody>
                </p:sp>
                <p:grpSp>
                  <p:nvGrpSpPr>
                    <p:cNvPr id="1036" name="Group 1035">
                      <a:extLst>
                        <a:ext uri="{FF2B5EF4-FFF2-40B4-BE49-F238E27FC236}">
                          <a16:creationId xmlns:a16="http://schemas.microsoft.com/office/drawing/2014/main" id="{AD1E5F93-1D73-ABA6-49CD-EFED67279CB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8299815" y="5878180"/>
                      <a:ext cx="432000" cy="648000"/>
                      <a:chOff x="8298266" y="5880716"/>
                      <a:chExt cx="432000" cy="648000"/>
                    </a:xfrm>
                  </p:grpSpPr>
                  <p:sp>
                    <p:nvSpPr>
                      <p:cNvPr id="1037" name="Rectangle 1036">
                        <a:extLst>
                          <a:ext uri="{FF2B5EF4-FFF2-40B4-BE49-F238E27FC236}">
                            <a16:creationId xmlns:a16="http://schemas.microsoft.com/office/drawing/2014/main" id="{FD4B9077-8A68-0E81-40CA-FED831307CF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622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038" name="Rectangle 1037">
                        <a:extLst>
                          <a:ext uri="{FF2B5EF4-FFF2-40B4-BE49-F238E27FC236}">
                            <a16:creationId xmlns:a16="http://schemas.microsoft.com/office/drawing/2014/main" id="{24CF4D7B-7AF1-8D30-E73E-1BA0055A7C9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406266" y="5880716"/>
                        <a:ext cx="216000" cy="648000"/>
                      </a:xfrm>
                      <a:prstGeom prst="rect">
                        <a:avLst/>
                      </a:prstGeom>
                      <a:solidFill>
                        <a:srgbClr val="BFDB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039" name="Rectangle 1038">
                        <a:extLst>
                          <a:ext uri="{FF2B5EF4-FFF2-40B4-BE49-F238E27FC236}">
                            <a16:creationId xmlns:a16="http://schemas.microsoft.com/office/drawing/2014/main" id="{BDE30A20-1863-77A9-0C37-870A5532A1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298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</p:grpSp>
                <p:grpSp>
                  <p:nvGrpSpPr>
                    <p:cNvPr id="1040" name="Group 1039">
                      <a:extLst>
                        <a:ext uri="{FF2B5EF4-FFF2-40B4-BE49-F238E27FC236}">
                          <a16:creationId xmlns:a16="http://schemas.microsoft.com/office/drawing/2014/main" id="{F1A5680A-1F71-6B2E-CE50-46BEEC3C223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7304681" y="5878180"/>
                      <a:ext cx="432000" cy="648000"/>
                      <a:chOff x="8298266" y="5880716"/>
                      <a:chExt cx="432000" cy="648000"/>
                    </a:xfrm>
                  </p:grpSpPr>
                  <p:sp>
                    <p:nvSpPr>
                      <p:cNvPr id="1041" name="Rectangle 1040">
                        <a:extLst>
                          <a:ext uri="{FF2B5EF4-FFF2-40B4-BE49-F238E27FC236}">
                            <a16:creationId xmlns:a16="http://schemas.microsoft.com/office/drawing/2014/main" id="{2E9DD0A8-E8E4-B811-C79F-701D228992A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622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042" name="Rectangle 1041">
                        <a:extLst>
                          <a:ext uri="{FF2B5EF4-FFF2-40B4-BE49-F238E27FC236}">
                            <a16:creationId xmlns:a16="http://schemas.microsoft.com/office/drawing/2014/main" id="{420C0C2B-16DE-EFC6-9EB9-F7D488EC266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406266" y="5880716"/>
                        <a:ext cx="216000" cy="648000"/>
                      </a:xfrm>
                      <a:prstGeom prst="rect">
                        <a:avLst/>
                      </a:prstGeom>
                      <a:solidFill>
                        <a:srgbClr val="BFDB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043" name="Rectangle 1042">
                        <a:extLst>
                          <a:ext uri="{FF2B5EF4-FFF2-40B4-BE49-F238E27FC236}">
                            <a16:creationId xmlns:a16="http://schemas.microsoft.com/office/drawing/2014/main" id="{38FEF2EA-131C-C4C8-AE69-676C9DC297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298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</p:grpSp>
                <p:grpSp>
                  <p:nvGrpSpPr>
                    <p:cNvPr id="1044" name="Group 1043">
                      <a:extLst>
                        <a:ext uri="{FF2B5EF4-FFF2-40B4-BE49-F238E27FC236}">
                          <a16:creationId xmlns:a16="http://schemas.microsoft.com/office/drawing/2014/main" id="{AAF569CB-EFF9-48DE-68B6-9D2872CD921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6872473" y="5877409"/>
                      <a:ext cx="432000" cy="648000"/>
                      <a:chOff x="8298266" y="5880716"/>
                      <a:chExt cx="432000" cy="648000"/>
                    </a:xfrm>
                  </p:grpSpPr>
                  <p:sp>
                    <p:nvSpPr>
                      <p:cNvPr id="1045" name="Rectangle 1044">
                        <a:extLst>
                          <a:ext uri="{FF2B5EF4-FFF2-40B4-BE49-F238E27FC236}">
                            <a16:creationId xmlns:a16="http://schemas.microsoft.com/office/drawing/2014/main" id="{16B71A7C-0096-D30E-BF40-883D1A0898B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622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046" name="Rectangle 1045">
                        <a:extLst>
                          <a:ext uri="{FF2B5EF4-FFF2-40B4-BE49-F238E27FC236}">
                            <a16:creationId xmlns:a16="http://schemas.microsoft.com/office/drawing/2014/main" id="{E15AE995-BD6E-2B6D-5B69-D958DADABC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406266" y="5880716"/>
                        <a:ext cx="216000" cy="648000"/>
                      </a:xfrm>
                      <a:prstGeom prst="rect">
                        <a:avLst/>
                      </a:prstGeom>
                      <a:solidFill>
                        <a:srgbClr val="BFDB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047" name="Rectangle 1046">
                        <a:extLst>
                          <a:ext uri="{FF2B5EF4-FFF2-40B4-BE49-F238E27FC236}">
                            <a16:creationId xmlns:a16="http://schemas.microsoft.com/office/drawing/2014/main" id="{B57BAAC9-63BF-E44A-B204-4531760D3F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298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</p:grp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49" name="Text Box 2">
                        <a:extLst>
                          <a:ext uri="{FF2B5EF4-FFF2-40B4-BE49-F238E27FC236}">
                            <a16:creationId xmlns:a16="http://schemas.microsoft.com/office/drawing/2014/main" id="{B5805E68-AAEB-0F66-FB28-41D4EFCA9067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 bwMode="auto">
                      <a:xfrm>
                        <a:off x="6759419" y="5981007"/>
                        <a:ext cx="360556" cy="64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288335" tIns="144168" rIns="288335" bIns="144168" anchor="ctr" anchorCtr="0">
                        <a:noAutofit/>
                      </a:bodyPr>
                      <a:lstStyle/>
                      <a:p>
                        <a:pPr algn="dist"/>
                        <a14:m>
                          <m:oMath xmlns:m="http://schemas.openxmlformats.org/officeDocument/2006/math">
                            <m:f>
                              <m:fPr>
                                <m:ctrlPr>
                                  <a:rPr lang="en-GB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</m:ctrlPr>
                              </m:fPr>
                              <m:num>
                                <m:r>
                                  <a:rPr lang="en-US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  <m:t>2</m:t>
                                </m:r>
                              </m:den>
                            </m:f>
                          </m:oMath>
                        </a14:m>
                        <a:r>
                          <a:rPr lang="en-GB" sz="2523" dirty="0">
                            <a:cs typeface="KMITLGO" panose="02000000000000000000" pitchFamily="2" charset="0"/>
                          </a:rPr>
                          <a:t> </a:t>
                        </a:r>
                        <a14:m>
                          <m:oMath xmlns:m="http://schemas.openxmlformats.org/officeDocument/2006/math">
                            <m:f>
                              <m:fPr>
                                <m:ctrlPr>
                                  <a:rPr lang="en-GB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</m:ctrlPr>
                              </m:fPr>
                              <m:num>
                                <m:r>
                                  <a:rPr lang="en-US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  <m:t>2</m:t>
                                </m:r>
                              </m:den>
                            </m:f>
                          </m:oMath>
                        </a14:m>
                        <a:endParaRPr lang="en-GB" sz="2523" dirty="0">
                          <a:latin typeface="KMITLGO" panose="02000000000000000000" pitchFamily="2" charset="0"/>
                          <a:ea typeface="Times New Roman" panose="02020603050405020304" pitchFamily="18" charset="0"/>
                          <a:cs typeface="KMITLGO" panose="02000000000000000000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049" name="Text Box 2">
                        <a:extLst>
                          <a:ext uri="{FF2B5EF4-FFF2-40B4-BE49-F238E27FC236}">
                            <a16:creationId xmlns:a16="http://schemas.microsoft.com/office/drawing/2014/main" id="{B5805E68-AAEB-0F66-FB28-41D4EFCA906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6759419" y="5981007"/>
                        <a:ext cx="360556" cy="64800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50" name="Text Box 2">
                        <a:extLst>
                          <a:ext uri="{FF2B5EF4-FFF2-40B4-BE49-F238E27FC236}">
                            <a16:creationId xmlns:a16="http://schemas.microsoft.com/office/drawing/2014/main" id="{BA0C2F64-D26E-93BA-F90E-8EF24155DD5F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 bwMode="auto">
                      <a:xfrm>
                        <a:off x="7050555" y="5984182"/>
                        <a:ext cx="216000" cy="64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288335" tIns="144168" rIns="288335" bIns="144168" anchor="ctr" anchorCtr="0">
                        <a:noAutofit/>
                      </a:bodyPr>
                      <a:lstStyle/>
                      <a:p>
                        <a:pPr algn="dist"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𝐿</m:t>
                              </m:r>
                            </m:oMath>
                          </m:oMathPara>
                        </a14:m>
                        <a:endParaRPr lang="en-GB" sz="2523" dirty="0">
                          <a:latin typeface="KMITLGO" panose="02000000000000000000" pitchFamily="2" charset="0"/>
                          <a:ea typeface="Times New Roman" panose="02020603050405020304" pitchFamily="18" charset="0"/>
                          <a:cs typeface="KMITLGO" panose="02000000000000000000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050" name="Text Box 2">
                        <a:extLst>
                          <a:ext uri="{FF2B5EF4-FFF2-40B4-BE49-F238E27FC236}">
                            <a16:creationId xmlns:a16="http://schemas.microsoft.com/office/drawing/2014/main" id="{BA0C2F64-D26E-93BA-F90E-8EF24155DD5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7050555" y="5984182"/>
                        <a:ext cx="216000" cy="648000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3" name="Text Box 2">
                      <a:extLst>
                        <a:ext uri="{FF2B5EF4-FFF2-40B4-BE49-F238E27FC236}">
                          <a16:creationId xmlns:a16="http://schemas.microsoft.com/office/drawing/2014/main" id="{AE9805EE-DBEE-8C6B-D528-3069165853D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7483178" y="5981007"/>
                      <a:ext cx="216000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sz="2523" i="1" dirty="0">
                                <a:latin typeface="Cambria Math" panose="02040503050406030204" pitchFamily="18" charset="0"/>
                                <a:cs typeface="KMITLGO" panose="02000000000000000000" pitchFamily="2" charset="0"/>
                              </a:rPr>
                              <m:t>𝐿</m:t>
                            </m:r>
                          </m:oMath>
                        </m:oMathPara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3" name="Text Box 2">
                      <a:extLst>
                        <a:ext uri="{FF2B5EF4-FFF2-40B4-BE49-F238E27FC236}">
                          <a16:creationId xmlns:a16="http://schemas.microsoft.com/office/drawing/2014/main" id="{AE9805EE-DBEE-8C6B-D528-3069165853D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7483178" y="5981007"/>
                      <a:ext cx="216000" cy="64800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5" name="Text Box 2">
                      <a:extLst>
                        <a:ext uri="{FF2B5EF4-FFF2-40B4-BE49-F238E27FC236}">
                          <a16:creationId xmlns:a16="http://schemas.microsoft.com/office/drawing/2014/main" id="{9B6360BF-551D-5AC1-1B91-C23462933E85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7200721" y="5981007"/>
                      <a:ext cx="360556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r>
                        <a:rPr lang="en-GB" sz="2523" dirty="0">
                          <a:cs typeface="KMITLGO" panose="02000000000000000000" pitchFamily="2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5" name="Text Box 2">
                      <a:extLst>
                        <a:ext uri="{FF2B5EF4-FFF2-40B4-BE49-F238E27FC236}">
                          <a16:creationId xmlns:a16="http://schemas.microsoft.com/office/drawing/2014/main" id="{9B6360BF-551D-5AC1-1B91-C23462933E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7200721" y="5981007"/>
                      <a:ext cx="360556" cy="6480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6" name="Text Box 2">
                      <a:extLst>
                        <a:ext uri="{FF2B5EF4-FFF2-40B4-BE49-F238E27FC236}">
                          <a16:creationId xmlns:a16="http://schemas.microsoft.com/office/drawing/2014/main" id="{DB6B8739-7BE2-4208-BD77-28EF182B3DE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8629200" y="5981007"/>
                      <a:ext cx="360556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r>
                        <a:rPr lang="en-GB" sz="2523" dirty="0">
                          <a:cs typeface="KMITLGO" panose="02000000000000000000" pitchFamily="2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6" name="Text Box 2">
                      <a:extLst>
                        <a:ext uri="{FF2B5EF4-FFF2-40B4-BE49-F238E27FC236}">
                          <a16:creationId xmlns:a16="http://schemas.microsoft.com/office/drawing/2014/main" id="{DB6B8739-7BE2-4208-BD77-28EF182B3DE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8629200" y="5981007"/>
                      <a:ext cx="360556" cy="6480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7" name="Text Box 2">
                      <a:extLst>
                        <a:ext uri="{FF2B5EF4-FFF2-40B4-BE49-F238E27FC236}">
                          <a16:creationId xmlns:a16="http://schemas.microsoft.com/office/drawing/2014/main" id="{DDE6ABB2-7BE7-02C3-0428-CCC31EF15691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9060419" y="5981723"/>
                      <a:ext cx="360556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r>
                        <a:rPr lang="en-GB" sz="2523" dirty="0">
                          <a:cs typeface="KMITLGO" panose="02000000000000000000" pitchFamily="2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7" name="Text Box 2">
                      <a:extLst>
                        <a:ext uri="{FF2B5EF4-FFF2-40B4-BE49-F238E27FC236}">
                          <a16:creationId xmlns:a16="http://schemas.microsoft.com/office/drawing/2014/main" id="{DDE6ABB2-7BE7-02C3-0428-CCC31EF1569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9060419" y="5981723"/>
                      <a:ext cx="360556" cy="6480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8" name="Text Box 2">
                      <a:extLst>
                        <a:ext uri="{FF2B5EF4-FFF2-40B4-BE49-F238E27FC236}">
                          <a16:creationId xmlns:a16="http://schemas.microsoft.com/office/drawing/2014/main" id="{62061733-F7C7-805C-BB3D-AE0088626ECF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7638559" y="5981007"/>
                      <a:ext cx="908920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r>
                        <a:rPr lang="en-GB" sz="2523" dirty="0">
                          <a:cs typeface="KMITLGO" panose="02000000000000000000" pitchFamily="2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8" name="Text Box 2">
                      <a:extLst>
                        <a:ext uri="{FF2B5EF4-FFF2-40B4-BE49-F238E27FC236}">
                          <a16:creationId xmlns:a16="http://schemas.microsoft.com/office/drawing/2014/main" id="{62061733-F7C7-805C-BB3D-AE0088626E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7638559" y="5981007"/>
                      <a:ext cx="908920" cy="6480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9" name="Text Box 2">
                      <a:extLst>
                        <a:ext uri="{FF2B5EF4-FFF2-40B4-BE49-F238E27FC236}">
                          <a16:creationId xmlns:a16="http://schemas.microsoft.com/office/drawing/2014/main" id="{2FBA6FEF-FF63-BB81-AB05-B35E34577B6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7809843" y="5981007"/>
                      <a:ext cx="564574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523" i="1" dirty="0">
                                <a:latin typeface="Cambria Math" panose="02040503050406030204" pitchFamily="18" charset="0"/>
                                <a:cs typeface="KMITLGO" panose="02000000000000000000" pitchFamily="2" charset="0"/>
                              </a:rPr>
                              <m:t>𝐶</m:t>
                            </m:r>
                          </m:oMath>
                        </m:oMathPara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9" name="Text Box 2">
                      <a:extLst>
                        <a:ext uri="{FF2B5EF4-FFF2-40B4-BE49-F238E27FC236}">
                          <a16:creationId xmlns:a16="http://schemas.microsoft.com/office/drawing/2014/main" id="{2FBA6FEF-FF63-BB81-AB05-B35E34577B6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7809843" y="5981007"/>
                      <a:ext cx="564574" cy="6480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1" name="Text Box 2">
                    <a:extLst>
                      <a:ext uri="{FF2B5EF4-FFF2-40B4-BE49-F238E27FC236}">
                        <a16:creationId xmlns:a16="http://schemas.microsoft.com/office/drawing/2014/main" id="{29F54522-B53E-5A32-9529-5AE170EEDEA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8482788" y="5981007"/>
                    <a:ext cx="216000" cy="6480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288335" tIns="144168" rIns="288335" bIns="144168" anchor="ctr" anchorCtr="0">
                    <a:noAutofit/>
                  </a:bodyPr>
                  <a:lstStyle/>
                  <a:p>
                    <a:pPr algn="dist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523" i="1" dirty="0">
                              <a:latin typeface="Cambria Math" panose="02040503050406030204" pitchFamily="18" charset="0"/>
                              <a:cs typeface="KMITLGO" panose="02000000000000000000" pitchFamily="2" charset="0"/>
                            </a:rPr>
                            <m:t>𝐿</m:t>
                          </m:r>
                        </m:oMath>
                      </m:oMathPara>
                    </a14:m>
                    <a:endParaRPr lang="en-GB" sz="2523" dirty="0">
                      <a:latin typeface="KMITLGO" panose="02000000000000000000" pitchFamily="2" charset="0"/>
                      <a:ea typeface="Times New Roman" panose="02020603050405020304" pitchFamily="18" charset="0"/>
                      <a:cs typeface="KMITLGO" panose="02000000000000000000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061" name="Text Box 2">
                    <a:extLst>
                      <a:ext uri="{FF2B5EF4-FFF2-40B4-BE49-F238E27FC236}">
                        <a16:creationId xmlns:a16="http://schemas.microsoft.com/office/drawing/2014/main" id="{29F54522-B53E-5A32-9529-5AE170EEDE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482788" y="5981007"/>
                    <a:ext cx="216000" cy="6480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2" name="Text Box 2">
                    <a:extLst>
                      <a:ext uri="{FF2B5EF4-FFF2-40B4-BE49-F238E27FC236}">
                        <a16:creationId xmlns:a16="http://schemas.microsoft.com/office/drawing/2014/main" id="{C39A8C7C-1D0D-AB1A-D836-408E8730E7F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8914625" y="5985289"/>
                    <a:ext cx="216000" cy="6480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288335" tIns="144168" rIns="288335" bIns="144168" anchor="ctr" anchorCtr="0">
                    <a:noAutofit/>
                  </a:bodyPr>
                  <a:lstStyle/>
                  <a:p>
                    <a:pPr algn="dist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523" i="1" dirty="0">
                              <a:latin typeface="Cambria Math" panose="02040503050406030204" pitchFamily="18" charset="0"/>
                              <a:cs typeface="KMITLGO" panose="02000000000000000000" pitchFamily="2" charset="0"/>
                            </a:rPr>
                            <m:t>𝐿</m:t>
                          </m:r>
                        </m:oMath>
                      </m:oMathPara>
                    </a14:m>
                    <a:endParaRPr lang="en-GB" sz="2523" dirty="0">
                      <a:latin typeface="KMITLGO" panose="02000000000000000000" pitchFamily="2" charset="0"/>
                      <a:ea typeface="Times New Roman" panose="02020603050405020304" pitchFamily="18" charset="0"/>
                      <a:cs typeface="KMITLGO" panose="02000000000000000000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062" name="Text Box 2">
                    <a:extLst>
                      <a:ext uri="{FF2B5EF4-FFF2-40B4-BE49-F238E27FC236}">
                        <a16:creationId xmlns:a16="http://schemas.microsoft.com/office/drawing/2014/main" id="{C39A8C7C-1D0D-AB1A-D836-408E8730E7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914625" y="5985289"/>
                    <a:ext cx="216000" cy="6480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65" name="Arrow: Right 1064">
              <a:extLst>
                <a:ext uri="{FF2B5EF4-FFF2-40B4-BE49-F238E27FC236}">
                  <a16:creationId xmlns:a16="http://schemas.microsoft.com/office/drawing/2014/main" id="{046265F3-A742-7F3F-0B37-7A964A632C9A}"/>
                </a:ext>
              </a:extLst>
            </p:cNvPr>
            <p:cNvSpPr>
              <a:spLocks/>
            </p:cNvSpPr>
            <p:nvPr/>
          </p:nvSpPr>
          <p:spPr>
            <a:xfrm>
              <a:off x="6671729" y="7153787"/>
              <a:ext cx="239613" cy="166687"/>
            </a:xfrm>
            <a:prstGeom prst="rightArrow">
              <a:avLst/>
            </a:prstGeom>
            <a:solidFill>
              <a:srgbClr val="FFD5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522"/>
            </a:p>
          </p:txBody>
        </p:sp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2A4F71E8-8E04-FFA6-80CD-4B9C8361A46B}"/>
                </a:ext>
              </a:extLst>
            </p:cNvPr>
            <p:cNvSpPr>
              <a:spLocks/>
            </p:cNvSpPr>
            <p:nvPr/>
          </p:nvSpPr>
          <p:spPr>
            <a:xfrm>
              <a:off x="7031397" y="6863603"/>
              <a:ext cx="416430" cy="811171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522"/>
            </a:p>
          </p:txBody>
        </p:sp>
        <p:sp>
          <p:nvSpPr>
            <p:cNvPr id="1068" name="Text Box 2">
              <a:extLst>
                <a:ext uri="{FF2B5EF4-FFF2-40B4-BE49-F238E27FC236}">
                  <a16:creationId xmlns:a16="http://schemas.microsoft.com/office/drawing/2014/main" id="{72A9E4C7-71CE-3E4E-7BF3-3933DD3A464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818413" y="7498683"/>
              <a:ext cx="881552" cy="209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GB" sz="3153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Unit cell</a:t>
              </a:r>
            </a:p>
          </p:txBody>
        </p:sp>
        <p:cxnSp>
          <p:nvCxnSpPr>
            <p:cNvPr id="1070" name="Straight Arrow Connector 1069">
              <a:extLst>
                <a:ext uri="{FF2B5EF4-FFF2-40B4-BE49-F238E27FC236}">
                  <a16:creationId xmlns:a16="http://schemas.microsoft.com/office/drawing/2014/main" id="{FDF53A3E-84F4-6993-DB94-F8DF2BE7A1FD}"/>
                </a:ext>
              </a:extLst>
            </p:cNvPr>
            <p:cNvCxnSpPr>
              <a:cxnSpLocks/>
            </p:cNvCxnSpPr>
            <p:nvPr/>
          </p:nvCxnSpPr>
          <p:spPr>
            <a:xfrm>
              <a:off x="8457703" y="7026184"/>
              <a:ext cx="86159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Arrow Connector 1071">
              <a:extLst>
                <a:ext uri="{FF2B5EF4-FFF2-40B4-BE49-F238E27FC236}">
                  <a16:creationId xmlns:a16="http://schemas.microsoft.com/office/drawing/2014/main" id="{C1DD4C45-DBF6-0E6A-0504-E567ABCA8B15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87" y="7026184"/>
              <a:ext cx="86159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3" name="Text Box 2">
              <a:extLst>
                <a:ext uri="{FF2B5EF4-FFF2-40B4-BE49-F238E27FC236}">
                  <a16:creationId xmlns:a16="http://schemas.microsoft.com/office/drawing/2014/main" id="{46DDC18D-125D-90AE-DD1F-C6F21BD156E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454900" y="6871279"/>
              <a:ext cx="856900" cy="191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US" sz="3153" b="1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N</a:t>
              </a:r>
              <a:endParaRPr lang="en-GB" sz="3153" b="1" dirty="0">
                <a:latin typeface="KMITLGO" panose="02000000000000000000" pitchFamily="2" charset="0"/>
                <a:ea typeface="Times New Roman" panose="02020603050405020304" pitchFamily="18" charset="0"/>
                <a:cs typeface="KMITLGO" panose="02000000000000000000" pitchFamily="2" charset="0"/>
              </a:endParaRPr>
            </a:p>
          </p:txBody>
        </p:sp>
        <p:sp>
          <p:nvSpPr>
            <p:cNvPr id="1074" name="Text Box 2">
              <a:extLst>
                <a:ext uri="{FF2B5EF4-FFF2-40B4-BE49-F238E27FC236}">
                  <a16:creationId xmlns:a16="http://schemas.microsoft.com/office/drawing/2014/main" id="{332CDC24-EAC6-28D5-9C7F-C8EFC298661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076411" y="6884896"/>
              <a:ext cx="856900" cy="191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US" sz="3153" b="1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M</a:t>
              </a:r>
              <a:endParaRPr lang="en-GB" sz="3153" b="1" dirty="0">
                <a:latin typeface="KMITLGO" panose="02000000000000000000" pitchFamily="2" charset="0"/>
                <a:ea typeface="Times New Roman" panose="02020603050405020304" pitchFamily="18" charset="0"/>
                <a:cs typeface="KMITLGO" panose="02000000000000000000" pitchFamily="2" charset="0"/>
              </a:endParaRPr>
            </a:p>
          </p:txBody>
        </p:sp>
      </p:grpSp>
      <p:cxnSp>
        <p:nvCxnSpPr>
          <p:cNvPr id="1075" name="Straight Connector 1074">
            <a:extLst>
              <a:ext uri="{FF2B5EF4-FFF2-40B4-BE49-F238E27FC236}">
                <a16:creationId xmlns:a16="http://schemas.microsoft.com/office/drawing/2014/main" id="{17AF7D8E-0BAA-6E6A-33BA-0DF61D11A67F}"/>
              </a:ext>
            </a:extLst>
          </p:cNvPr>
          <p:cNvCxnSpPr>
            <a:cxnSpLocks/>
          </p:cNvCxnSpPr>
          <p:nvPr/>
        </p:nvCxnSpPr>
        <p:spPr>
          <a:xfrm flipH="1">
            <a:off x="20009926" y="25335248"/>
            <a:ext cx="992435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00289DB-3398-5A53-F19E-2487F0257B86}"/>
              </a:ext>
            </a:extLst>
          </p:cNvPr>
          <p:cNvGrpSpPr/>
          <p:nvPr/>
        </p:nvGrpSpPr>
        <p:grpSpPr>
          <a:xfrm>
            <a:off x="-183902" y="10803029"/>
            <a:ext cx="19933212" cy="6206954"/>
            <a:chOff x="-58321" y="2951239"/>
            <a:chExt cx="6337197" cy="196841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CA0FF6E-4778-B5BC-2B0C-C699436654DF}"/>
                </a:ext>
              </a:extLst>
            </p:cNvPr>
            <p:cNvSpPr txBox="1">
              <a:spLocks/>
            </p:cNvSpPr>
            <p:nvPr/>
          </p:nvSpPr>
          <p:spPr>
            <a:xfrm>
              <a:off x="82711" y="2951239"/>
              <a:ext cx="6196165" cy="1968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829" b="1" dirty="0">
                  <a:solidFill>
                    <a:srgbClr val="80B6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KMITLGO" panose="02000000000000000000" pitchFamily="2" charset="0"/>
                  <a:cs typeface="KMITLGO" panose="02000000000000000000" pitchFamily="2" charset="0"/>
                </a:rPr>
                <a:t>1. Introduction</a:t>
              </a:r>
              <a:endParaRPr lang="en-GB" sz="8829" b="1" dirty="0">
                <a:solidFill>
                  <a:srgbClr val="80B6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endParaRPr>
            </a:p>
            <a:p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</a:t>
              </a:r>
              <a:r>
                <a:rPr lang="en-GB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PCMs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 change their crystal structure above </a:t>
              </a:r>
              <a:r>
                <a:rPr lang="en-GB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T</a:t>
              </a:r>
              <a:r>
                <a:rPr lang="en-GB" sz="4415" i="1" baseline="-25000" dirty="0">
                  <a:latin typeface="KMITLGO" panose="02000000000000000000" pitchFamily="2" charset="0"/>
                  <a:cs typeface="KMITLGO" panose="02000000000000000000" pitchFamily="2" charset="0"/>
                </a:rPr>
                <a:t>trans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. This greatly alter their </a:t>
              </a:r>
              <a:r>
                <a:rPr lang="en-GB" sz="4415" i="1" dirty="0">
                  <a:latin typeface="KMITLGO" panose="02000000000000000000" pitchFamily="2" charset="0"/>
                  <a:cs typeface="KMITLGO" panose="02000000000000000000" pitchFamily="2" charset="0"/>
                </a:rPr>
                <a:t>n, k index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. </a:t>
              </a:r>
            </a:p>
            <a:p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We can use this property to design an </a:t>
              </a:r>
              <a:r>
                <a:rPr lang="en-GB" sz="4415" i="1" dirty="0">
                  <a:latin typeface="KMITLGO" panose="02000000000000000000" pitchFamily="2" charset="0"/>
                  <a:cs typeface="KMITLGO" panose="02000000000000000000" pitchFamily="2" charset="0"/>
                </a:rPr>
                <a:t>optical limiter, optical diode, smart window, optical filter, etc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.</a:t>
              </a:r>
            </a:p>
            <a:p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</a:t>
              </a:r>
              <a:r>
                <a:rPr lang="en-US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VO</a:t>
              </a:r>
              <a:r>
                <a:rPr lang="en-US" sz="4415" i="1" baseline="-25000" dirty="0">
                  <a:latin typeface="KMITLGO" panose="02000000000000000000" pitchFamily="2" charset="0"/>
                  <a:cs typeface="KMITLGO" panose="02000000000000000000" pitchFamily="2" charset="0"/>
                </a:rPr>
                <a:t>2</a:t>
              </a:r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 is a volatile PCM with lowest T</a:t>
              </a:r>
              <a:r>
                <a:rPr lang="en-US" sz="4415" baseline="-25000" dirty="0">
                  <a:latin typeface="KMITLGO" panose="02000000000000000000" pitchFamily="2" charset="0"/>
                  <a:cs typeface="KMITLGO" panose="02000000000000000000" pitchFamily="2" charset="0"/>
                </a:rPr>
                <a:t>trans</a:t>
              </a:r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=68</a:t>
              </a:r>
              <a:r>
                <a:rPr lang="en-GB" sz="4415" dirty="0">
                  <a:solidFill>
                    <a:srgbClr val="1F1F1F"/>
                  </a:solidFill>
                  <a:latin typeface="Google Sans"/>
                </a:rPr>
                <a:t>°</a:t>
              </a:r>
              <a:r>
                <a:rPr lang="en-GB" sz="4415" dirty="0">
                  <a:solidFill>
                    <a:srgbClr val="1F1F1F"/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C. It exhibits large </a:t>
              </a:r>
              <a:r>
                <a:rPr lang="en-GB" sz="4415" i="1" u="sng" dirty="0">
                  <a:solidFill>
                    <a:srgbClr val="1F1F1F"/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mode contrast </a:t>
              </a:r>
              <a:r>
                <a:rPr lang="en-GB" sz="4415" dirty="0">
                  <a:solidFill>
                    <a:srgbClr val="1F1F1F"/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in the IR spectrum.</a:t>
              </a:r>
            </a:p>
            <a:p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Resonant cavity allows light to cycle the central layer multiple time. Enhance its optical properties while allowing for thinner central layer.</a:t>
              </a:r>
            </a:p>
            <a:p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Resonant cavity can’t be create with PCMs because of their high </a:t>
              </a:r>
              <a:r>
                <a:rPr lang="en-US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k index</a:t>
              </a:r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. </a:t>
              </a:r>
            </a:p>
            <a:p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Here, we use an </a:t>
              </a:r>
              <a:r>
                <a:rPr lang="en-US" sz="4415" b="1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asymmetrical resonant cavity</a:t>
              </a:r>
              <a:r>
                <a:rPr lang="en-US" sz="4415" b="1" i="1" dirty="0">
                  <a:latin typeface="KMITLGO" panose="02000000000000000000" pitchFamily="2" charset="0"/>
                  <a:cs typeface="KMITLGO" panose="02000000000000000000" pitchFamily="2" charset="0"/>
                </a:rPr>
                <a:t> </a:t>
              </a:r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design with VO</a:t>
              </a:r>
              <a:r>
                <a:rPr lang="en-US" sz="4415" baseline="-25000" dirty="0">
                  <a:latin typeface="KMITLGO" panose="02000000000000000000" pitchFamily="2" charset="0"/>
                  <a:cs typeface="KMITLGO" panose="02000000000000000000" pitchFamily="2" charset="0"/>
                </a:rPr>
                <a:t>2</a:t>
              </a:r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 central layer for an optical limiter.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C3E40D9-C846-7D9B-3038-35557B9BEC0F}"/>
                </a:ext>
              </a:extLst>
            </p:cNvPr>
            <p:cNvSpPr txBox="1">
              <a:spLocks/>
            </p:cNvSpPr>
            <p:nvPr/>
          </p:nvSpPr>
          <p:spPr>
            <a:xfrm>
              <a:off x="24692" y="3334005"/>
              <a:ext cx="1016559" cy="15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23" dirty="0">
                  <a:solidFill>
                    <a:schemeClr val="bg2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Phase Change Materials</a:t>
              </a:r>
              <a:endParaRPr lang="en-GB" sz="2523" dirty="0">
                <a:solidFill>
                  <a:schemeClr val="bg2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2F22C58-8D86-22F0-16FB-80392F0C7A13}"/>
                </a:ext>
              </a:extLst>
            </p:cNvPr>
            <p:cNvSpPr txBox="1">
              <a:spLocks/>
            </p:cNvSpPr>
            <p:nvPr/>
          </p:nvSpPr>
          <p:spPr>
            <a:xfrm>
              <a:off x="2385147" y="3334004"/>
              <a:ext cx="1016559" cy="15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23" dirty="0">
                  <a:solidFill>
                    <a:schemeClr val="bg2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Transition temperature</a:t>
              </a:r>
              <a:endParaRPr lang="en-GB" sz="2523" dirty="0">
                <a:solidFill>
                  <a:schemeClr val="bg2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7758FF-6C8F-24B9-A7AF-ACBC8BB2EE6D}"/>
                </a:ext>
              </a:extLst>
            </p:cNvPr>
            <p:cNvSpPr txBox="1">
              <a:spLocks/>
            </p:cNvSpPr>
            <p:nvPr/>
          </p:nvSpPr>
          <p:spPr>
            <a:xfrm>
              <a:off x="-58321" y="3754513"/>
              <a:ext cx="1016559" cy="15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23" dirty="0">
                  <a:solidFill>
                    <a:schemeClr val="bg2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Vanadium dioxide</a:t>
              </a:r>
              <a:endParaRPr lang="en-GB" sz="2523" dirty="0">
                <a:solidFill>
                  <a:schemeClr val="bg2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86612AA-955B-A141-7275-A25D53E96F8D}"/>
              </a:ext>
            </a:extLst>
          </p:cNvPr>
          <p:cNvSpPr txBox="1">
            <a:spLocks/>
          </p:cNvSpPr>
          <p:nvPr/>
        </p:nvSpPr>
        <p:spPr>
          <a:xfrm>
            <a:off x="11609969" y="15364760"/>
            <a:ext cx="3467567" cy="48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23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Imaginary </a:t>
            </a:r>
            <a:r>
              <a:rPr lang="en-US" sz="2523" dirty="0">
                <a:solidFill>
                  <a:schemeClr val="bg2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refractive</a:t>
            </a:r>
            <a:r>
              <a:rPr lang="en-US" sz="2523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 index</a:t>
            </a:r>
            <a:endParaRPr lang="en-GB" sz="2523" dirty="0">
              <a:solidFill>
                <a:schemeClr val="bg1">
                  <a:lumMod val="50000"/>
                </a:schemeClr>
              </a:solidFill>
              <a:latin typeface="KMITLGO" panose="02000000000000000000" pitchFamily="2" charset="0"/>
              <a:cs typeface="KMITLGO" panose="02000000000000000000" pitchFamily="2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FB5EA28-7EAA-41FD-63A0-04390C189F60}"/>
              </a:ext>
            </a:extLst>
          </p:cNvPr>
          <p:cNvSpPr txBox="1">
            <a:spLocks/>
          </p:cNvSpPr>
          <p:nvPr/>
        </p:nvSpPr>
        <p:spPr>
          <a:xfrm>
            <a:off x="227824" y="32094347"/>
            <a:ext cx="19723734" cy="5527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29" b="1" dirty="0">
                <a:solidFill>
                  <a:srgbClr val="FF7B7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4. Conclusion</a:t>
            </a:r>
            <a:endParaRPr lang="en-GB" sz="8829" b="1" dirty="0">
              <a:solidFill>
                <a:srgbClr val="FF7B79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MITLGO" panose="02000000000000000000" pitchFamily="2" charset="0"/>
              <a:cs typeface="KMITLGO" panose="02000000000000000000" pitchFamily="2" charset="0"/>
            </a:endParaRPr>
          </a:p>
          <a:p>
            <a:r>
              <a:rPr lang="en-GB" sz="4415" dirty="0">
                <a:latin typeface="KMITLGO" panose="02000000000000000000" pitchFamily="2" charset="0"/>
                <a:cs typeface="KMITLGO" panose="02000000000000000000" pitchFamily="2" charset="0"/>
              </a:rPr>
              <a:t>- Demonstrated an AsymReca design that allows for precise tuning of VO</a:t>
            </a:r>
            <a:r>
              <a:rPr lang="en-GB" sz="4415" baseline="-25000" dirty="0">
                <a:latin typeface="KMITLGO" panose="02000000000000000000" pitchFamily="2" charset="0"/>
                <a:cs typeface="KMITLGO" panose="02000000000000000000" pitchFamily="2" charset="0"/>
              </a:rPr>
              <a:t>2</a:t>
            </a:r>
            <a:r>
              <a:rPr lang="en-GB" sz="4415" dirty="0">
                <a:latin typeface="KMITLGO" panose="02000000000000000000" pitchFamily="2" charset="0"/>
                <a:cs typeface="KMITLGO" panose="02000000000000000000" pitchFamily="2" charset="0"/>
              </a:rPr>
              <a:t>’s phase change properties for an efficient optical limiting device.</a:t>
            </a:r>
          </a:p>
          <a:p>
            <a:r>
              <a:rPr lang="en-US" sz="4415" dirty="0">
                <a:latin typeface="KMITLGO" panose="02000000000000000000" pitchFamily="2" charset="0"/>
                <a:cs typeface="KMITLGO" panose="02000000000000000000" pitchFamily="2" charset="0"/>
              </a:rPr>
              <a:t>- Archives similar or better optical performances with significantly reduced Vo</a:t>
            </a:r>
            <a:r>
              <a:rPr lang="en-US" sz="4415" baseline="-25000" dirty="0">
                <a:latin typeface="KMITLGO" panose="02000000000000000000" pitchFamily="2" charset="0"/>
                <a:cs typeface="KMITLGO" panose="02000000000000000000" pitchFamily="2" charset="0"/>
              </a:rPr>
              <a:t>2</a:t>
            </a:r>
            <a:r>
              <a:rPr lang="en-US" sz="4415" dirty="0">
                <a:latin typeface="KMITLGO" panose="02000000000000000000" pitchFamily="2" charset="0"/>
                <a:cs typeface="KMITLGO" panose="02000000000000000000" pitchFamily="2" charset="0"/>
              </a:rPr>
              <a:t> thickness needed.</a:t>
            </a:r>
          </a:p>
          <a:p>
            <a:r>
              <a:rPr lang="en-US" sz="4415" dirty="0">
                <a:latin typeface="KMITLGO" panose="02000000000000000000" pitchFamily="2" charset="0"/>
                <a:cs typeface="KMITLGO" panose="02000000000000000000" pitchFamily="2" charset="0"/>
              </a:rPr>
              <a:t>- Overall bulkier devices.</a:t>
            </a:r>
          </a:p>
          <a:p>
            <a:r>
              <a:rPr lang="en-US" sz="4415" dirty="0">
                <a:latin typeface="KMITLGO" panose="02000000000000000000" pitchFamily="2" charset="0"/>
                <a:cs typeface="KMITLGO" panose="02000000000000000000" pitchFamily="2" charset="0"/>
              </a:rPr>
              <a:t>- Narrow operation bandwidth limits this design to coherence light.</a:t>
            </a:r>
          </a:p>
          <a:p>
            <a:r>
              <a:rPr lang="en-US" sz="4415" dirty="0">
                <a:latin typeface="KMITLGO" panose="02000000000000000000" pitchFamily="2" charset="0"/>
                <a:cs typeface="KMITLGO" panose="02000000000000000000" pitchFamily="2" charset="0"/>
              </a:rPr>
              <a:t>- </a:t>
            </a:r>
            <a:r>
              <a:rPr lang="en-GB" sz="4415" dirty="0">
                <a:latin typeface="KMITLGO" panose="02000000000000000000" pitchFamily="2" charset="0"/>
                <a:cs typeface="KMITLGO" panose="02000000000000000000" pitchFamily="2" charset="0"/>
              </a:rPr>
              <a:t>High </a:t>
            </a:r>
            <a:r>
              <a:rPr lang="en-US" sz="4415" dirty="0">
                <a:latin typeface="KMITLGO" panose="02000000000000000000" pitchFamily="2" charset="0"/>
                <a:cs typeface="KMITLGO" panose="02000000000000000000" pitchFamily="2" charset="0"/>
              </a:rPr>
              <a:t>deposition complexity may limit real-world implementation.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274CDA-51CA-297C-401B-66F712B48B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824" y="38910309"/>
            <a:ext cx="6065549" cy="18162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91F9072-7CD5-EDB3-23E0-398B1943BF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7298" y="38396168"/>
            <a:ext cx="2724429" cy="2724429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B21E557D-F14C-454F-2D5F-43A96E3018F8}"/>
              </a:ext>
            </a:extLst>
          </p:cNvPr>
          <p:cNvGrpSpPr/>
          <p:nvPr/>
        </p:nvGrpSpPr>
        <p:grpSpPr>
          <a:xfrm>
            <a:off x="19973665" y="9762487"/>
            <a:ext cx="10371868" cy="4860065"/>
            <a:chOff x="6334263" y="2986319"/>
            <a:chExt cx="3289238" cy="1541276"/>
          </a:xfrm>
        </p:grpSpPr>
        <p:sp>
          <p:nvSpPr>
            <p:cNvPr id="86" name="Text Box 2">
              <a:extLst>
                <a:ext uri="{FF2B5EF4-FFF2-40B4-BE49-F238E27FC236}">
                  <a16:creationId xmlns:a16="http://schemas.microsoft.com/office/drawing/2014/main" id="{2850D793-809B-E27C-F81D-5FA9F91AECA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334263" y="2986319"/>
              <a:ext cx="1383503" cy="293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r>
                <a:rPr lang="en-US" sz="18522" b="1" u="sng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Optical Limiter</a:t>
              </a:r>
              <a:endParaRPr lang="en-GB" sz="18522" b="1" u="sng" dirty="0">
                <a:latin typeface="KMITLGO" panose="02000000000000000000" pitchFamily="2" charset="0"/>
                <a:ea typeface="Times New Roman" panose="02020603050405020304" pitchFamily="18" charset="0"/>
                <a:cs typeface="KMITLGO" panose="020000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AA7539-1351-F891-1075-7433E18AFEF3}"/>
                </a:ext>
              </a:extLst>
            </p:cNvPr>
            <p:cNvSpPr txBox="1">
              <a:spLocks/>
            </p:cNvSpPr>
            <p:nvPr/>
          </p:nvSpPr>
          <p:spPr>
            <a:xfrm>
              <a:off x="7587195" y="3017467"/>
              <a:ext cx="2036306" cy="337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153" dirty="0">
                  <a:latin typeface="KMITLGO" panose="02000000000000000000" pitchFamily="2" charset="0"/>
                  <a:cs typeface="KMITLGO" panose="02000000000000000000" pitchFamily="2" charset="0"/>
                </a:rPr>
                <a:t>- Protect human eyes, sensor and laser head.</a:t>
              </a:r>
            </a:p>
            <a:p>
              <a:r>
                <a:rPr lang="en-US" sz="3153" dirty="0">
                  <a:latin typeface="KMITLGO" panose="02000000000000000000" pitchFamily="2" charset="0"/>
                  <a:cs typeface="KMITLGO" panose="02000000000000000000" pitchFamily="2" charset="0"/>
                </a:rPr>
                <a:t>- Self-activated with high-intensity light.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FC6FAD7-E422-94BA-A159-0047DFF8F70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426528" y="3312997"/>
              <a:ext cx="2649762" cy="1214598"/>
              <a:chOff x="7592394" y="3260840"/>
              <a:chExt cx="2309790" cy="1058762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44A939B-1C49-B329-E080-7901324275EB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8257947" y="3838751"/>
                <a:ext cx="432000" cy="292707"/>
              </a:xfrm>
              <a:prstGeom prst="rect">
                <a:avLst/>
              </a:prstGeom>
              <a:solidFill>
                <a:srgbClr val="FF7B79"/>
              </a:solidFill>
              <a:ln>
                <a:solidFill>
                  <a:srgbClr val="FF7B79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519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9C474EE-C244-75E1-1E73-1334DF861C28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8264299" y="3330487"/>
                <a:ext cx="432000" cy="292706"/>
              </a:xfrm>
              <a:prstGeom prst="rect">
                <a:avLst/>
              </a:prstGeom>
              <a:solidFill>
                <a:srgbClr val="80B6FF"/>
              </a:solidFill>
              <a:ln>
                <a:solidFill>
                  <a:srgbClr val="80B6FF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519"/>
              </a:p>
            </p:txBody>
          </p:sp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E0CD0F68-60CA-08F3-5984-1E05584C32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duotone>
                  <a:prstClr val="black"/>
                  <a:srgbClr val="BFDBFF">
                    <a:tint val="45000"/>
                    <a:satMod val="400000"/>
                  </a:srgbClr>
                </a:duotone>
              </a:blip>
              <a:srcRect t="9299" r="34309" b="11535"/>
              <a:stretch/>
            </p:blipFill>
            <p:spPr>
              <a:xfrm flipH="1">
                <a:off x="9168325" y="3313816"/>
                <a:ext cx="733859" cy="884390"/>
              </a:xfrm>
              <a:prstGeom prst="rect">
                <a:avLst/>
              </a:prstGeom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971FC700-1DE6-F460-B4A1-373304A908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93386" y="3985104"/>
                <a:ext cx="900000" cy="0"/>
              </a:xfrm>
              <a:prstGeom prst="straightConnector1">
                <a:avLst/>
              </a:prstGeom>
              <a:ln>
                <a:solidFill>
                  <a:srgbClr val="FFE6B4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9E6D49D2-8065-7AF6-BE91-5524A71192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0686" y="3476839"/>
                <a:ext cx="1487639" cy="0"/>
              </a:xfrm>
              <a:prstGeom prst="straightConnector1">
                <a:avLst/>
              </a:prstGeom>
              <a:ln>
                <a:solidFill>
                  <a:srgbClr val="FFE6B4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2" name="Text Box 2">
                <a:extLst>
                  <a:ext uri="{FF2B5EF4-FFF2-40B4-BE49-F238E27FC236}">
                    <a16:creationId xmlns:a16="http://schemas.microsoft.com/office/drawing/2014/main" id="{45598C65-3349-ADD1-75AD-27B20A5DA69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8333944" y="3534934"/>
                <a:ext cx="292706" cy="2719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288335" tIns="144168" rIns="288335" bIns="144168" anchor="t" anchorCtr="0">
                <a:noAutofit/>
              </a:bodyPr>
              <a:lstStyle/>
              <a:p>
                <a:pPr algn="ctr"/>
                <a:r>
                  <a:rPr lang="en-US" sz="3153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rPr>
                  <a:t>on</a:t>
                </a:r>
              </a:p>
            </p:txBody>
          </p:sp>
          <p:cxnSp>
            <p:nvCxnSpPr>
              <p:cNvPr id="103" name="Connector: Curved 102">
                <a:extLst>
                  <a:ext uri="{FF2B5EF4-FFF2-40B4-BE49-F238E27FC236}">
                    <a16:creationId xmlns:a16="http://schemas.microsoft.com/office/drawing/2014/main" id="{3ABD3AA4-CCB3-2534-CABD-AA69D4F230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8369689" y="3872259"/>
                <a:ext cx="164067" cy="57150"/>
              </a:xfrm>
              <a:prstGeom prst="curvedConnector3">
                <a:avLst/>
              </a:prstGeom>
              <a:ln>
                <a:solidFill>
                  <a:srgbClr val="FFE6B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Connector: Curved 103">
                <a:extLst>
                  <a:ext uri="{FF2B5EF4-FFF2-40B4-BE49-F238E27FC236}">
                    <a16:creationId xmlns:a16="http://schemas.microsoft.com/office/drawing/2014/main" id="{27B055F6-BF9F-90A2-1BA3-892CA3D07E1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325239" y="4037359"/>
                <a:ext cx="164067" cy="57150"/>
              </a:xfrm>
              <a:prstGeom prst="curvedConnector3">
                <a:avLst/>
              </a:prstGeom>
              <a:ln>
                <a:solidFill>
                  <a:srgbClr val="FFE6B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Connector: Curved 104">
                <a:extLst>
                  <a:ext uri="{FF2B5EF4-FFF2-40B4-BE49-F238E27FC236}">
                    <a16:creationId xmlns:a16="http://schemas.microsoft.com/office/drawing/2014/main" id="{09BB4208-F246-28FE-0848-DB428F387607}"/>
                  </a:ext>
                </a:extLst>
              </p:cNvPr>
              <p:cNvCxnSpPr>
                <a:cxnSpLocks/>
              </p:cNvCxnSpPr>
              <p:nvPr/>
            </p:nvCxnSpPr>
            <p:spPr>
              <a:xfrm rot="12240000" flipH="1" flipV="1">
                <a:off x="8439539" y="4024659"/>
                <a:ext cx="164067" cy="57150"/>
              </a:xfrm>
              <a:prstGeom prst="curvedConnector3">
                <a:avLst/>
              </a:prstGeom>
              <a:ln>
                <a:solidFill>
                  <a:srgbClr val="FFE6B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Text Box 2">
                <a:extLst>
                  <a:ext uri="{FF2B5EF4-FFF2-40B4-BE49-F238E27FC236}">
                    <a16:creationId xmlns:a16="http://schemas.microsoft.com/office/drawing/2014/main" id="{63AD68BB-8C0C-8494-6B43-DE3EC6FC359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607655" y="3314083"/>
                <a:ext cx="851029" cy="2099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288335" tIns="144168" rIns="288335" bIns="144168" anchor="t" anchorCtr="0">
                <a:noAutofit/>
              </a:bodyPr>
              <a:lstStyle/>
              <a:p>
                <a:pPr algn="ctr"/>
                <a:r>
                  <a:rPr lang="en-GB" sz="3153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rPr>
                  <a:t>Low power</a:t>
                </a:r>
              </a:p>
            </p:txBody>
          </p:sp>
          <p:sp>
            <p:nvSpPr>
              <p:cNvPr id="111" name="Text Box 2">
                <a:extLst>
                  <a:ext uri="{FF2B5EF4-FFF2-40B4-BE49-F238E27FC236}">
                    <a16:creationId xmlns:a16="http://schemas.microsoft.com/office/drawing/2014/main" id="{B2E8B9F9-110C-056C-909E-C70BC442039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592394" y="3835655"/>
                <a:ext cx="881552" cy="2099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288335" tIns="144168" rIns="288335" bIns="144168" anchor="t" anchorCtr="0">
                <a:noAutofit/>
              </a:bodyPr>
              <a:lstStyle/>
              <a:p>
                <a:pPr algn="ctr"/>
                <a:r>
                  <a:rPr lang="en-GB" sz="3153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rPr>
                  <a:t>High power</a:t>
                </a:r>
              </a:p>
            </p:txBody>
          </p:sp>
          <p:sp>
            <p:nvSpPr>
              <p:cNvPr id="93" name="Text Box 2">
                <a:extLst>
                  <a:ext uri="{FF2B5EF4-FFF2-40B4-BE49-F238E27FC236}">
                    <a16:creationId xmlns:a16="http://schemas.microsoft.com/office/drawing/2014/main" id="{4C32ADCC-BBF7-7D05-D6FD-0DB85D24AE3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8340368" y="4047646"/>
                <a:ext cx="292706" cy="2719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288335" tIns="144168" rIns="288335" bIns="144168" anchor="t" anchorCtr="0">
                <a:noAutofit/>
              </a:bodyPr>
              <a:lstStyle/>
              <a:p>
                <a:pPr algn="ctr"/>
                <a:r>
                  <a:rPr lang="en-US" sz="3153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rPr>
                  <a:t>off</a:t>
                </a: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FA244AAA-DC01-EAE9-17A0-49CB5DD8FC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27973" y="3867873"/>
                <a:ext cx="205913" cy="115425"/>
              </a:xfrm>
              <a:prstGeom prst="straightConnector1">
                <a:avLst/>
              </a:prstGeom>
              <a:ln>
                <a:solidFill>
                  <a:srgbClr val="FFE6B4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28223BB-68FE-E583-08B2-E56F2EC03A15}"/>
              </a:ext>
            </a:extLst>
          </p:cNvPr>
          <p:cNvCxnSpPr>
            <a:cxnSpLocks/>
          </p:cNvCxnSpPr>
          <p:nvPr/>
        </p:nvCxnSpPr>
        <p:spPr>
          <a:xfrm flipH="1">
            <a:off x="421567" y="32274850"/>
            <a:ext cx="1936614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2704953-5A0D-8692-18D7-386E93A3A64E}"/>
              </a:ext>
            </a:extLst>
          </p:cNvPr>
          <p:cNvSpPr txBox="1">
            <a:spLocks/>
          </p:cNvSpPr>
          <p:nvPr/>
        </p:nvSpPr>
        <p:spPr>
          <a:xfrm>
            <a:off x="10532127" y="13350364"/>
            <a:ext cx="6050697" cy="48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523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Ex: at 1,550 nm n</a:t>
            </a:r>
            <a:r>
              <a:rPr lang="en-GB" sz="2523" baseline="-25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30</a:t>
            </a:r>
            <a:r>
              <a:rPr lang="en-GB" sz="2523" baseline="-25000" dirty="0">
                <a:solidFill>
                  <a:schemeClr val="bg1">
                    <a:lumMod val="50000"/>
                  </a:schemeClr>
                </a:solidFill>
                <a:latin typeface="Google Sans"/>
              </a:rPr>
              <a:t>°</a:t>
            </a:r>
            <a:r>
              <a:rPr lang="en-GB" sz="2523" baseline="-25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C</a:t>
            </a:r>
            <a:r>
              <a:rPr lang="en-GB" sz="2523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=2.86+0.28j and n</a:t>
            </a:r>
            <a:r>
              <a:rPr lang="en-GB" sz="2523" baseline="-25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70</a:t>
            </a:r>
            <a:r>
              <a:rPr lang="en-GB" sz="2523" baseline="-25000" dirty="0">
                <a:solidFill>
                  <a:schemeClr val="bg1">
                    <a:lumMod val="50000"/>
                  </a:schemeClr>
                </a:solidFill>
                <a:latin typeface="Google Sans"/>
              </a:rPr>
              <a:t>°</a:t>
            </a:r>
            <a:r>
              <a:rPr lang="en-GB" sz="2523" baseline="-25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C</a:t>
            </a:r>
            <a:r>
              <a:rPr lang="en-GB" sz="2523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=1.61+2.72j.</a:t>
            </a:r>
            <a:endParaRPr lang="en-US" sz="2523" dirty="0">
              <a:solidFill>
                <a:schemeClr val="bg1">
                  <a:lumMod val="50000"/>
                </a:schemeClr>
              </a:solidFill>
              <a:latin typeface="KMITLGO" panose="02000000000000000000" pitchFamily="2" charset="0"/>
              <a:cs typeface="KMITLGO" panose="02000000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6378D37-3C45-2F56-A8C4-A256CAB33C76}"/>
              </a:ext>
            </a:extLst>
          </p:cNvPr>
          <p:cNvGrpSpPr/>
          <p:nvPr/>
        </p:nvGrpSpPr>
        <p:grpSpPr>
          <a:xfrm>
            <a:off x="10197" y="22289805"/>
            <a:ext cx="19721981" cy="9776577"/>
            <a:chOff x="3234" y="6724223"/>
            <a:chExt cx="6254446" cy="310045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A3CFB8B-B81E-C48B-3C13-F73A98EC3F72}"/>
                </a:ext>
              </a:extLst>
            </p:cNvPr>
            <p:cNvSpPr txBox="1">
              <a:spLocks/>
            </p:cNvSpPr>
            <p:nvPr/>
          </p:nvSpPr>
          <p:spPr>
            <a:xfrm>
              <a:off x="86857" y="6724223"/>
              <a:ext cx="3032478" cy="460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829" b="1" dirty="0">
                  <a:solidFill>
                    <a:srgbClr val="FFE6B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KMITLGO" panose="02000000000000000000" pitchFamily="2" charset="0"/>
                  <a:cs typeface="KMITLGO" panose="02000000000000000000" pitchFamily="2" charset="0"/>
                </a:rPr>
                <a:t>3. Result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8BF859-5D44-1938-123A-CC6D0E1A85BA}"/>
                </a:ext>
              </a:extLst>
            </p:cNvPr>
            <p:cNvGrpSpPr/>
            <p:nvPr/>
          </p:nvGrpSpPr>
          <p:grpSpPr>
            <a:xfrm>
              <a:off x="3234" y="6861564"/>
              <a:ext cx="6254446" cy="2963112"/>
              <a:chOff x="3234" y="6861564"/>
              <a:chExt cx="6254446" cy="2963112"/>
            </a:xfrm>
          </p:grpSpPr>
          <p:grpSp>
            <p:nvGrpSpPr>
              <p:cNvPr id="1025" name="Group 1024">
                <a:extLst>
                  <a:ext uri="{FF2B5EF4-FFF2-40B4-BE49-F238E27FC236}">
                    <a16:creationId xmlns:a16="http://schemas.microsoft.com/office/drawing/2014/main" id="{D2AF4EC6-64E4-98B9-82E3-0A138C801997}"/>
                  </a:ext>
                </a:extLst>
              </p:cNvPr>
              <p:cNvGrpSpPr/>
              <p:nvPr/>
            </p:nvGrpSpPr>
            <p:grpSpPr>
              <a:xfrm>
                <a:off x="1526658" y="8120157"/>
                <a:ext cx="4683478" cy="1704519"/>
                <a:chOff x="453441" y="8132672"/>
                <a:chExt cx="4508580" cy="1640866"/>
              </a:xfrm>
            </p:grpSpPr>
            <p:pic>
              <p:nvPicPr>
                <p:cNvPr id="115" name="Picture 114" descr="A graph of a graph of a person's temperature&#10;&#10;AI-generated content may be incorrect.">
                  <a:extLst>
                    <a:ext uri="{FF2B5EF4-FFF2-40B4-BE49-F238E27FC236}">
                      <a16:creationId xmlns:a16="http://schemas.microsoft.com/office/drawing/2014/main" id="{B202DECB-C10F-BFE7-822F-A98AE6641A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095" t="5840" r="1227"/>
                <a:stretch/>
              </p:blipFill>
              <p:spPr>
                <a:xfrm>
                  <a:off x="2739830" y="8132672"/>
                  <a:ext cx="2222191" cy="1640196"/>
                </a:xfrm>
                <a:prstGeom prst="rect">
                  <a:avLst/>
                </a:prstGeom>
              </p:spPr>
            </p:pic>
            <p:pic>
              <p:nvPicPr>
                <p:cNvPr id="117" name="Picture 116" descr="A graph of a graph showing a number of different colors&#10;&#10;AI-generated content may be incorrect.">
                  <a:extLst>
                    <a:ext uri="{FF2B5EF4-FFF2-40B4-BE49-F238E27FC236}">
                      <a16:creationId xmlns:a16="http://schemas.microsoft.com/office/drawing/2014/main" id="{379151DC-FE56-632C-9B82-C5FF22BB5D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13" t="5840" r="946"/>
                <a:stretch/>
              </p:blipFill>
              <p:spPr>
                <a:xfrm>
                  <a:off x="453441" y="8132672"/>
                  <a:ext cx="2222191" cy="1640866"/>
                </a:xfrm>
                <a:prstGeom prst="rect">
                  <a:avLst/>
                </a:prstGeom>
              </p:spPr>
            </p:pic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D39A9F7-0E0A-66F8-DA9E-29B8C25596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34" y="7235339"/>
                <a:ext cx="1596965" cy="783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7" dirty="0">
                    <a:solidFill>
                      <a:schemeClr val="bg1">
                        <a:lumMod val="50000"/>
                      </a:schemeClr>
                    </a:solidFill>
                    <a:latin typeface="KMITLGO" panose="02000000000000000000" pitchFamily="2" charset="0"/>
                    <a:cs typeface="KMITLGO" panose="02000000000000000000" pitchFamily="2" charset="0"/>
                  </a:rPr>
                  <a:t>[5] C. Baratto, et al, “Optical Limiting Sensor Based on Multilayer Optimization of Ag/VO2 Phase Change Material,” IEEE Sensors Letters 7(9).</a:t>
                </a:r>
              </a:p>
              <a:p>
                <a:endParaRPr lang="en-GB" sz="2207" dirty="0">
                  <a:solidFill>
                    <a:schemeClr val="bg1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endParaRPr>
              </a:p>
              <a:p>
                <a:r>
                  <a:rPr lang="en-GB" sz="2207" dirty="0">
                    <a:solidFill>
                      <a:schemeClr val="bg1">
                        <a:lumMod val="50000"/>
                      </a:schemeClr>
                    </a:solidFill>
                    <a:latin typeface="KMITLGO" panose="02000000000000000000" pitchFamily="2" charset="0"/>
                    <a:cs typeface="KMITLGO" panose="02000000000000000000" pitchFamily="2" charset="0"/>
                  </a:rPr>
                  <a:t>[6] C. Wan, et al, “Limiting Optical Diodes Enabled by the Phase Transition of Vanadium Dioxide,” ACS Phot. 5(7), </a:t>
                </a:r>
              </a:p>
            </p:txBody>
          </p:sp>
          <p:pic>
            <p:nvPicPr>
              <p:cNvPr id="127" name="Picture 126">
                <a:extLst>
                  <a:ext uri="{FF2B5EF4-FFF2-40B4-BE49-F238E27FC236}">
                    <a16:creationId xmlns:a16="http://schemas.microsoft.com/office/drawing/2014/main" id="{B74E74B2-8257-F849-EC04-1A70FAE3CE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24386" y="6861564"/>
                <a:ext cx="4733294" cy="1235733"/>
              </a:xfrm>
              <a:prstGeom prst="rect">
                <a:avLst/>
              </a:prstGeom>
            </p:spPr>
          </p:pic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6CBDEA04-D2FB-2880-6018-5086E14D93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267" y="8326285"/>
                <a:ext cx="1568632" cy="891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15" b="1" dirty="0">
                    <a:latin typeface="KMITLGO" panose="02000000000000000000" pitchFamily="2" charset="0"/>
                    <a:cs typeface="KMITLGO" panose="02000000000000000000" pitchFamily="2" charset="0"/>
                  </a:rPr>
                  <a:t>[6] </a:t>
                </a:r>
                <a:r>
                  <a:rPr lang="en-US" sz="4415" b="1" u="sng" dirty="0">
                    <a:latin typeface="KMITLGO" panose="02000000000000000000" pitchFamily="2" charset="0"/>
                    <a:cs typeface="KMITLGO" panose="02000000000000000000" pitchFamily="2" charset="0"/>
                  </a:rPr>
                  <a:t>Redesign #1</a:t>
                </a:r>
              </a:p>
              <a:p>
                <a:r>
                  <a:rPr lang="en-US" sz="4415" dirty="0">
                    <a:latin typeface="KMITLGO" panose="02000000000000000000" pitchFamily="2" charset="0"/>
                    <a:cs typeface="KMITLGO" panose="02000000000000000000" pitchFamily="2" charset="0"/>
                  </a:rPr>
                  <a:t>- Antireflection design</a:t>
                </a:r>
              </a:p>
              <a:p>
                <a:r>
                  <a:rPr lang="en-US" sz="4415" dirty="0">
                    <a:latin typeface="KMITLGO" panose="02000000000000000000" pitchFamily="2" charset="0"/>
                    <a:cs typeface="KMITLGO" panose="02000000000000000000" pitchFamily="2" charset="0"/>
                  </a:rPr>
                  <a:t>- Resonant @1320 nm</a:t>
                </a:r>
              </a:p>
              <a:p>
                <a:r>
                  <a:rPr lang="en-US" sz="4415" dirty="0">
                    <a:latin typeface="KMITLGO" panose="02000000000000000000" pitchFamily="2" charset="0"/>
                    <a:cs typeface="KMITLGO" panose="02000000000000000000" pitchFamily="2" charset="0"/>
                  </a:rPr>
                  <a:t>- 14x less VO</a:t>
                </a:r>
                <a:r>
                  <a:rPr lang="en-US" sz="4415" baseline="-25000" dirty="0">
                    <a:latin typeface="KMITLGO" panose="02000000000000000000" pitchFamily="2" charset="0"/>
                    <a:cs typeface="KMITLGO" panose="02000000000000000000" pitchFamily="2" charset="0"/>
                  </a:rPr>
                  <a:t>2</a:t>
                </a:r>
                <a:r>
                  <a:rPr lang="en-US" sz="4415" dirty="0">
                    <a:latin typeface="KMITLGO" panose="02000000000000000000" pitchFamily="2" charset="0"/>
                    <a:cs typeface="KMITLGO" panose="02000000000000000000" pitchFamily="2" charset="0"/>
                  </a:rPr>
                  <a:t> used</a:t>
                </a:r>
              </a:p>
            </p:txBody>
          </p:sp>
          <p:sp>
            <p:nvSpPr>
              <p:cNvPr id="1027" name="Rectangle 1026">
                <a:extLst>
                  <a:ext uri="{FF2B5EF4-FFF2-40B4-BE49-F238E27FC236}">
                    <a16:creationId xmlns:a16="http://schemas.microsoft.com/office/drawing/2014/main" id="{3DB9D934-FE6E-88BB-C0AB-C81242F453BD}"/>
                  </a:ext>
                </a:extLst>
              </p:cNvPr>
              <p:cNvSpPr/>
              <p:nvPr/>
            </p:nvSpPr>
            <p:spPr>
              <a:xfrm>
                <a:off x="1509146" y="7771664"/>
                <a:ext cx="4738728" cy="108000"/>
              </a:xfrm>
              <a:prstGeom prst="rect">
                <a:avLst/>
              </a:prstGeom>
              <a:noFill/>
              <a:ln w="19050">
                <a:solidFill>
                  <a:srgbClr val="FFD5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522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4711761-3A2D-B6B3-4F7C-AF426971CC5F}"/>
              </a:ext>
            </a:extLst>
          </p:cNvPr>
          <p:cNvGrpSpPr/>
          <p:nvPr/>
        </p:nvGrpSpPr>
        <p:grpSpPr>
          <a:xfrm>
            <a:off x="19951492" y="25717393"/>
            <a:ext cx="10169371" cy="11692087"/>
            <a:chOff x="6289126" y="7726843"/>
            <a:chExt cx="3286963" cy="3779138"/>
          </a:xfrm>
        </p:grpSpPr>
        <p:pic>
          <p:nvPicPr>
            <p:cNvPr id="19" name="Picture 18" descr="A graph with a green circle and blue dots&#10;&#10;AI-generated content may be incorrect.">
              <a:extLst>
                <a:ext uri="{FF2B5EF4-FFF2-40B4-BE49-F238E27FC236}">
                  <a16:creationId xmlns:a16="http://schemas.microsoft.com/office/drawing/2014/main" id="{12B29B51-CF23-3218-3A37-ED8A1DC0A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05" r="5980"/>
            <a:stretch/>
          </p:blipFill>
          <p:spPr>
            <a:xfrm>
              <a:off x="6289126" y="7726843"/>
              <a:ext cx="1658278" cy="1272473"/>
            </a:xfrm>
            <a:prstGeom prst="rect">
              <a:avLst/>
            </a:prstGeom>
          </p:spPr>
        </p:pic>
        <p:pic>
          <p:nvPicPr>
            <p:cNvPr id="22" name="Picture 21" descr="A graph of a graph&#10;&#10;AI-generated content may be incorrect.">
              <a:extLst>
                <a:ext uri="{FF2B5EF4-FFF2-40B4-BE49-F238E27FC236}">
                  <a16:creationId xmlns:a16="http://schemas.microsoft.com/office/drawing/2014/main" id="{F66A96BC-CB9B-B86F-C499-C24599BB7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41" r="5719"/>
            <a:stretch/>
          </p:blipFill>
          <p:spPr>
            <a:xfrm>
              <a:off x="7932587" y="7726844"/>
              <a:ext cx="1643502" cy="1260000"/>
            </a:xfrm>
            <a:prstGeom prst="rect">
              <a:avLst/>
            </a:prstGeom>
          </p:spPr>
        </p:pic>
        <p:pic>
          <p:nvPicPr>
            <p:cNvPr id="24" name="Picture 23" descr="A graph of a graph with lines and dots&#10;&#10;AI-generated content may be incorrect.">
              <a:extLst>
                <a:ext uri="{FF2B5EF4-FFF2-40B4-BE49-F238E27FC236}">
                  <a16:creationId xmlns:a16="http://schemas.microsoft.com/office/drawing/2014/main" id="{81A61E7B-0092-A4E4-66E8-DC3258FF6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89" r="6137"/>
            <a:stretch/>
          </p:blipFill>
          <p:spPr>
            <a:xfrm>
              <a:off x="6289126" y="8989565"/>
              <a:ext cx="1645200" cy="1260819"/>
            </a:xfrm>
            <a:prstGeom prst="rect">
              <a:avLst/>
            </a:prstGeom>
          </p:spPr>
        </p:pic>
        <p:pic>
          <p:nvPicPr>
            <p:cNvPr id="30" name="Picture 29" descr="A graph of a graph with lines and dots&#10;&#10;AI-generated content may be incorrect.">
              <a:extLst>
                <a:ext uri="{FF2B5EF4-FFF2-40B4-BE49-F238E27FC236}">
                  <a16:creationId xmlns:a16="http://schemas.microsoft.com/office/drawing/2014/main" id="{78E95F27-6CA6-679B-41A0-9C0458AEB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20" r="5387"/>
            <a:stretch/>
          </p:blipFill>
          <p:spPr>
            <a:xfrm>
              <a:off x="7930889" y="8986409"/>
              <a:ext cx="1645200" cy="1268738"/>
            </a:xfrm>
            <a:prstGeom prst="rect">
              <a:avLst/>
            </a:prstGeom>
          </p:spPr>
        </p:pic>
        <p:pic>
          <p:nvPicPr>
            <p:cNvPr id="32" name="Picture 31" descr="A graph of a graph with lines and dots&#10;&#10;AI-generated content may be incorrect.">
              <a:extLst>
                <a:ext uri="{FF2B5EF4-FFF2-40B4-BE49-F238E27FC236}">
                  <a16:creationId xmlns:a16="http://schemas.microsoft.com/office/drawing/2014/main" id="{A30547B7-0245-F397-C461-65315A9A6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17" r="5886"/>
            <a:stretch/>
          </p:blipFill>
          <p:spPr>
            <a:xfrm>
              <a:off x="6289126" y="10241018"/>
              <a:ext cx="1645200" cy="1264963"/>
            </a:xfrm>
            <a:prstGeom prst="rect">
              <a:avLst/>
            </a:prstGeom>
          </p:spPr>
        </p:pic>
        <p:pic>
          <p:nvPicPr>
            <p:cNvPr id="36" name="Picture 35" descr="A diagram of a circle with a red and blue line&#10;&#10;AI-generated content may be incorrect.">
              <a:extLst>
                <a:ext uri="{FF2B5EF4-FFF2-40B4-BE49-F238E27FC236}">
                  <a16:creationId xmlns:a16="http://schemas.microsoft.com/office/drawing/2014/main" id="{933BB57C-2A6D-E96C-CC5B-E6D65E222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46" r="5230"/>
            <a:stretch/>
          </p:blipFill>
          <p:spPr>
            <a:xfrm>
              <a:off x="7930889" y="10250151"/>
              <a:ext cx="1645200" cy="1255830"/>
            </a:xfrm>
            <a:prstGeom prst="rect">
              <a:avLst/>
            </a:prstGeom>
          </p:spPr>
        </p:pic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1837F32-8A53-C4FF-D33D-7CD67F7BB480}"/>
              </a:ext>
            </a:extLst>
          </p:cNvPr>
          <p:cNvGrpSpPr/>
          <p:nvPr/>
        </p:nvGrpSpPr>
        <p:grpSpPr>
          <a:xfrm>
            <a:off x="262154" y="17273835"/>
            <a:ext cx="19844359" cy="4848121"/>
            <a:chOff x="83137" y="5051590"/>
            <a:chExt cx="6293256" cy="15374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EDCA0CF-FD89-EB9C-9650-63CEE4D7AD4D}"/>
                </a:ext>
              </a:extLst>
            </p:cNvPr>
            <p:cNvSpPr txBox="1">
              <a:spLocks/>
            </p:cNvSpPr>
            <p:nvPr/>
          </p:nvSpPr>
          <p:spPr>
            <a:xfrm>
              <a:off x="83137" y="5051590"/>
              <a:ext cx="6293256" cy="1537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829" b="1" dirty="0">
                  <a:solidFill>
                    <a:srgbClr val="9DE3D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KMITLGO" panose="02000000000000000000" pitchFamily="2" charset="0"/>
                  <a:cs typeface="KMITLGO" panose="02000000000000000000" pitchFamily="2" charset="0"/>
                </a:rPr>
                <a:t>2. Theory</a:t>
              </a:r>
              <a:endParaRPr lang="en-GB" sz="8829" b="1" dirty="0">
                <a:solidFill>
                  <a:srgbClr val="9DE3D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endParaRPr>
            </a:p>
            <a:p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Optical thin film theory: Films thickness determines whether the device exhibits </a:t>
              </a:r>
              <a:r>
                <a:rPr lang="en-GB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AR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 or high-reflection property. Normally it’s either </a:t>
              </a:r>
              <a:r>
                <a:rPr lang="en-GB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QWOT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 or </a:t>
              </a:r>
              <a:r>
                <a:rPr lang="en-GB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HWOT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.</a:t>
              </a:r>
            </a:p>
            <a:p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Designing resonant cavity: By placing a central layer between two high-reflection mirror will make light bounce through the central layer multiple time. Amplifying the absorption and transmission.</a:t>
              </a:r>
            </a:p>
            <a:p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AsymReca: By using different #N for each side, we can restore resonance with a central PCM layer.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B5D02D2-5986-70C8-2CDE-EC68B1B40771}"/>
                </a:ext>
              </a:extLst>
            </p:cNvPr>
            <p:cNvSpPr txBox="1">
              <a:spLocks/>
            </p:cNvSpPr>
            <p:nvPr/>
          </p:nvSpPr>
          <p:spPr>
            <a:xfrm>
              <a:off x="1379930" y="5650472"/>
              <a:ext cx="1215082" cy="15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23" dirty="0">
                  <a:solidFill>
                    <a:schemeClr val="bg2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Quarter-wave optical thickness</a:t>
              </a:r>
              <a:endParaRPr lang="en-GB" sz="2523" dirty="0">
                <a:solidFill>
                  <a:schemeClr val="bg2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B6426D2-CD3A-CC67-AE8C-0DF87F885AE2}"/>
                </a:ext>
              </a:extLst>
            </p:cNvPr>
            <p:cNvSpPr txBox="1">
              <a:spLocks/>
            </p:cNvSpPr>
            <p:nvPr/>
          </p:nvSpPr>
          <p:spPr>
            <a:xfrm>
              <a:off x="1942352" y="5864240"/>
              <a:ext cx="1215082" cy="15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23" dirty="0">
                  <a:solidFill>
                    <a:schemeClr val="bg2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Half-wave optical thickness</a:t>
              </a:r>
              <a:endParaRPr lang="en-GB" sz="2523" dirty="0">
                <a:solidFill>
                  <a:schemeClr val="bg2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D21BF87-9C09-7D53-62AF-44A02234AE7F}"/>
                </a:ext>
              </a:extLst>
            </p:cNvPr>
            <p:cNvSpPr txBox="1">
              <a:spLocks/>
            </p:cNvSpPr>
            <p:nvPr/>
          </p:nvSpPr>
          <p:spPr>
            <a:xfrm>
              <a:off x="4353670" y="5446173"/>
              <a:ext cx="1099672" cy="15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23" dirty="0">
                  <a:solidFill>
                    <a:schemeClr val="bg1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antireflection</a:t>
              </a:r>
              <a:endParaRPr lang="en-GB" sz="2523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A16B90F-EF0B-4F7D-F0A5-1C1C593A8EE5}"/>
              </a:ext>
            </a:extLst>
          </p:cNvPr>
          <p:cNvCxnSpPr>
            <a:cxnSpLocks/>
          </p:cNvCxnSpPr>
          <p:nvPr/>
        </p:nvCxnSpPr>
        <p:spPr>
          <a:xfrm flipH="1">
            <a:off x="472770" y="17667678"/>
            <a:ext cx="19071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D9F57F3-E1BA-A5F3-C762-2CFCB81DD876}"/>
              </a:ext>
            </a:extLst>
          </p:cNvPr>
          <p:cNvCxnSpPr>
            <a:cxnSpLocks/>
          </p:cNvCxnSpPr>
          <p:nvPr/>
        </p:nvCxnSpPr>
        <p:spPr>
          <a:xfrm flipH="1">
            <a:off x="275902" y="22540044"/>
            <a:ext cx="1936070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D68239-308C-5F1F-2077-42444970AF92}"/>
              </a:ext>
            </a:extLst>
          </p:cNvPr>
          <p:cNvSpPr txBox="1">
            <a:spLocks/>
          </p:cNvSpPr>
          <p:nvPr/>
        </p:nvSpPr>
        <p:spPr>
          <a:xfrm>
            <a:off x="1322522" y="16942832"/>
            <a:ext cx="18710697" cy="431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7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[10] A. Sarangan, “Design of resonant cavity thin film structures with complex active layers,” J. Opt. Soc. Am. B 37, 3461-3468 (2020).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0FC80-1B20-E1A0-23B8-231121B56500}"/>
              </a:ext>
            </a:extLst>
          </p:cNvPr>
          <p:cNvSpPr txBox="1">
            <a:spLocks/>
          </p:cNvSpPr>
          <p:nvPr/>
        </p:nvSpPr>
        <p:spPr>
          <a:xfrm>
            <a:off x="9210186" y="37519069"/>
            <a:ext cx="9475550" cy="145103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justLow"/>
            <a:r>
              <a:rPr lang="en-GB" sz="8829" b="1" dirty="0">
                <a:solidFill>
                  <a:srgbClr val="BFDB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References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F69CB1-D908-EA70-654C-26ECC62EC99E}"/>
              </a:ext>
            </a:extLst>
          </p:cNvPr>
          <p:cNvSpPr txBox="1">
            <a:spLocks/>
          </p:cNvSpPr>
          <p:nvPr/>
        </p:nvSpPr>
        <p:spPr>
          <a:xfrm>
            <a:off x="1513759" y="9617088"/>
            <a:ext cx="16500461" cy="13054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469" b="1" dirty="0"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Chettanat Padungatthakij</a:t>
            </a:r>
            <a:r>
              <a:rPr lang="en-US" sz="3469" b="1" baseline="30000" dirty="0"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1</a:t>
            </a:r>
            <a:r>
              <a:rPr lang="en-US" sz="3469" b="1" dirty="0"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, Surawut Wicharn</a:t>
            </a:r>
            <a:r>
              <a:rPr lang="en-US" sz="3469" b="1" baseline="30000" dirty="0"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2</a:t>
            </a:r>
            <a:r>
              <a:rPr lang="en-US" sz="3469" b="1" dirty="0"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, and Prathan Buranasiri</a:t>
            </a:r>
            <a:r>
              <a:rPr lang="en-US" sz="3469" b="1" baseline="30000" dirty="0"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1*</a:t>
            </a:r>
          </a:p>
          <a:p>
            <a:r>
              <a:rPr lang="en-US" sz="2207" baseline="30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1</a:t>
            </a:r>
            <a:r>
              <a:rPr lang="en-US" sz="2207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Department of Physics, King Mongkut’s Institute of Technology Ladkrabang, </a:t>
            </a:r>
            <a:r>
              <a:rPr lang="en-US" sz="2207" baseline="30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2</a:t>
            </a:r>
            <a:r>
              <a:rPr lang="en-US" sz="2207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Advanced Photonic Laboratory, Department of Physics, Faculty of Science, Srinakharinwirot University</a:t>
            </a:r>
          </a:p>
          <a:p>
            <a:r>
              <a:rPr lang="en-US" sz="2207" baseline="30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*</a:t>
            </a:r>
            <a:r>
              <a:rPr lang="en-US" sz="2207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(prathan.bu@kmitl.ac.th)</a:t>
            </a:r>
            <a:endParaRPr lang="en-GB" sz="2207" dirty="0">
              <a:solidFill>
                <a:schemeClr val="bg1">
                  <a:lumMod val="50000"/>
                </a:schemeClr>
              </a:solidFill>
              <a:latin typeface="KMITLGO" panose="02000000000000000000" pitchFamily="2" charset="0"/>
              <a:ea typeface="SimSun" panose="02010600030101010101" pitchFamily="2" charset="-122"/>
              <a:cs typeface="KMITLGO" panose="020000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9991704-8A03-F3D0-7B92-FAB172830368}"/>
              </a:ext>
            </a:extLst>
          </p:cNvPr>
          <p:cNvCxnSpPr>
            <a:cxnSpLocks/>
          </p:cNvCxnSpPr>
          <p:nvPr/>
        </p:nvCxnSpPr>
        <p:spPr>
          <a:xfrm flipH="1">
            <a:off x="462689" y="11121674"/>
            <a:ext cx="1936614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63A3E62-0271-71AB-454C-5F8A6589B2D8}"/>
              </a:ext>
            </a:extLst>
          </p:cNvPr>
          <p:cNvSpPr txBox="1">
            <a:spLocks/>
          </p:cNvSpPr>
          <p:nvPr/>
        </p:nvSpPr>
        <p:spPr>
          <a:xfrm>
            <a:off x="9303863" y="38729840"/>
            <a:ext cx="10489599" cy="261404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just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[1] M. E. A. Warwick, R. Binions, “Advances in thermochromic vanadium dioxide films,” J. Mater. Chem. A 10, 3275-3292 (2014). </a:t>
            </a:r>
          </a:p>
          <a:p>
            <a:pPr algn="just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[2] Y. Cui, et al, “Thermochromic VO2 for Energy-Efficient Smart Windows,” Joule 2(9), 1707-1746 (2018).</a:t>
            </a:r>
          </a:p>
          <a:p>
            <a:pPr algn="just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[3] N.R. Mlyuka, G.A. </a:t>
            </a:r>
            <a:r>
              <a:rPr lang="en-GB" sz="1892" dirty="0" err="1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Niklasson</a:t>
            </a: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, C.G. Granqvist, “Thermochromic multilayer films of VO2 and TiO2 with enhanced transmittance,” </a:t>
            </a:r>
          </a:p>
          <a:p>
            <a:pPr algn="just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Sol. Energy Mater. Sol. Cells 93(9), 1685-1687 (2009). </a:t>
            </a:r>
          </a:p>
          <a:p>
            <a:pPr algn="just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[4] </a:t>
            </a:r>
            <a:r>
              <a:rPr lang="en-US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M. G. Wood, et al, "Optically-Triggered Optical Limiters for Short-Wavelength Infrared Sensor Protection," 2021 CLEO. 1-2 (2021). https://doi.org/10.1364/CLEO_SI.2021.STh1E.3</a:t>
            </a:r>
            <a:endParaRPr lang="en-GB" sz="1892" dirty="0">
              <a:solidFill>
                <a:srgbClr val="F2F2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MITLGO" panose="02000000000000000000" pitchFamily="2" charset="0"/>
              <a:cs typeface="KMITLGO" panose="02000000000000000000" pitchFamily="2" charset="0"/>
            </a:endParaRPr>
          </a:p>
          <a:p>
            <a:pPr algn="just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[5] C. </a:t>
            </a:r>
            <a:r>
              <a:rPr lang="en-GB" sz="1892" dirty="0" err="1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Baratto</a:t>
            </a: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, et al, “Optical Limiting Sensor Based on Multilayer Optimization of Ag/VO2 Phase Change Material,” IEEE Sensors Letters 7(9), 1-3 (2023).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BB5BBC-50FF-9E2B-59E2-3D5625C780DC}"/>
              </a:ext>
            </a:extLst>
          </p:cNvPr>
          <p:cNvSpPr txBox="1">
            <a:spLocks/>
          </p:cNvSpPr>
          <p:nvPr/>
        </p:nvSpPr>
        <p:spPr>
          <a:xfrm>
            <a:off x="19785613" y="38104989"/>
            <a:ext cx="10489599" cy="294369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[6] C. Wan, et al, “Limiting Optical Diodes Enabled by the Phase Transition of Vanadium Dioxide,” ACS Phot. 5(7), 2688-2692 (2018). </a:t>
            </a:r>
          </a:p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[7] X. Tian, and Z.Y. Li, “An Optically-Triggered Switchable Mid-Infrared Perfect Absorber Based on Phase-Change Material of Vanadium Dioxide,” </a:t>
            </a:r>
          </a:p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[8] D. d. Ceglia, et al, “Tunable Filters for Visible Light Based on Resonant VO2 Planar Thin Films," 22nd ICTON, 1-4 (2020). </a:t>
            </a:r>
          </a:p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[9] E. Strelcov, Y. </a:t>
            </a:r>
            <a:r>
              <a:rPr lang="en-GB" sz="1892" dirty="0" err="1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Lilach</a:t>
            </a: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, and A. Kolmakov, “Gas Sensor Based on Metal−Insulator Transition in VO2 Nanowire Thermistor,” Nano. Lett. 9(6), 2322-2326 (2009). </a:t>
            </a:r>
          </a:p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[10] A. Sarangan, “Design of resonant cavity thin film structures with complex active layers,” J. Opt. Soc. Am. B 37, 3461-3468 (2020). </a:t>
            </a:r>
          </a:p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[11] M. N. Polyanskiy. “Refractiveindex.info database of optical constants,” Sci. Data 11. 94(2024). </a:t>
            </a:r>
          </a:p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[12] </a:t>
            </a:r>
            <a:r>
              <a:rPr lang="en-US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A. Saragan. “Optical Thin Film Design (1st ed.),” CRC Press. (2020). </a:t>
            </a:r>
            <a:endParaRPr lang="en-GB" sz="1892" dirty="0">
              <a:solidFill>
                <a:srgbClr val="F2F2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MITLGO" panose="02000000000000000000" pitchFamily="2" charset="0"/>
              <a:cs typeface="KMITLGO" panose="02000000000000000000" pitchFamily="2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A8DD495-9045-B431-FAD1-4C926AC3D1C2}"/>
              </a:ext>
            </a:extLst>
          </p:cNvPr>
          <p:cNvCxnSpPr>
            <a:cxnSpLocks/>
          </p:cNvCxnSpPr>
          <p:nvPr/>
        </p:nvCxnSpPr>
        <p:spPr>
          <a:xfrm>
            <a:off x="19803303" y="38374037"/>
            <a:ext cx="0" cy="29170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86F2DD9-37CA-AE7C-DE3E-59DCDBDEB38B}"/>
              </a:ext>
            </a:extLst>
          </p:cNvPr>
          <p:cNvCxnSpPr>
            <a:cxnSpLocks/>
          </p:cNvCxnSpPr>
          <p:nvPr/>
        </p:nvCxnSpPr>
        <p:spPr>
          <a:xfrm flipH="1">
            <a:off x="1826160" y="9737399"/>
            <a:ext cx="1643508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72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6AA1104-F36D-A33B-6BD4-94BE9232A593}"/>
              </a:ext>
            </a:extLst>
          </p:cNvPr>
          <p:cNvGrpSpPr>
            <a:grpSpLocks noChangeAspect="1"/>
          </p:cNvGrpSpPr>
          <p:nvPr/>
        </p:nvGrpSpPr>
        <p:grpSpPr>
          <a:xfrm>
            <a:off x="6248300" y="17420301"/>
            <a:ext cx="8355425" cy="3829960"/>
            <a:chOff x="7592394" y="3260840"/>
            <a:chExt cx="2309790" cy="105876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7EA751-A9C1-D7F3-AF80-0338FC440764}"/>
                </a:ext>
              </a:extLst>
            </p:cNvPr>
            <p:cNvSpPr>
              <a:spLocks/>
            </p:cNvSpPr>
            <p:nvPr/>
          </p:nvSpPr>
          <p:spPr>
            <a:xfrm rot="16200000">
              <a:off x="8257947" y="3838751"/>
              <a:ext cx="432000" cy="292707"/>
            </a:xfrm>
            <a:prstGeom prst="rect">
              <a:avLst/>
            </a:prstGeom>
            <a:solidFill>
              <a:srgbClr val="FF7B79"/>
            </a:solidFill>
            <a:ln>
              <a:solidFill>
                <a:srgbClr val="FF7B79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519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A810AF-80CF-3261-E1E8-15C013127D8F}"/>
                </a:ext>
              </a:extLst>
            </p:cNvPr>
            <p:cNvSpPr>
              <a:spLocks/>
            </p:cNvSpPr>
            <p:nvPr/>
          </p:nvSpPr>
          <p:spPr>
            <a:xfrm rot="16200000">
              <a:off x="8264299" y="3330487"/>
              <a:ext cx="432000" cy="292706"/>
            </a:xfrm>
            <a:prstGeom prst="rect">
              <a:avLst/>
            </a:prstGeom>
            <a:solidFill>
              <a:srgbClr val="80B6FF"/>
            </a:solidFill>
            <a:ln>
              <a:solidFill>
                <a:srgbClr val="80B6FF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519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15081B-C576-2F5B-758A-718E7E543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BFDBFF">
                  <a:tint val="45000"/>
                  <a:satMod val="400000"/>
                </a:srgbClr>
              </a:duotone>
            </a:blip>
            <a:srcRect t="9299" r="34309" b="11535"/>
            <a:stretch/>
          </p:blipFill>
          <p:spPr>
            <a:xfrm flipH="1">
              <a:off x="9168325" y="3313816"/>
              <a:ext cx="733859" cy="884390"/>
            </a:xfrm>
            <a:prstGeom prst="rect">
              <a:avLst/>
            </a:prstGeom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D846DAF-D056-4613-5D15-21888D15FCFA}"/>
                </a:ext>
              </a:extLst>
            </p:cNvPr>
            <p:cNvCxnSpPr>
              <a:cxnSpLocks/>
            </p:cNvCxnSpPr>
            <p:nvPr/>
          </p:nvCxnSpPr>
          <p:spPr>
            <a:xfrm>
              <a:off x="7693386" y="3985104"/>
              <a:ext cx="900000" cy="0"/>
            </a:xfrm>
            <a:prstGeom prst="straightConnector1">
              <a:avLst/>
            </a:prstGeom>
            <a:ln>
              <a:solidFill>
                <a:srgbClr val="FFE6B4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57F7B69-DEC3-F4F0-B09F-788AAB6FC428}"/>
                </a:ext>
              </a:extLst>
            </p:cNvPr>
            <p:cNvCxnSpPr>
              <a:cxnSpLocks/>
            </p:cNvCxnSpPr>
            <p:nvPr/>
          </p:nvCxnSpPr>
          <p:spPr>
            <a:xfrm>
              <a:off x="7680686" y="3476839"/>
              <a:ext cx="1487639" cy="0"/>
            </a:xfrm>
            <a:prstGeom prst="straightConnector1">
              <a:avLst/>
            </a:prstGeom>
            <a:ln>
              <a:solidFill>
                <a:srgbClr val="FFE6B4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 Box 2">
              <a:extLst>
                <a:ext uri="{FF2B5EF4-FFF2-40B4-BE49-F238E27FC236}">
                  <a16:creationId xmlns:a16="http://schemas.microsoft.com/office/drawing/2014/main" id="{8E01C072-736A-3772-CB6F-FD689B51799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333944" y="3534934"/>
              <a:ext cx="292706" cy="2719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US" sz="3153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on</a:t>
              </a:r>
            </a:p>
          </p:txBody>
        </p:sp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B504C2F3-140F-7631-DE4B-87F08B61537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369689" y="3872259"/>
              <a:ext cx="164067" cy="57150"/>
            </a:xfrm>
            <a:prstGeom prst="curvedConnector3">
              <a:avLst/>
            </a:prstGeom>
            <a:ln>
              <a:solidFill>
                <a:srgbClr val="FFE6B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6384D1A0-BE0B-3002-90D3-5BB14CB28FE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325239" y="4037359"/>
              <a:ext cx="164067" cy="57150"/>
            </a:xfrm>
            <a:prstGeom prst="curvedConnector3">
              <a:avLst/>
            </a:prstGeom>
            <a:ln>
              <a:solidFill>
                <a:srgbClr val="FFE6B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C80DE5EE-A0FD-5357-1ACE-DDD7C6CE9D39}"/>
                </a:ext>
              </a:extLst>
            </p:cNvPr>
            <p:cNvCxnSpPr>
              <a:cxnSpLocks/>
            </p:cNvCxnSpPr>
            <p:nvPr/>
          </p:nvCxnSpPr>
          <p:spPr>
            <a:xfrm rot="12240000" flipH="1" flipV="1">
              <a:off x="8439539" y="4024659"/>
              <a:ext cx="164067" cy="57150"/>
            </a:xfrm>
            <a:prstGeom prst="curvedConnector3">
              <a:avLst/>
            </a:prstGeom>
            <a:ln>
              <a:solidFill>
                <a:srgbClr val="FFE6B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 Box 2">
              <a:extLst>
                <a:ext uri="{FF2B5EF4-FFF2-40B4-BE49-F238E27FC236}">
                  <a16:creationId xmlns:a16="http://schemas.microsoft.com/office/drawing/2014/main" id="{C47AC093-FEE4-8ECB-6515-ECC1961E6FF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7655" y="3314083"/>
              <a:ext cx="851029" cy="209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GB" sz="3153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Low power</a:t>
              </a:r>
            </a:p>
          </p:txBody>
        </p:sp>
        <p:sp>
          <p:nvSpPr>
            <p:cNvPr id="18" name="Text Box 2">
              <a:extLst>
                <a:ext uri="{FF2B5EF4-FFF2-40B4-BE49-F238E27FC236}">
                  <a16:creationId xmlns:a16="http://schemas.microsoft.com/office/drawing/2014/main" id="{90CF7C64-9108-C390-0C41-A16534C22AA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592394" y="3835655"/>
              <a:ext cx="881552" cy="209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GB" sz="3153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High power</a:t>
              </a:r>
            </a:p>
          </p:txBody>
        </p:sp>
        <p:sp>
          <p:nvSpPr>
            <p:cNvPr id="19" name="Text Box 2">
              <a:extLst>
                <a:ext uri="{FF2B5EF4-FFF2-40B4-BE49-F238E27FC236}">
                  <a16:creationId xmlns:a16="http://schemas.microsoft.com/office/drawing/2014/main" id="{7CAF0C79-FC8B-BBA6-DB05-6B41726C331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340368" y="4047646"/>
              <a:ext cx="292706" cy="2719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US" sz="3153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off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00BA594-4A4B-6772-5F7C-B54973A605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7973" y="3867873"/>
              <a:ext cx="205913" cy="115425"/>
            </a:xfrm>
            <a:prstGeom prst="straightConnector1">
              <a:avLst/>
            </a:prstGeom>
            <a:ln>
              <a:solidFill>
                <a:srgbClr val="FFE6B4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2EF8063-5209-C2AF-466F-DAF41DD747D5}"/>
              </a:ext>
            </a:extLst>
          </p:cNvPr>
          <p:cNvSpPr txBox="1">
            <a:spLocks/>
          </p:cNvSpPr>
          <p:nvPr/>
        </p:nvSpPr>
        <p:spPr>
          <a:xfrm>
            <a:off x="1702744" y="2295691"/>
            <a:ext cx="26871887" cy="5042021"/>
          </a:xfrm>
          <a:prstGeom prst="rect">
            <a:avLst/>
          </a:prstGeom>
          <a:noFill/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8920" b="1" dirty="0">
                <a:solidFill>
                  <a:srgbClr val="FF7B79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				</a:t>
            </a:r>
            <a:r>
              <a:rPr lang="en-US" sz="20812" b="1" spc="946" dirty="0">
                <a:solidFill>
                  <a:srgbClr val="FF7B79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As</a:t>
            </a:r>
            <a:r>
              <a:rPr lang="en-US" sz="20812" b="1" spc="946" dirty="0">
                <a:solidFill>
                  <a:srgbClr val="FFE6B4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ym</a:t>
            </a:r>
            <a:r>
              <a:rPr lang="en-US" sz="20812" b="1" spc="946" dirty="0">
                <a:solidFill>
                  <a:srgbClr val="9DE3D1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Re</a:t>
            </a:r>
            <a:r>
              <a:rPr lang="en-US" sz="20812" b="1" spc="946" dirty="0">
                <a:solidFill>
                  <a:srgbClr val="80B6FF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ca</a:t>
            </a:r>
            <a:r>
              <a:rPr lang="en-US" sz="20812" b="1" dirty="0">
                <a:solidFill>
                  <a:srgbClr val="80B6FF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 </a:t>
            </a:r>
          </a:p>
          <a:p>
            <a:pPr algn="ctr"/>
            <a:r>
              <a:rPr lang="en-US" sz="11352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ea typeface="Sans Serif Collection" panose="020B0502040504020204" pitchFamily="34" charset="0"/>
                <a:cs typeface="Segoe UI Semibold" panose="020B0702040204020203" pitchFamily="34" charset="0"/>
              </a:rPr>
              <a:t>Optical limiter design using 10x less VO</a:t>
            </a:r>
            <a:r>
              <a:rPr lang="en-US" sz="11352" baseline="-25000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ea typeface="Sans Serif Collection" panose="020B0502040504020204" pitchFamily="34" charset="0"/>
                <a:cs typeface="Segoe UI Semibold" panose="020B0702040204020203" pitchFamily="34" charset="0"/>
              </a:rPr>
              <a:t>2</a:t>
            </a:r>
            <a:endParaRPr lang="en-US" sz="10721" b="1" dirty="0">
              <a:solidFill>
                <a:schemeClr val="bg1">
                  <a:lumMod val="95000"/>
                </a:schemeClr>
              </a:solidFill>
              <a:effectLst>
                <a:glow rad="101600">
                  <a:schemeClr val="accent3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  <a:cs typeface="KMITLGO" panose="02000000000000000000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C8EB316-F081-6173-D0D8-584DE1DD9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806" y="22722879"/>
            <a:ext cx="14925372" cy="389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010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70A059-4EEB-41B3-BC4A-D1F5623299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6919053"/>
            <a:ext cx="30275214" cy="332850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519" dirty="0">
              <a:solidFill>
                <a:srgbClr val="EDEDED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703A96-2D23-E4C7-822D-C928029C17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440400" y="9464085"/>
            <a:ext cx="11834812" cy="3074001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519" b="1" dirty="0">
              <a:solidFill>
                <a:schemeClr val="tx1"/>
              </a:solidFill>
              <a:latin typeface="KMITLGO" panose="02000000000000000000" pitchFamily="2" charset="0"/>
              <a:cs typeface="KMITLGO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4F4BE9-0BD7-0D26-A07F-B870D7591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48" b="89861" l="3203" r="97031">
                        <a14:foregroundMark x1="5156" y1="50895" x2="8359" y2="53082"/>
                        <a14:foregroundMark x1="18359" y1="8748" x2="17266" y2="10338"/>
                        <a14:foregroundMark x1="64531" y1="81710" x2="69141" y2="79920"/>
                        <a14:foregroundMark x1="69141" y1="79920" x2="72266" y2="74155"/>
                        <a14:foregroundMark x1="67813" y1="76938" x2="70000" y2="74950"/>
                        <a14:foregroundMark x1="68594" y1="66203" x2="69375" y2="65408"/>
                        <a14:foregroundMark x1="91563" y1="42744" x2="91016" y2="55070"/>
                        <a14:foregroundMark x1="85313" y1="78131" x2="85859" y2="77932"/>
                        <a14:foregroundMark x1="84219" y1="78926" x2="84688" y2="78926"/>
                        <a14:foregroundMark x1="87188" y1="84891" x2="88125" y2="84493"/>
                        <a14:foregroundMark x1="53828" y1="50298" x2="51250" y2="50895"/>
                        <a14:foregroundMark x1="34926" y1="71215" x2="35625" y2="71571"/>
                        <a14:foregroundMark x1="34453" y1="70974" x2="34648" y2="71073"/>
                        <a14:foregroundMark x1="29609" y1="68588" x2="29808" y2="70210"/>
                        <a14:foregroundMark x1="29989" y1="69664" x2="29688" y2="69185"/>
                        <a14:foregroundMark x1="35692" y1="68150" x2="37109" y2="67992"/>
                        <a14:foregroundMark x1="31887" y1="68574" x2="35370" y2="68186"/>
                        <a14:foregroundMark x1="30832" y1="68691" x2="31146" y2="68656"/>
                        <a14:foregroundMark x1="27864" y1="69022" x2="30290" y2="68752"/>
                        <a14:foregroundMark x1="24609" y1="69384" x2="27557" y2="69056"/>
                        <a14:foregroundMark x1="37109" y1="67992" x2="37500" y2="67992"/>
                        <a14:foregroundMark x1="23874" y1="67544" x2="30780" y2="68230"/>
                        <a14:foregroundMark x1="23529" y1="71628" x2="23750" y2="71769"/>
                        <a14:foregroundMark x1="22555" y1="71009" x2="23162" y2="71395"/>
                        <a14:foregroundMark x1="21250" y1="70179" x2="22420" y2="70923"/>
                        <a14:foregroundMark x1="8418" y1="71248" x2="9649" y2="71411"/>
                        <a14:foregroundMark x1="8097" y1="71205" x2="8266" y2="71227"/>
                        <a14:foregroundMark x1="3359" y1="70577" x2="7971" y2="71188"/>
                        <a14:foregroundMark x1="37969" y1="70480" x2="40234" y2="70775"/>
                        <a14:foregroundMark x1="94219" y1="65606" x2="96016" y2="69185"/>
                        <a14:foregroundMark x1="94453" y1="59443" x2="97031" y2="61431"/>
                        <a14:foregroundMark x1="48906" y1="49503" x2="53196" y2="48139"/>
                        <a14:foregroundMark x1="53906" y1="47913" x2="53672" y2="45129"/>
                        <a14:foregroundMark x1="55625" y1="43936" x2="56641" y2="43141"/>
                        <a14:foregroundMark x1="59219" y1="71968" x2="63281" y2="71968"/>
                        <a14:foregroundMark x1="3516" y1="65408" x2="7031" y2="75149"/>
                        <a14:foregroundMark x1="10768" y1="70577" x2="17109" y2="70577"/>
                        <a14:foregroundMark x1="8334" y1="70577" x2="9307" y2="70577"/>
                        <a14:foregroundMark x1="8019" y1="70577" x2="8185" y2="70577"/>
                        <a14:foregroundMark x1="4688" y1="70577" x2="7894" y2="70577"/>
                        <a14:foregroundMark x1="10444" y1="68761" x2="15234" y2="69185"/>
                        <a14:foregroundMark x1="10282" y1="68747" x2="10316" y2="68750"/>
                        <a14:foregroundMark x1="7762" y1="68524" x2="9823" y2="68706"/>
                        <a14:foregroundMark x1="6250" y1="68390" x2="7636" y2="68513"/>
                        <a14:foregroundMark x1="3594" y1="71571" x2="7891" y2="71968"/>
                        <a14:foregroundMark x1="19844" y1="70378" x2="22618" y2="70134"/>
                        <a14:foregroundMark x1="18125" y1="54076" x2="21250" y2="60040"/>
                        <a14:foregroundMark x1="81328" y1="74950" x2="85391" y2="69185"/>
                        <a14:foregroundMark x1="85391" y1="69185" x2="85625" y2="65209"/>
                        <a14:foregroundMark x1="51328" y1="47117" x2="53359" y2="45527"/>
                        <a14:foregroundMark x1="52109" y1="48708" x2="53750" y2="47913"/>
                        <a14:foregroundMark x1="69063" y1="64811" x2="68984" y2="62425"/>
                        <a14:foregroundMark x1="22891" y1="69583" x2="23437" y2="69980"/>
                        <a14:foregroundMark x1="29844" y1="71571" x2="29766" y2="70577"/>
                        <a14:foregroundMark x1="36172" y1="71372" x2="36875" y2="70378"/>
                        <a14:foregroundMark x1="34141" y1="71173" x2="34141" y2="70974"/>
                        <a14:foregroundMark x1="32266" y1="71968" x2="31953" y2="71372"/>
                        <a14:foregroundMark x1="10156" y1="69583" x2="10234" y2="71372"/>
                        <a14:foregroundMark x1="9688" y1="72167" x2="9922" y2="72167"/>
                        <a14:backgroundMark x1="27500" y1="54672" x2="30703" y2="55268"/>
                        <a14:backgroundMark x1="27500" y1="46123" x2="27813" y2="46918"/>
                        <a14:backgroundMark x1="41719" y1="58250" x2="41719" y2="58250"/>
                        <a14:backgroundMark x1="71641" y1="46322" x2="72266" y2="46322"/>
                        <a14:backgroundMark x1="46016" y1="48907" x2="46172" y2="49702"/>
                        <a14:backgroundMark x1="34297" y1="54274" x2="34375" y2="55467"/>
                        <a14:backgroundMark x1="31172" y1="44334" x2="31328" y2="46521"/>
                        <a14:backgroundMark x1="7969" y1="71173" x2="7969" y2="70179"/>
                        <a14:backgroundMark x1="8359" y1="71968" x2="8359" y2="70775"/>
                        <a14:backgroundMark x1="19609" y1="49702" x2="19844" y2="48111"/>
                        <a14:backgroundMark x1="38750" y1="53280" x2="38750" y2="52485"/>
                        <a14:backgroundMark x1="34922" y1="69980" x2="35234" y2="69980"/>
                        <a14:backgroundMark x1="23516" y1="69980" x2="23672" y2="69980"/>
                        <a14:backgroundMark x1="23438" y1="70378" x2="23906" y2="70179"/>
                        <a14:backgroundMark x1="26953" y1="70974" x2="27187" y2="71173"/>
                        <a14:backgroundMark x1="29688" y1="70577" x2="30078" y2="70974"/>
                        <a14:backgroundMark x1="22656" y1="69980" x2="22813" y2="69980"/>
                        <a14:backgroundMark x1="24453" y1="69980" x2="24453" y2="70378"/>
                        <a14:backgroundMark x1="24609" y1="69980" x2="24609" y2="70577"/>
                        <a14:backgroundMark x1="25938" y1="69781" x2="25938" y2="70775"/>
                        <a14:backgroundMark x1="29063" y1="70378" x2="29063" y2="70974"/>
                        <a14:backgroundMark x1="30781" y1="69980" x2="30859" y2="70775"/>
                        <a14:backgroundMark x1="32422" y1="70378" x2="32109" y2="70577"/>
                        <a14:backgroundMark x1="32344" y1="70577" x2="32061" y2="70816"/>
                        <a14:backgroundMark x1="36328" y1="69185" x2="36328" y2="68919"/>
                        <a14:backgroundMark x1="9688" y1="71173" x2="10078" y2="699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1894" y="40060682"/>
            <a:ext cx="7073318" cy="277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DD76DF-26BB-B8C4-7777-BFFC269F9C5F}"/>
              </a:ext>
            </a:extLst>
          </p:cNvPr>
          <p:cNvSpPr txBox="1">
            <a:spLocks/>
          </p:cNvSpPr>
          <p:nvPr/>
        </p:nvSpPr>
        <p:spPr>
          <a:xfrm>
            <a:off x="1300708" y="791114"/>
            <a:ext cx="28974504" cy="5170646"/>
          </a:xfrm>
          <a:prstGeom prst="rect">
            <a:avLst/>
          </a:prstGeom>
          <a:noFill/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1000" b="1" dirty="0">
                <a:solidFill>
                  <a:srgbClr val="FF7B79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Design and Simulation of </a:t>
            </a:r>
            <a:r>
              <a:rPr lang="en-US" sz="11000" b="1" dirty="0">
                <a:solidFill>
                  <a:srgbClr val="FFE6B4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Sb</a:t>
            </a:r>
            <a:r>
              <a:rPr lang="en-US" sz="11000" b="1" baseline="-25000" dirty="0">
                <a:solidFill>
                  <a:srgbClr val="FFE6B4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2</a:t>
            </a:r>
            <a:r>
              <a:rPr lang="en-US" sz="11000" b="1" dirty="0">
                <a:solidFill>
                  <a:srgbClr val="FFE6B4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Se</a:t>
            </a:r>
            <a:r>
              <a:rPr lang="en-US" sz="11000" b="1" baseline="-25000" dirty="0">
                <a:solidFill>
                  <a:srgbClr val="FFE6B4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3</a:t>
            </a:r>
            <a:r>
              <a:rPr lang="en-US" sz="11000" b="1" dirty="0">
                <a:solidFill>
                  <a:srgbClr val="FFE6B4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-Based</a:t>
            </a:r>
            <a:r>
              <a:rPr lang="en-US" sz="11000" b="1" dirty="0">
                <a:solidFill>
                  <a:srgbClr val="FF7B79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 </a:t>
            </a:r>
            <a:r>
              <a:rPr lang="en-US" sz="11000" b="1" dirty="0">
                <a:solidFill>
                  <a:srgbClr val="9DE3D1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Asymmetric Resonant Optical Limiters </a:t>
            </a:r>
            <a:r>
              <a:rPr lang="en-US" sz="11000" b="1" dirty="0">
                <a:solidFill>
                  <a:srgbClr val="80B6FF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Using Transfer Matrix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9CE88-7F3B-C75C-B71F-75B6563972D5}"/>
              </a:ext>
            </a:extLst>
          </p:cNvPr>
          <p:cNvSpPr txBox="1">
            <a:spLocks/>
          </p:cNvSpPr>
          <p:nvPr/>
        </p:nvSpPr>
        <p:spPr>
          <a:xfrm>
            <a:off x="1300707" y="5827039"/>
            <a:ext cx="28163775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800" b="1" i="1" dirty="0">
                <a:solidFill>
                  <a:srgbClr val="F8F8F8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Keywords: Optical limiter; Asymmetric resonant cavity; Phase change material</a:t>
            </a:r>
            <a:endParaRPr lang="en-GB" sz="4800" b="1" i="1" dirty="0">
              <a:solidFill>
                <a:srgbClr val="F8F8F8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60E882-5D30-2F4C-4ED5-8AF22E2A3B6B}"/>
              </a:ext>
            </a:extLst>
          </p:cNvPr>
          <p:cNvSpPr txBox="1">
            <a:spLocks/>
          </p:cNvSpPr>
          <p:nvPr/>
        </p:nvSpPr>
        <p:spPr>
          <a:xfrm>
            <a:off x="556636" y="7083946"/>
            <a:ext cx="29199464" cy="23801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5000" b="1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Prathan Buranasiri</a:t>
            </a:r>
            <a:r>
              <a:rPr lang="en-US" sz="5000" b="1" baseline="30000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1</a:t>
            </a:r>
            <a:r>
              <a:rPr lang="en-US" sz="5000" b="1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, Chettanat Padungatthakij</a:t>
            </a:r>
            <a:r>
              <a:rPr lang="en-US" sz="5000" b="1" baseline="30000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1</a:t>
            </a:r>
            <a:r>
              <a:rPr lang="en-US" sz="5000" b="1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, Suebtarkul Suchat</a:t>
            </a:r>
            <a:r>
              <a:rPr lang="en-US" sz="5000" b="1" baseline="30000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2</a:t>
            </a:r>
            <a:r>
              <a:rPr lang="en-US" sz="5000" b="1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, and </a:t>
            </a:r>
            <a:r>
              <a:rPr lang="en-US" sz="5000" b="1" u="sng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Surawut Wicharn</a:t>
            </a:r>
            <a:r>
              <a:rPr lang="en-US" sz="5000" b="1" baseline="30000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3*</a:t>
            </a:r>
          </a:p>
          <a:p>
            <a:endParaRPr lang="en-US" sz="2800" u="sng" baseline="30000" dirty="0">
              <a:latin typeface="Helvetica" pitchFamily="2" charset="0"/>
              <a:ea typeface="SimSun" panose="02010600030101010101" pitchFamily="2" charset="-122"/>
              <a:cs typeface="KMITLGO" panose="02000000000000000000" pitchFamily="2" charset="0"/>
            </a:endParaRPr>
          </a:p>
          <a:p>
            <a:r>
              <a:rPr lang="en-US" sz="4000" baseline="30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1	Department of Physics, School of Science, King Mongkut’s Institute of Technology Ladkrabang;</a:t>
            </a:r>
          </a:p>
          <a:p>
            <a:r>
              <a:rPr lang="en-US" sz="4000" baseline="30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2	Department of Physics, Faculty of Science and Technology, Phranakhon Rajabhat University;</a:t>
            </a:r>
          </a:p>
          <a:p>
            <a:r>
              <a:rPr lang="en-US" sz="4000" baseline="30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3	Department of Physics, Faculty of Science, Srinakharinwirot University; </a:t>
            </a:r>
            <a:r>
              <a:rPr lang="en-US" sz="4000" b="1" baseline="30000" dirty="0">
                <a:solidFill>
                  <a:srgbClr val="232323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*	Corresponding author Email: </a:t>
            </a:r>
            <a:r>
              <a:rPr lang="en-US" sz="4000" b="1" u="sng" baseline="30000" dirty="0">
                <a:solidFill>
                  <a:srgbClr val="232323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surawutw@g.swu.ac.th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54E709-B23E-412C-370F-7F16032A6E65}"/>
              </a:ext>
            </a:extLst>
          </p:cNvPr>
          <p:cNvSpPr txBox="1">
            <a:spLocks/>
          </p:cNvSpPr>
          <p:nvPr/>
        </p:nvSpPr>
        <p:spPr>
          <a:xfrm>
            <a:off x="262153" y="40034350"/>
            <a:ext cx="5055609" cy="1107996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GB" sz="6600" b="1" dirty="0">
                <a:solidFill>
                  <a:srgbClr val="80B6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References</a:t>
            </a:r>
            <a:endParaRPr lang="en-GB" sz="8829" b="1" dirty="0">
              <a:solidFill>
                <a:srgbClr val="80B6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54F8AF-4E63-111D-48A2-1792B9E088F3}"/>
              </a:ext>
            </a:extLst>
          </p:cNvPr>
          <p:cNvSpPr txBox="1">
            <a:spLocks/>
          </p:cNvSpPr>
          <p:nvPr/>
        </p:nvSpPr>
        <p:spPr>
          <a:xfrm>
            <a:off x="4780044" y="40518068"/>
            <a:ext cx="18632406" cy="200824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just">
              <a:spcAft>
                <a:spcPts val="252"/>
              </a:spcAft>
            </a:pPr>
            <a:r>
              <a:rPr lang="en-GB" sz="1600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[1]	K. Aryana et al., “Optical and thermal properties of Ge2Sb2Te5, Sb2Se3, and Sb2S3 for reconfigurable photonic devices [Invited],” Optical Materials Express 13, 3277–3286 (2023).</a:t>
            </a:r>
          </a:p>
          <a:p>
            <a:pPr algn="just">
              <a:spcAft>
                <a:spcPts val="252"/>
              </a:spcAft>
            </a:pPr>
            <a:r>
              <a:rPr lang="en-GB" sz="1600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[2]	D. Lawson et al., “Optical switching beyond a million cycles of low-loss phase change material Sb2Se3,” Opt. Mater. Express 14(1), 22–38, Optica Publishing Group (2024).</a:t>
            </a:r>
          </a:p>
          <a:p>
            <a:pPr algn="just">
              <a:spcAft>
                <a:spcPts val="252"/>
              </a:spcAft>
            </a:pPr>
            <a:r>
              <a:rPr lang="en-GB" sz="1600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[3]	 W. Jia, R. Menon, and B. Sensale-Rodriguez, “Unique prospects of phase change material Sb2Se3 for ultra-compact reconfigurable nanophotonic devices,” Opt. Mater. Express 11(9), 	3007–3014, Optica Publishing Group (2021).</a:t>
            </a:r>
          </a:p>
          <a:p>
            <a:pPr algn="just">
              <a:spcAft>
                <a:spcPts val="252"/>
              </a:spcAft>
            </a:pPr>
            <a:r>
              <a:rPr lang="en-GB" sz="1600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[4] 	R. K. Yadav et al., “Giant enhancement of nonlinear absorption in graphene oxide—Sb2Se3 nanowire heterostructure,” Journal of Applied Physics 125(2), 025702 (2019).</a:t>
            </a:r>
          </a:p>
          <a:p>
            <a:pPr algn="just">
              <a:spcAft>
                <a:spcPts val="252"/>
              </a:spcAft>
            </a:pPr>
            <a:r>
              <a:rPr lang="en-GB" sz="1600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[5]	A. Sarangan, “Design of resonant cavity thin film structures with complex active layers,” 3461–3468, Optica Publishing Group (2020).</a:t>
            </a:r>
          </a:p>
          <a:p>
            <a:pPr algn="just">
              <a:spcAft>
                <a:spcPts val="252"/>
              </a:spcAft>
            </a:pPr>
            <a:r>
              <a:rPr lang="en-GB" sz="1600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[6]	M. Delaney et al., “A New Family of Ultralow Loss Reversible Phase-Change Materials for Photonic Integrated Circuits: Sb2S3 and Sb2Se3,” Advanced Functional Materials 30(36), 	2002447 (2020).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D6CFE7-633D-5AF0-CE26-BCFC8EBD99B9}"/>
              </a:ext>
            </a:extLst>
          </p:cNvPr>
          <p:cNvSpPr txBox="1">
            <a:spLocks/>
          </p:cNvSpPr>
          <p:nvPr/>
        </p:nvSpPr>
        <p:spPr>
          <a:xfrm>
            <a:off x="384050" y="21677536"/>
            <a:ext cx="9562234" cy="1451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29" b="1" dirty="0">
                <a:solidFill>
                  <a:srgbClr val="9DE3D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3. Result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2E5707-50D8-830F-196D-B21837BF00DE}"/>
              </a:ext>
            </a:extLst>
          </p:cNvPr>
          <p:cNvGrpSpPr/>
          <p:nvPr/>
        </p:nvGrpSpPr>
        <p:grpSpPr>
          <a:xfrm>
            <a:off x="19019866" y="9625661"/>
            <a:ext cx="10558620" cy="12190144"/>
            <a:chOff x="18884003" y="11369979"/>
            <a:chExt cx="10961444" cy="13072812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ED49CDB-C6F7-E8E4-BF9A-213C05118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3" r="50120"/>
            <a:stretch>
              <a:fillRect/>
            </a:stretch>
          </p:blipFill>
          <p:spPr>
            <a:xfrm>
              <a:off x="18884005" y="11369979"/>
              <a:ext cx="10961442" cy="1221439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4C53687-8CC0-FA50-551D-97B7D5F75E7A}"/>
                </a:ext>
              </a:extLst>
            </p:cNvPr>
            <p:cNvSpPr txBox="1">
              <a:spLocks/>
            </p:cNvSpPr>
            <p:nvPr/>
          </p:nvSpPr>
          <p:spPr>
            <a:xfrm>
              <a:off x="18884003" y="23584373"/>
              <a:ext cx="10961442" cy="8584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  <a:cs typeface="Arial" panose="020B0604020202020204" pitchFamily="34" charset="0"/>
                </a:rPr>
                <a:t>Refractive indices </a:t>
              </a:r>
              <a:r>
                <a:rPr lang="en-US" sz="2400" dirty="0">
                  <a:latin typeface="Helvetica" pitchFamily="2" charset="0"/>
                  <a:cs typeface="Arial" panose="020B0604020202020204" pitchFamily="34" charset="0"/>
                </a:rPr>
                <a:t>of amorphous (top) and crystalline (bottom) </a:t>
              </a:r>
              <a:r>
                <a:rPr lang="en-US" sz="2400" b="1" dirty="0">
                  <a:latin typeface="Helvetica" pitchFamily="2" charset="0"/>
                  <a:cs typeface="Arial" panose="020B0604020202020204" pitchFamily="34" charset="0"/>
                </a:rPr>
                <a:t>Sb</a:t>
              </a:r>
              <a:r>
                <a:rPr lang="en-US" sz="2400" b="1" baseline="-25000" dirty="0">
                  <a:latin typeface="Helvetica" pitchFamily="2" charset="0"/>
                  <a:cs typeface="Arial" panose="020B0604020202020204" pitchFamily="34" charset="0"/>
                </a:rPr>
                <a:t>2</a:t>
              </a:r>
              <a:r>
                <a:rPr lang="en-US" sz="2400" b="1" dirty="0">
                  <a:latin typeface="Helvetica" pitchFamily="2" charset="0"/>
                  <a:cs typeface="Arial" panose="020B0604020202020204" pitchFamily="34" charset="0"/>
                </a:rPr>
                <a:t>Se</a:t>
              </a:r>
              <a:r>
                <a:rPr lang="en-US" sz="2400" b="1" baseline="-25000" dirty="0">
                  <a:latin typeface="Helvetica" pitchFamily="2" charset="0"/>
                  <a:cs typeface="Arial" panose="020B0604020202020204" pitchFamily="34" charset="0"/>
                </a:rPr>
                <a:t>3</a:t>
              </a:r>
              <a:r>
                <a:rPr lang="en-US" sz="2400" b="1" dirty="0">
                  <a:latin typeface="Helvetica" pitchFamily="2" charset="0"/>
                  <a:cs typeface="Arial" panose="020B0604020202020204" pitchFamily="34" charset="0"/>
                </a:rPr>
                <a:t>.</a:t>
              </a:r>
              <a:r>
                <a:rPr lang="en-US" sz="2400" dirty="0">
                  <a:latin typeface="Helvetica" pitchFamily="2" charset="0"/>
                  <a:cs typeface="Arial" panose="020B0604020202020204" pitchFamily="34" charset="0"/>
                </a:rPr>
                <a:t> Data is taken from [6].</a:t>
              </a:r>
            </a:p>
          </p:txBody>
        </p:sp>
      </p:grp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46401177-3618-20F4-3CE4-31B33CD38C0D}"/>
              </a:ext>
            </a:extLst>
          </p:cNvPr>
          <p:cNvGrpSpPr/>
          <p:nvPr/>
        </p:nvGrpSpPr>
        <p:grpSpPr>
          <a:xfrm>
            <a:off x="18877084" y="22150377"/>
            <a:ext cx="10961442" cy="4344703"/>
            <a:chOff x="18877084" y="24233087"/>
            <a:chExt cx="10961442" cy="4344703"/>
          </a:xfrm>
        </p:grpSpPr>
        <p:grpSp>
          <p:nvGrpSpPr>
            <p:cNvPr id="1024" name="Group 1023">
              <a:extLst>
                <a:ext uri="{FF2B5EF4-FFF2-40B4-BE49-F238E27FC236}">
                  <a16:creationId xmlns:a16="http://schemas.microsoft.com/office/drawing/2014/main" id="{DE986440-2539-A908-E7F8-E3C32C827EE9}"/>
                </a:ext>
              </a:extLst>
            </p:cNvPr>
            <p:cNvGrpSpPr/>
            <p:nvPr/>
          </p:nvGrpSpPr>
          <p:grpSpPr>
            <a:xfrm>
              <a:off x="18877084" y="24233087"/>
              <a:ext cx="10879016" cy="3499186"/>
              <a:chOff x="18592278" y="23188379"/>
              <a:chExt cx="10653879" cy="3614653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18158AE-BA01-C996-3617-D0FD2E965153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8592278" y="23188379"/>
                <a:ext cx="10653879" cy="3614653"/>
                <a:chOff x="6644490" y="6785700"/>
                <a:chExt cx="2855081" cy="90762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 Box 2">
                      <a:extLst>
                        <a:ext uri="{FF2B5EF4-FFF2-40B4-BE49-F238E27FC236}">
                          <a16:creationId xmlns:a16="http://schemas.microsoft.com/office/drawing/2014/main" id="{BF8A1511-1C46-1C84-EF77-937B837AEC12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8484133" y="6821142"/>
                      <a:ext cx="216000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sz="2523" i="1" dirty="0">
                                <a:latin typeface="Cambria Math" panose="02040503050406030204" pitchFamily="18" charset="0"/>
                                <a:cs typeface="KMITLGO" panose="02000000000000000000" pitchFamily="2" charset="0"/>
                              </a:rPr>
                              <m:t>𝐿</m:t>
                            </m:r>
                          </m:oMath>
                        </m:oMathPara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4" name="Text Box 2">
                      <a:extLst>
                        <a:ext uri="{FF2B5EF4-FFF2-40B4-BE49-F238E27FC236}">
                          <a16:creationId xmlns:a16="http://schemas.microsoft.com/office/drawing/2014/main" id="{85C227FA-CA30-403E-770A-D8C6111CE7A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8484133" y="6821142"/>
                      <a:ext cx="216000" cy="6480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D2F278A7-1FF8-6C4D-C43F-6499C1702BE1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838015" y="6918210"/>
                  <a:ext cx="2661556" cy="652282"/>
                  <a:chOff x="6759419" y="5981007"/>
                  <a:chExt cx="2661556" cy="652282"/>
                </a:xfrm>
              </p:grpSpPr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E062B389-1476-1784-EFDF-FB1BAEE54AA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6759419" y="5981007"/>
                    <a:ext cx="2661556" cy="651175"/>
                    <a:chOff x="6759419" y="5981007"/>
                    <a:chExt cx="2661556" cy="651175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3333FF51-5E76-BE9C-F0E5-6C4EBA7FA50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6759419" y="5981007"/>
                      <a:ext cx="2585024" cy="651175"/>
                      <a:chOff x="6759419" y="5981007"/>
                      <a:chExt cx="2585024" cy="651175"/>
                    </a:xfrm>
                  </p:grpSpPr>
                  <p:grpSp>
                    <p:nvGrpSpPr>
                      <p:cNvPr id="41" name="Group 40">
                        <a:extLst>
                          <a:ext uri="{FF2B5EF4-FFF2-40B4-BE49-F238E27FC236}">
                            <a16:creationId xmlns:a16="http://schemas.microsoft.com/office/drawing/2014/main" id="{3E036DDD-4AD7-601D-8519-D3D6A4C1A68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>
                      <a:xfrm>
                        <a:off x="6836580" y="5981007"/>
                        <a:ext cx="2507863" cy="649542"/>
                        <a:chOff x="6764367" y="5877409"/>
                        <a:chExt cx="2507863" cy="649542"/>
                      </a:xfrm>
                    </p:grpSpPr>
                    <p:sp>
                      <p:nvSpPr>
                        <p:cNvPr id="44" name="Rectangle 43">
                          <a:extLst>
                            <a:ext uri="{FF2B5EF4-FFF2-40B4-BE49-F238E27FC236}">
                              <a16:creationId xmlns:a16="http://schemas.microsoft.com/office/drawing/2014/main" id="{012129B0-731B-3338-36FD-EC84BEDEA6E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9164230" y="5878951"/>
                          <a:ext cx="108000" cy="648000"/>
                        </a:xfrm>
                        <a:prstGeom prst="rect">
                          <a:avLst/>
                        </a:prstGeom>
                        <a:solidFill>
                          <a:srgbClr val="80B6FF"/>
                        </a:solidFill>
                        <a:ln w="3175"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5">
                            <a:shade val="15000"/>
                          </a:schemeClr>
                        </a:lnRef>
                        <a:fillRef idx="1">
                          <a:schemeClr val="accent5"/>
                        </a:fillRef>
                        <a:effectRef idx="0">
                          <a:schemeClr val="accent5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sz="18519"/>
                        </a:p>
                      </p:txBody>
                    </p:sp>
                    <p:grpSp>
                      <p:nvGrpSpPr>
                        <p:cNvPr id="45" name="Group 44">
                          <a:extLst>
                            <a:ext uri="{FF2B5EF4-FFF2-40B4-BE49-F238E27FC236}">
                              <a16:creationId xmlns:a16="http://schemas.microsoft.com/office/drawing/2014/main" id="{8376F7FD-F933-E8B9-46CE-E30DCC0CC6BC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>
                        <a:xfrm>
                          <a:off x="8732023" y="5878951"/>
                          <a:ext cx="432000" cy="648000"/>
                          <a:chOff x="8298266" y="5880716"/>
                          <a:chExt cx="432000" cy="648000"/>
                        </a:xfrm>
                      </p:grpSpPr>
                      <p:sp>
                        <p:nvSpPr>
                          <p:cNvPr id="60" name="Rectangle 59">
                            <a:extLst>
                              <a:ext uri="{FF2B5EF4-FFF2-40B4-BE49-F238E27FC236}">
                                <a16:creationId xmlns:a16="http://schemas.microsoft.com/office/drawing/2014/main" id="{1C29D7C6-55FE-F87E-DEA7-E726A83478F3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622266" y="5880716"/>
                            <a:ext cx="108000" cy="648000"/>
                          </a:xfrm>
                          <a:prstGeom prst="rect">
                            <a:avLst/>
                          </a:prstGeom>
                          <a:solidFill>
                            <a:srgbClr val="80B6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  <p:sp>
                        <p:nvSpPr>
                          <p:cNvPr id="61" name="Rectangle 60">
                            <a:extLst>
                              <a:ext uri="{FF2B5EF4-FFF2-40B4-BE49-F238E27FC236}">
                                <a16:creationId xmlns:a16="http://schemas.microsoft.com/office/drawing/2014/main" id="{7A4F6D3F-082A-9816-A3B9-515ABC792C20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406266" y="5880716"/>
                            <a:ext cx="216000" cy="648000"/>
                          </a:xfrm>
                          <a:prstGeom prst="rect">
                            <a:avLst/>
                          </a:prstGeom>
                          <a:solidFill>
                            <a:srgbClr val="BFDB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  <p:sp>
                        <p:nvSpPr>
                          <p:cNvPr id="62" name="Rectangle 61">
                            <a:extLst>
                              <a:ext uri="{FF2B5EF4-FFF2-40B4-BE49-F238E27FC236}">
                                <a16:creationId xmlns:a16="http://schemas.microsoft.com/office/drawing/2014/main" id="{FF3B8E0D-2645-1AB1-E6E7-81DEB1250A49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298266" y="5880716"/>
                            <a:ext cx="108000" cy="648000"/>
                          </a:xfrm>
                          <a:prstGeom prst="rect">
                            <a:avLst/>
                          </a:prstGeom>
                          <a:solidFill>
                            <a:srgbClr val="80B6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</p:grpSp>
                    <p:sp>
                      <p:nvSpPr>
                        <p:cNvPr id="46" name="Rectangle 45">
                          <a:extLst>
                            <a:ext uri="{FF2B5EF4-FFF2-40B4-BE49-F238E27FC236}">
                              <a16:creationId xmlns:a16="http://schemas.microsoft.com/office/drawing/2014/main" id="{F33C6EA5-C39C-9E0F-81BB-7CEDB6EE04E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7736681" y="5878180"/>
                          <a:ext cx="562719" cy="648000"/>
                        </a:xfrm>
                        <a:prstGeom prst="rect">
                          <a:avLst/>
                        </a:prstGeom>
                        <a:solidFill>
                          <a:srgbClr val="9DE3D1"/>
                        </a:solidFill>
                        <a:ln w="3175"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5">
                            <a:shade val="15000"/>
                          </a:schemeClr>
                        </a:lnRef>
                        <a:fillRef idx="1">
                          <a:schemeClr val="accent5"/>
                        </a:fillRef>
                        <a:effectRef idx="0">
                          <a:schemeClr val="accent5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sz="18519"/>
                        </a:p>
                      </p:txBody>
                    </p:sp>
                    <p:sp>
                      <p:nvSpPr>
                        <p:cNvPr id="47" name="Rectangle 46">
                          <a:extLst>
                            <a:ext uri="{FF2B5EF4-FFF2-40B4-BE49-F238E27FC236}">
                              <a16:creationId xmlns:a16="http://schemas.microsoft.com/office/drawing/2014/main" id="{AAC8635A-7DA5-DDF6-4293-87EF14B80FA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6764367" y="5877409"/>
                          <a:ext cx="108000" cy="648000"/>
                        </a:xfrm>
                        <a:prstGeom prst="rect">
                          <a:avLst/>
                        </a:prstGeom>
                        <a:solidFill>
                          <a:srgbClr val="80B6FF"/>
                        </a:solidFill>
                        <a:ln w="3175"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5">
                            <a:shade val="15000"/>
                          </a:schemeClr>
                        </a:lnRef>
                        <a:fillRef idx="1">
                          <a:schemeClr val="accent5"/>
                        </a:fillRef>
                        <a:effectRef idx="0">
                          <a:schemeClr val="accent5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sz="18519"/>
                        </a:p>
                      </p:txBody>
                    </p:sp>
                    <p:grpSp>
                      <p:nvGrpSpPr>
                        <p:cNvPr id="48" name="Group 47">
                          <a:extLst>
                            <a:ext uri="{FF2B5EF4-FFF2-40B4-BE49-F238E27FC236}">
                              <a16:creationId xmlns:a16="http://schemas.microsoft.com/office/drawing/2014/main" id="{46828752-A35B-5377-C237-622C7E9BF2B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>
                        <a:xfrm>
                          <a:off x="8299815" y="5878180"/>
                          <a:ext cx="432000" cy="648000"/>
                          <a:chOff x="8298266" y="5880716"/>
                          <a:chExt cx="432000" cy="648000"/>
                        </a:xfrm>
                      </p:grpSpPr>
                      <p:sp>
                        <p:nvSpPr>
                          <p:cNvPr id="57" name="Rectangle 56">
                            <a:extLst>
                              <a:ext uri="{FF2B5EF4-FFF2-40B4-BE49-F238E27FC236}">
                                <a16:creationId xmlns:a16="http://schemas.microsoft.com/office/drawing/2014/main" id="{B6F024A4-268E-37FC-5143-E071A3C1C236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622266" y="5880716"/>
                            <a:ext cx="108000" cy="648000"/>
                          </a:xfrm>
                          <a:prstGeom prst="rect">
                            <a:avLst/>
                          </a:prstGeom>
                          <a:solidFill>
                            <a:srgbClr val="80B6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  <p:sp>
                        <p:nvSpPr>
                          <p:cNvPr id="58" name="Rectangle 57">
                            <a:extLst>
                              <a:ext uri="{FF2B5EF4-FFF2-40B4-BE49-F238E27FC236}">
                                <a16:creationId xmlns:a16="http://schemas.microsoft.com/office/drawing/2014/main" id="{B9E918AB-5A84-BD42-D259-CEE1672A0E02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406266" y="5880716"/>
                            <a:ext cx="216000" cy="648000"/>
                          </a:xfrm>
                          <a:prstGeom prst="rect">
                            <a:avLst/>
                          </a:prstGeom>
                          <a:solidFill>
                            <a:srgbClr val="BFDB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  <p:sp>
                        <p:nvSpPr>
                          <p:cNvPr id="59" name="Rectangle 58">
                            <a:extLst>
                              <a:ext uri="{FF2B5EF4-FFF2-40B4-BE49-F238E27FC236}">
                                <a16:creationId xmlns:a16="http://schemas.microsoft.com/office/drawing/2014/main" id="{C8E58833-FF61-1EF2-4A0C-0F5F99C229EB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298266" y="5880716"/>
                            <a:ext cx="108000" cy="648000"/>
                          </a:xfrm>
                          <a:prstGeom prst="rect">
                            <a:avLst/>
                          </a:prstGeom>
                          <a:solidFill>
                            <a:srgbClr val="80B6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</p:grpSp>
                    <p:grpSp>
                      <p:nvGrpSpPr>
                        <p:cNvPr id="49" name="Group 48">
                          <a:extLst>
                            <a:ext uri="{FF2B5EF4-FFF2-40B4-BE49-F238E27FC236}">
                              <a16:creationId xmlns:a16="http://schemas.microsoft.com/office/drawing/2014/main" id="{F76C0257-9BAD-FD2A-A49C-923DE8F3C528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>
                        <a:xfrm>
                          <a:off x="7304681" y="5878180"/>
                          <a:ext cx="432000" cy="648000"/>
                          <a:chOff x="8298266" y="5880716"/>
                          <a:chExt cx="432000" cy="648000"/>
                        </a:xfrm>
                      </p:grpSpPr>
                      <p:sp>
                        <p:nvSpPr>
                          <p:cNvPr id="54" name="Rectangle 53">
                            <a:extLst>
                              <a:ext uri="{FF2B5EF4-FFF2-40B4-BE49-F238E27FC236}">
                                <a16:creationId xmlns:a16="http://schemas.microsoft.com/office/drawing/2014/main" id="{82C1B96D-2476-995E-D501-34F1440D79B6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622266" y="5880716"/>
                            <a:ext cx="108000" cy="648000"/>
                          </a:xfrm>
                          <a:prstGeom prst="rect">
                            <a:avLst/>
                          </a:prstGeom>
                          <a:solidFill>
                            <a:srgbClr val="80B6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  <p:sp>
                        <p:nvSpPr>
                          <p:cNvPr id="55" name="Rectangle 54">
                            <a:extLst>
                              <a:ext uri="{FF2B5EF4-FFF2-40B4-BE49-F238E27FC236}">
                                <a16:creationId xmlns:a16="http://schemas.microsoft.com/office/drawing/2014/main" id="{BD95090A-E354-8A96-F71F-855C9515CFBA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406266" y="5880716"/>
                            <a:ext cx="216000" cy="648000"/>
                          </a:xfrm>
                          <a:prstGeom prst="rect">
                            <a:avLst/>
                          </a:prstGeom>
                          <a:solidFill>
                            <a:srgbClr val="BFDB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  <p:sp>
                        <p:nvSpPr>
                          <p:cNvPr id="56" name="Rectangle 55">
                            <a:extLst>
                              <a:ext uri="{FF2B5EF4-FFF2-40B4-BE49-F238E27FC236}">
                                <a16:creationId xmlns:a16="http://schemas.microsoft.com/office/drawing/2014/main" id="{67A5E666-9C80-6D3F-C5BE-58C44488A571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298266" y="5880716"/>
                            <a:ext cx="108000" cy="648000"/>
                          </a:xfrm>
                          <a:prstGeom prst="rect">
                            <a:avLst/>
                          </a:prstGeom>
                          <a:solidFill>
                            <a:srgbClr val="80B6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</p:grpSp>
                    <p:grpSp>
                      <p:nvGrpSpPr>
                        <p:cNvPr id="50" name="Group 49">
                          <a:extLst>
                            <a:ext uri="{FF2B5EF4-FFF2-40B4-BE49-F238E27FC236}">
                              <a16:creationId xmlns:a16="http://schemas.microsoft.com/office/drawing/2014/main" id="{66489A30-6AC3-414E-2D0C-A36ECB3564E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>
                        <a:xfrm>
                          <a:off x="6872473" y="5877409"/>
                          <a:ext cx="432000" cy="648000"/>
                          <a:chOff x="8298266" y="5880716"/>
                          <a:chExt cx="432000" cy="648000"/>
                        </a:xfrm>
                      </p:grpSpPr>
                      <p:sp>
                        <p:nvSpPr>
                          <p:cNvPr id="51" name="Rectangle 50">
                            <a:extLst>
                              <a:ext uri="{FF2B5EF4-FFF2-40B4-BE49-F238E27FC236}">
                                <a16:creationId xmlns:a16="http://schemas.microsoft.com/office/drawing/2014/main" id="{9F49D642-4987-8471-5E8C-C1F2CBBA700F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622266" y="5880716"/>
                            <a:ext cx="108000" cy="648000"/>
                          </a:xfrm>
                          <a:prstGeom prst="rect">
                            <a:avLst/>
                          </a:prstGeom>
                          <a:solidFill>
                            <a:srgbClr val="80B6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  <p:sp>
                        <p:nvSpPr>
                          <p:cNvPr id="52" name="Rectangle 51">
                            <a:extLst>
                              <a:ext uri="{FF2B5EF4-FFF2-40B4-BE49-F238E27FC236}">
                                <a16:creationId xmlns:a16="http://schemas.microsoft.com/office/drawing/2014/main" id="{632E204B-2C1B-6055-9AB6-8B0AF4A12617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406266" y="5880716"/>
                            <a:ext cx="216000" cy="648000"/>
                          </a:xfrm>
                          <a:prstGeom prst="rect">
                            <a:avLst/>
                          </a:prstGeom>
                          <a:solidFill>
                            <a:srgbClr val="BFDB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  <p:sp>
                        <p:nvSpPr>
                          <p:cNvPr id="53" name="Rectangle 52">
                            <a:extLst>
                              <a:ext uri="{FF2B5EF4-FFF2-40B4-BE49-F238E27FC236}">
                                <a16:creationId xmlns:a16="http://schemas.microsoft.com/office/drawing/2014/main" id="{C191A0FA-1533-3BAD-853D-FA13D14E1EEC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298266" y="5880716"/>
                            <a:ext cx="108000" cy="648000"/>
                          </a:xfrm>
                          <a:prstGeom prst="rect">
                            <a:avLst/>
                          </a:prstGeom>
                          <a:solidFill>
                            <a:srgbClr val="80B6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</p:grpSp>
                  </p:grp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42" name="Text Box 2">
                            <a:extLst>
                              <a:ext uri="{FF2B5EF4-FFF2-40B4-BE49-F238E27FC236}">
                                <a16:creationId xmlns:a16="http://schemas.microsoft.com/office/drawing/2014/main" id="{A771D350-17DD-1005-43DC-2BC39DE95126}"/>
                              </a:ext>
                            </a:extLst>
                          </p:cNvPr>
                          <p:cNvSpPr txBox="1">
                            <a:spLocks/>
                          </p:cNvSpPr>
                          <p:nvPr/>
                        </p:nvSpPr>
                        <p:spPr bwMode="auto">
                          <a:xfrm>
                            <a:off x="6759419" y="5981007"/>
                            <a:ext cx="360556" cy="6480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288335" tIns="144168" rIns="288335" bIns="144168" anchor="ctr" anchorCtr="0">
                            <a:noAutofit/>
                          </a:bodyPr>
                          <a:lstStyle/>
                          <a:p>
                            <a:pPr algn="dist"/>
                            <a14:m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523" i="1" dirty="0">
                                        <a:latin typeface="Cambria Math" panose="02040503050406030204" pitchFamily="18" charset="0"/>
                                        <a:cs typeface="KMITLG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523" i="1" dirty="0">
                                        <a:latin typeface="Cambria Math" panose="02040503050406030204" pitchFamily="18" charset="0"/>
                                        <a:cs typeface="KMITLGO" panose="02000000000000000000" pitchFamily="2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a:rPr lang="en-US" sz="2523" i="1" dirty="0">
                                        <a:latin typeface="Cambria Math" panose="02040503050406030204" pitchFamily="18" charset="0"/>
                                        <a:cs typeface="KMITLGO" panose="020000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a14:m>
                            <a:r>
                              <a:rPr lang="en-GB" sz="2523" dirty="0">
                                <a:cs typeface="KMITLGO" panose="02000000000000000000" pitchFamily="2" charset="0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2523" i="1" dirty="0">
                                        <a:latin typeface="Cambria Math" panose="02040503050406030204" pitchFamily="18" charset="0"/>
                                        <a:cs typeface="KMITLGO" panose="02000000000000000000" pitchFamily="2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523" i="1" dirty="0">
                                        <a:latin typeface="Cambria Math" panose="02040503050406030204" pitchFamily="18" charset="0"/>
                                        <a:cs typeface="KMITLGO" panose="02000000000000000000" pitchFamily="2" charset="0"/>
                                      </a:rPr>
                                      <m:t>𝐻</m:t>
                                    </m:r>
                                  </m:num>
                                  <m:den>
                                    <m:r>
                                      <a:rPr lang="en-US" sz="2523" i="1" dirty="0">
                                        <a:latin typeface="Cambria Math" panose="02040503050406030204" pitchFamily="18" charset="0"/>
                                        <a:cs typeface="KMITLGO" panose="02000000000000000000" pitchFamily="2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a14:m>
                            <a:endParaRPr lang="en-GB" sz="2523" dirty="0">
                              <a:latin typeface="KMITLGO" panose="02000000000000000000" pitchFamily="2" charset="0"/>
                              <a:ea typeface="Times New Roman" panose="02020603050405020304" pitchFamily="18" charset="0"/>
                              <a:cs typeface="KMITLGO" panose="02000000000000000000" pitchFamily="2" charset="0"/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049" name="Text Box 2">
                            <a:extLst>
                              <a:ext uri="{FF2B5EF4-FFF2-40B4-BE49-F238E27FC236}">
                                <a16:creationId xmlns:a16="http://schemas.microsoft.com/office/drawing/2014/main" id="{B5805E68-AAEB-0F66-FB28-41D4EFCA9067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 bwMode="auto">
                          <a:xfrm>
                            <a:off x="6759419" y="5981007"/>
                            <a:ext cx="360556" cy="648000"/>
                          </a:xfrm>
                          <a:prstGeom prst="rect">
                            <a:avLst/>
                          </a:prstGeom>
                          <a:blipFill>
                            <a:blip r:embed="rId6"/>
                            <a:stretch>
                              <a:fillRect/>
                            </a:stretch>
                          </a:blip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GB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43" name="Text Box 2">
                            <a:extLst>
                              <a:ext uri="{FF2B5EF4-FFF2-40B4-BE49-F238E27FC236}">
                                <a16:creationId xmlns:a16="http://schemas.microsoft.com/office/drawing/2014/main" id="{B6602C37-66E8-6742-51CA-E04072DD5628}"/>
                              </a:ext>
                            </a:extLst>
                          </p:cNvPr>
                          <p:cNvSpPr txBox="1">
                            <a:spLocks/>
                          </p:cNvSpPr>
                          <p:nvPr/>
                        </p:nvSpPr>
                        <p:spPr bwMode="auto">
                          <a:xfrm>
                            <a:off x="7050555" y="5984182"/>
                            <a:ext cx="216000" cy="648000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288335" tIns="144168" rIns="288335" bIns="144168" anchor="ctr" anchorCtr="0">
                            <a:noAutofit/>
                          </a:bodyPr>
                          <a:lstStyle/>
                          <a:p>
                            <a:pPr algn="dist"/>
                            <a14:m>
                              <m:oMathPara xmlns:m="http://schemas.openxmlformats.org/officeDocument/2006/math">
                                <m:oMathParaPr>
                                  <m:jc m:val="left"/>
                                </m:oMathParaPr>
                                <m:oMath xmlns:m="http://schemas.openxmlformats.org/officeDocument/2006/math"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𝐿</m:t>
                                  </m:r>
                                </m:oMath>
                              </m:oMathPara>
                            </a14:m>
                            <a:endParaRPr lang="en-GB" sz="2523" dirty="0">
                              <a:latin typeface="KMITLGO" panose="02000000000000000000" pitchFamily="2" charset="0"/>
                              <a:ea typeface="Times New Roman" panose="02020603050405020304" pitchFamily="18" charset="0"/>
                              <a:cs typeface="KMITLGO" panose="02000000000000000000" pitchFamily="2" charset="0"/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1050" name="Text Box 2">
                            <a:extLst>
                              <a:ext uri="{FF2B5EF4-FFF2-40B4-BE49-F238E27FC236}">
                                <a16:creationId xmlns:a16="http://schemas.microsoft.com/office/drawing/2014/main" id="{BA0C2F64-D26E-93BA-F90E-8EF24155DD5F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 bwMode="auto">
                          <a:xfrm>
                            <a:off x="7050555" y="5984182"/>
                            <a:ext cx="216000" cy="648000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GB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6" name="Text Box 2">
                          <a:extLst>
                            <a:ext uri="{FF2B5EF4-FFF2-40B4-BE49-F238E27FC236}">
                              <a16:creationId xmlns:a16="http://schemas.microsoft.com/office/drawing/2014/main" id="{23C940D4-39C5-408E-2654-4E6BEAB349D9}"/>
                            </a:ext>
                          </a:extLst>
                        </p:cNvPr>
                        <p:cNvSpPr txBox="1">
                          <a:spLocks/>
                        </p:cNvSpPr>
                        <p:nvPr/>
                      </p:nvSpPr>
                      <p:spPr bwMode="auto">
                        <a:xfrm>
                          <a:off x="7200721" y="5981007"/>
                          <a:ext cx="360556" cy="6480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288335" tIns="144168" rIns="288335" bIns="144168" anchor="ctr" anchorCtr="0">
                          <a:noAutofit/>
                        </a:bodyPr>
                        <a:lstStyle/>
                        <a:p>
                          <a:pPr algn="dist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GB" sz="2523" dirty="0">
                              <a:cs typeface="KMITLGO" panose="02000000000000000000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GB" sz="2523" dirty="0">
                            <a:latin typeface="KMITLGO" panose="02000000000000000000" pitchFamily="2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055" name="Text Box 2">
                          <a:extLst>
                            <a:ext uri="{FF2B5EF4-FFF2-40B4-BE49-F238E27FC236}">
                              <a16:creationId xmlns:a16="http://schemas.microsoft.com/office/drawing/2014/main" id="{9B6360BF-551D-5AC1-1B91-C23462933E85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7200721" y="5981007"/>
                          <a:ext cx="360556" cy="648000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/>
                          </a:stretch>
                        </a:blipFill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7" name="Text Box 2">
                          <a:extLst>
                            <a:ext uri="{FF2B5EF4-FFF2-40B4-BE49-F238E27FC236}">
                              <a16:creationId xmlns:a16="http://schemas.microsoft.com/office/drawing/2014/main" id="{C3E8C849-45A6-E5B6-E312-76E6B31A2607}"/>
                            </a:ext>
                          </a:extLst>
                        </p:cNvPr>
                        <p:cNvSpPr txBox="1">
                          <a:spLocks/>
                        </p:cNvSpPr>
                        <p:nvPr/>
                      </p:nvSpPr>
                      <p:spPr bwMode="auto">
                        <a:xfrm>
                          <a:off x="8629200" y="5981007"/>
                          <a:ext cx="360556" cy="6480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288335" tIns="144168" rIns="288335" bIns="144168" anchor="ctr" anchorCtr="0">
                          <a:noAutofit/>
                        </a:bodyPr>
                        <a:lstStyle/>
                        <a:p>
                          <a:pPr algn="dist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GB" sz="2523" dirty="0">
                              <a:cs typeface="KMITLGO" panose="02000000000000000000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GB" sz="2523" dirty="0">
                            <a:latin typeface="KMITLGO" panose="02000000000000000000" pitchFamily="2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056" name="Text Box 2">
                          <a:extLst>
                            <a:ext uri="{FF2B5EF4-FFF2-40B4-BE49-F238E27FC236}">
                              <a16:creationId xmlns:a16="http://schemas.microsoft.com/office/drawing/2014/main" id="{DB6B8739-7BE2-4208-BD77-28EF182B3DE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8629200" y="5981007"/>
                          <a:ext cx="360556" cy="648000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/>
                          </a:stretch>
                        </a:blipFill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8" name="Text Box 2">
                          <a:extLst>
                            <a:ext uri="{FF2B5EF4-FFF2-40B4-BE49-F238E27FC236}">
                              <a16:creationId xmlns:a16="http://schemas.microsoft.com/office/drawing/2014/main" id="{605F8045-D8BA-F771-00FC-3371BEB4163F}"/>
                            </a:ext>
                          </a:extLst>
                        </p:cNvPr>
                        <p:cNvSpPr txBox="1">
                          <a:spLocks/>
                        </p:cNvSpPr>
                        <p:nvPr/>
                      </p:nvSpPr>
                      <p:spPr bwMode="auto">
                        <a:xfrm>
                          <a:off x="9060419" y="5981723"/>
                          <a:ext cx="360556" cy="6480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288335" tIns="144168" rIns="288335" bIns="144168" anchor="ctr" anchorCtr="0">
                          <a:noAutofit/>
                        </a:bodyPr>
                        <a:lstStyle/>
                        <a:p>
                          <a:pPr algn="dist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GB" sz="2523" dirty="0">
                              <a:cs typeface="KMITLGO" panose="02000000000000000000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GB" sz="2523" dirty="0">
                            <a:latin typeface="KMITLGO" panose="02000000000000000000" pitchFamily="2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057" name="Text Box 2">
                          <a:extLst>
                            <a:ext uri="{FF2B5EF4-FFF2-40B4-BE49-F238E27FC236}">
                              <a16:creationId xmlns:a16="http://schemas.microsoft.com/office/drawing/2014/main" id="{DDE6ABB2-7BE7-02C3-0428-CCC31EF15691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9060419" y="5981723"/>
                          <a:ext cx="360556" cy="648000"/>
                        </a:xfrm>
                        <a:prstGeom prst="rect">
                          <a:avLst/>
                        </a:prstGeom>
                        <a:blipFill>
                          <a:blip r:embed="rId6"/>
                          <a:stretch>
                            <a:fillRect/>
                          </a:stretch>
                        </a:blipFill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" name="Text Box 2">
                          <a:extLst>
                            <a:ext uri="{FF2B5EF4-FFF2-40B4-BE49-F238E27FC236}">
                              <a16:creationId xmlns:a16="http://schemas.microsoft.com/office/drawing/2014/main" id="{17CEDA2F-C6C2-7868-D049-5EADAE759F36}"/>
                            </a:ext>
                          </a:extLst>
                        </p:cNvPr>
                        <p:cNvSpPr txBox="1">
                          <a:spLocks/>
                        </p:cNvSpPr>
                        <p:nvPr/>
                      </p:nvSpPr>
                      <p:spPr bwMode="auto">
                        <a:xfrm>
                          <a:off x="7638559" y="5981007"/>
                          <a:ext cx="908920" cy="6480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288335" tIns="144168" rIns="288335" bIns="144168" anchor="ctr" anchorCtr="0">
                          <a:noAutofit/>
                        </a:bodyPr>
                        <a:lstStyle/>
                        <a:p>
                          <a:pPr algn="dist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en-GB" sz="2523" dirty="0">
                              <a:cs typeface="KMITLGO" panose="02000000000000000000" pitchFamily="2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GB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𝐻</m:t>
                                  </m:r>
                                </m:num>
                                <m:den>
                                  <m:r>
                                    <a:rPr lang="en-US" sz="2523" i="1" dirty="0">
                                      <a:latin typeface="Cambria Math" panose="02040503050406030204" pitchFamily="18" charset="0"/>
                                      <a:cs typeface="KMITLGO" panose="02000000000000000000" pitchFamily="2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GB" sz="2523" dirty="0">
                            <a:latin typeface="KMITLGO" panose="02000000000000000000" pitchFamily="2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058" name="Text Box 2">
                          <a:extLst>
                            <a:ext uri="{FF2B5EF4-FFF2-40B4-BE49-F238E27FC236}">
                              <a16:creationId xmlns:a16="http://schemas.microsoft.com/office/drawing/2014/main" id="{62061733-F7C7-805C-BB3D-AE0088626ECF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7638559" y="5981007"/>
                          <a:ext cx="908920" cy="648000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/>
                          </a:stretch>
                        </a:blipFill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0" name="Text Box 2">
                          <a:extLst>
                            <a:ext uri="{FF2B5EF4-FFF2-40B4-BE49-F238E27FC236}">
                              <a16:creationId xmlns:a16="http://schemas.microsoft.com/office/drawing/2014/main" id="{83EAF408-5816-19C1-957A-B177A61B75A2}"/>
                            </a:ext>
                          </a:extLst>
                        </p:cNvPr>
                        <p:cNvSpPr txBox="1">
                          <a:spLocks/>
                        </p:cNvSpPr>
                        <p:nvPr/>
                      </p:nvSpPr>
                      <p:spPr bwMode="auto">
                        <a:xfrm>
                          <a:off x="7809843" y="5981007"/>
                          <a:ext cx="564574" cy="6480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288335" tIns="144168" rIns="288335" bIns="144168" anchor="ctr" anchorCtr="0">
                          <a:noAutofit/>
                        </a:bodyPr>
                        <a:lstStyle/>
                        <a:p>
                          <a:pPr algn="dist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GB" sz="2523" dirty="0">
                            <a:latin typeface="KMITLGO" panose="02000000000000000000" pitchFamily="2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endParaRPr>
                        </a:p>
                      </p:txBody>
                    </p:sp>
                  </mc:Choice>
                  <mc:Fallback xmlns="">
                    <p:sp>
                      <p:nvSpPr>
                        <p:cNvPr id="1059" name="Text Box 2">
                          <a:extLst>
                            <a:ext uri="{FF2B5EF4-FFF2-40B4-BE49-F238E27FC236}">
                              <a16:creationId xmlns:a16="http://schemas.microsoft.com/office/drawing/2014/main" id="{2FBA6FEF-FF63-BB81-AB05-B35E34577B6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>
                          <a:off x="7809843" y="5981007"/>
                          <a:ext cx="564574" cy="648000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/>
                          </a:stretch>
                        </a:blipFill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Text Box 2">
                        <a:extLst>
                          <a:ext uri="{FF2B5EF4-FFF2-40B4-BE49-F238E27FC236}">
                            <a16:creationId xmlns:a16="http://schemas.microsoft.com/office/drawing/2014/main" id="{E30C69C5-C4B6-73EE-DC98-61734671D480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 bwMode="auto">
                      <a:xfrm>
                        <a:off x="8482788" y="5981007"/>
                        <a:ext cx="216000" cy="64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288335" tIns="144168" rIns="288335" bIns="144168" anchor="ctr" anchorCtr="0">
                        <a:noAutofit/>
                      </a:bodyPr>
                      <a:lstStyle/>
                      <a:p>
                        <a:pPr algn="dist"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𝐿</m:t>
                              </m:r>
                            </m:oMath>
                          </m:oMathPara>
                        </a14:m>
                        <a:endParaRPr lang="en-GB" sz="2523" dirty="0">
                          <a:latin typeface="KMITLGO" panose="02000000000000000000" pitchFamily="2" charset="0"/>
                          <a:ea typeface="Times New Roman" panose="02020603050405020304" pitchFamily="18" charset="0"/>
                          <a:cs typeface="KMITLGO" panose="02000000000000000000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061" name="Text Box 2">
                        <a:extLst>
                          <a:ext uri="{FF2B5EF4-FFF2-40B4-BE49-F238E27FC236}">
                            <a16:creationId xmlns:a16="http://schemas.microsoft.com/office/drawing/2014/main" id="{29F54522-B53E-5A32-9529-5AE170EEDEA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8482788" y="5981007"/>
                        <a:ext cx="216000" cy="64800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Text Box 2">
                        <a:extLst>
                          <a:ext uri="{FF2B5EF4-FFF2-40B4-BE49-F238E27FC236}">
                            <a16:creationId xmlns:a16="http://schemas.microsoft.com/office/drawing/2014/main" id="{DD67B2FC-40CC-15BA-EC79-10447C20BDDD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 bwMode="auto">
                      <a:xfrm>
                        <a:off x="8914625" y="5985289"/>
                        <a:ext cx="216000" cy="64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288335" tIns="144168" rIns="288335" bIns="144168" anchor="ctr" anchorCtr="0">
                        <a:noAutofit/>
                      </a:bodyPr>
                      <a:lstStyle/>
                      <a:p>
                        <a:pPr algn="dist"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𝐿</m:t>
                              </m:r>
                            </m:oMath>
                          </m:oMathPara>
                        </a14:m>
                        <a:endParaRPr lang="en-GB" sz="2523" dirty="0">
                          <a:latin typeface="KMITLGO" panose="02000000000000000000" pitchFamily="2" charset="0"/>
                          <a:ea typeface="Times New Roman" panose="02020603050405020304" pitchFamily="18" charset="0"/>
                          <a:cs typeface="KMITLGO" panose="02000000000000000000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062" name="Text Box 2">
                        <a:extLst>
                          <a:ext uri="{FF2B5EF4-FFF2-40B4-BE49-F238E27FC236}">
                            <a16:creationId xmlns:a16="http://schemas.microsoft.com/office/drawing/2014/main" id="{C39A8C7C-1D0D-AB1A-D836-408E8730E7F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8914625" y="5985289"/>
                        <a:ext cx="216000" cy="648000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4" name="Arrow: Right 23">
                  <a:extLst>
                    <a:ext uri="{FF2B5EF4-FFF2-40B4-BE49-F238E27FC236}">
                      <a16:creationId xmlns:a16="http://schemas.microsoft.com/office/drawing/2014/main" id="{DFD2F375-5851-3FEE-7A7D-F9A290C7C7F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644490" y="7153787"/>
                  <a:ext cx="239613" cy="166687"/>
                </a:xfrm>
                <a:prstGeom prst="rightArrow">
                  <a:avLst/>
                </a:prstGeom>
                <a:solidFill>
                  <a:srgbClr val="FFD5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8522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4CBCB6A-51D9-6A1D-D508-505CA162039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031397" y="6838822"/>
                  <a:ext cx="416430" cy="811171"/>
                </a:xfrm>
                <a:prstGeom prst="rect">
                  <a:avLst/>
                </a:prstGeom>
                <a:noFill/>
                <a:ln w="19050">
                  <a:solidFill>
                    <a:srgbClr val="F52D28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8522" dirty="0"/>
                </a:p>
              </p:txBody>
            </p:sp>
            <p:sp>
              <p:nvSpPr>
                <p:cNvPr id="26" name="Text Box 2">
                  <a:extLst>
                    <a:ext uri="{FF2B5EF4-FFF2-40B4-BE49-F238E27FC236}">
                      <a16:creationId xmlns:a16="http://schemas.microsoft.com/office/drawing/2014/main" id="{1894D9EC-E759-BF46-DF13-B92BFB4AD47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6968952" y="7529214"/>
                  <a:ext cx="544145" cy="1641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t" anchorCtr="0">
                  <a:noAutofit/>
                </a:bodyPr>
                <a:lstStyle/>
                <a:p>
                  <a:pPr algn="ctr"/>
                  <a:endParaRPr lang="en-GB" sz="3153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Text Box 2">
                  <a:extLst>
                    <a:ext uri="{FF2B5EF4-FFF2-40B4-BE49-F238E27FC236}">
                      <a16:creationId xmlns:a16="http://schemas.microsoft.com/office/drawing/2014/main" id="{C36CF002-9005-84E3-2632-07590592B44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8450209" y="6785700"/>
                  <a:ext cx="420183" cy="14529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t" anchorCtr="0">
                  <a:noAutofit/>
                </a:bodyPr>
                <a:lstStyle/>
                <a:p>
                  <a:pPr algn="ctr"/>
                  <a:r>
                    <a:rPr lang="en-US" sz="3153" b="1" dirty="0">
                      <a:solidFill>
                        <a:srgbClr val="0000FF"/>
                      </a:solidFill>
                      <a:latin typeface="KMITLGO" panose="02000000000000000000" pitchFamily="2" charset="0"/>
                      <a:ea typeface="Times New Roman" panose="02020603050405020304" pitchFamily="18" charset="0"/>
                      <a:cs typeface="KMITLGO" panose="02000000000000000000" pitchFamily="2" charset="0"/>
                    </a:rPr>
                    <a:t>N</a:t>
                  </a:r>
                  <a:endParaRPr lang="en-GB" sz="3153" b="1" dirty="0">
                    <a:solidFill>
                      <a:srgbClr val="0000FF"/>
                    </a:solidFill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endParaRPr>
                </a:p>
              </p:txBody>
            </p:sp>
            <p:sp>
              <p:nvSpPr>
                <p:cNvPr id="30" name="Text Box 2">
                  <a:extLst>
                    <a:ext uri="{FF2B5EF4-FFF2-40B4-BE49-F238E27FC236}">
                      <a16:creationId xmlns:a16="http://schemas.microsoft.com/office/drawing/2014/main" id="{6CC146B7-8D97-2A1D-6169-A4897C2A23A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7155048" y="6785700"/>
                  <a:ext cx="143200" cy="15490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t" anchorCtr="0">
                  <a:noAutofit/>
                </a:bodyPr>
                <a:lstStyle/>
                <a:p>
                  <a:pPr algn="ctr"/>
                  <a:r>
                    <a:rPr lang="en-US" sz="3153" b="1" dirty="0">
                      <a:solidFill>
                        <a:srgbClr val="F52D28"/>
                      </a:solidFill>
                      <a:latin typeface="KMITLGO" panose="02000000000000000000" pitchFamily="2" charset="0"/>
                      <a:ea typeface="Times New Roman" panose="02020603050405020304" pitchFamily="18" charset="0"/>
                      <a:cs typeface="KMITLGO" panose="02000000000000000000" pitchFamily="2" charset="0"/>
                    </a:rPr>
                    <a:t>M</a:t>
                  </a:r>
                  <a:endParaRPr lang="en-GB" sz="3153" b="1" dirty="0">
                    <a:solidFill>
                      <a:srgbClr val="F52D28"/>
                    </a:solidFill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endParaRPr>
                </a:p>
              </p:txBody>
            </p:sp>
          </p:grp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D5DB6D8-B925-C587-6A82-8E579296B0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381410" y="23391189"/>
                <a:ext cx="1531977" cy="3230534"/>
              </a:xfrm>
              <a:prstGeom prst="rect">
                <a:avLst/>
              </a:prstGeom>
              <a:noFill/>
              <a:ln w="19050">
                <a:solidFill>
                  <a:srgbClr val="0000FF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522" dirty="0"/>
              </a:p>
            </p:txBody>
          </p:sp>
        </p:grp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D3A2B9E0-6B3B-E971-7AE9-790DF8438C53}"/>
                </a:ext>
              </a:extLst>
            </p:cNvPr>
            <p:cNvSpPr txBox="1">
              <a:spLocks/>
            </p:cNvSpPr>
            <p:nvPr/>
          </p:nvSpPr>
          <p:spPr>
            <a:xfrm>
              <a:off x="18877084" y="27746793"/>
              <a:ext cx="1096144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Helvetica" pitchFamily="2" charset="0"/>
                  <a:cs typeface="Arial" panose="020B0604020202020204" pitchFamily="34" charset="0"/>
                </a:rPr>
                <a:t>Resonant cavity diagram. </a:t>
              </a:r>
              <a:r>
                <a:rPr lang="en-US" sz="2400" dirty="0">
                  <a:latin typeface="Helvetica" pitchFamily="2" charset="0"/>
                  <a:cs typeface="Arial" panose="020B0604020202020204" pitchFamily="34" charset="0"/>
                </a:rPr>
                <a:t>M and N are the number of unit cell in the incident and substrate side, respectively. </a:t>
              </a:r>
            </a:p>
          </p:txBody>
        </p:sp>
      </p:grp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899CF4F7-8FA4-4CC7-A3D5-0D7999261CE9}"/>
              </a:ext>
            </a:extLst>
          </p:cNvPr>
          <p:cNvCxnSpPr>
            <a:cxnSpLocks/>
          </p:cNvCxnSpPr>
          <p:nvPr/>
        </p:nvCxnSpPr>
        <p:spPr>
          <a:xfrm flipH="1">
            <a:off x="18726805" y="21990678"/>
            <a:ext cx="1114326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DF8E19A0-4E81-37D5-F55F-6F2A3C3E7A89}"/>
              </a:ext>
            </a:extLst>
          </p:cNvPr>
          <p:cNvGrpSpPr/>
          <p:nvPr/>
        </p:nvGrpSpPr>
        <p:grpSpPr>
          <a:xfrm>
            <a:off x="262154" y="9464084"/>
            <a:ext cx="18178243" cy="7540526"/>
            <a:chOff x="262154" y="10256754"/>
            <a:chExt cx="18614929" cy="7540526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3D83BB7-5AE6-D849-121E-AB758DD788D6}"/>
                </a:ext>
              </a:extLst>
            </p:cNvPr>
            <p:cNvGrpSpPr/>
            <p:nvPr/>
          </p:nvGrpSpPr>
          <p:grpSpPr>
            <a:xfrm>
              <a:off x="262154" y="10256754"/>
              <a:ext cx="18614929" cy="7540526"/>
              <a:chOff x="443606" y="10092221"/>
              <a:chExt cx="17996794" cy="7789349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E73B3A-570B-F4F3-208D-3695F86D91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606" y="10092221"/>
                <a:ext cx="17996794" cy="7789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371600" indent="-1371600">
                  <a:buAutoNum type="arabicPeriod"/>
                </a:pPr>
                <a:r>
                  <a:rPr lang="en-US" sz="8800" b="1" dirty="0">
                    <a:solidFill>
                      <a:srgbClr val="FF7B79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Introduction</a:t>
                </a:r>
              </a:p>
              <a:p>
                <a:endParaRPr lang="en-GB" sz="1600" b="1" dirty="0">
                  <a:solidFill>
                    <a:srgbClr val="80B6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endParaRPr>
              </a:p>
              <a:p>
                <a:pPr marL="685800" indent="-685800">
                  <a:buFontTx/>
                  <a:buChar char="-"/>
                </a:pPr>
                <a:r>
                  <a:rPr lang="en-GB" sz="3800" b="1" u="sng" dirty="0">
                    <a:solidFill>
                      <a:srgbClr val="9DE3D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Sb</a:t>
                </a:r>
                <a:r>
                  <a:rPr lang="en-GB" sz="3800" b="1" u="sng" baseline="-25000" dirty="0">
                    <a:solidFill>
                      <a:srgbClr val="9DE3D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GB" sz="3800" b="1" u="sng" dirty="0">
                    <a:solidFill>
                      <a:srgbClr val="9DE3D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Se</a:t>
                </a:r>
                <a:r>
                  <a:rPr lang="en-GB" sz="3800" b="1" u="sng" baseline="-25000" dirty="0">
                    <a:solidFill>
                      <a:srgbClr val="9DE3D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en-GB" sz="38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</a:t>
                </a:r>
                <a:r>
                  <a:rPr lang="en-GB" sz="3800" b="1" u="sng" dirty="0">
                    <a:solidFill>
                      <a:srgbClr val="80B6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non-volatile</a:t>
                </a:r>
                <a:r>
                  <a:rPr lang="en-GB" sz="3800" dirty="0">
                    <a:latin typeface="Arial" panose="020B0604020202020204" pitchFamily="34" charset="0"/>
                    <a:cs typeface="Arial" panose="020B0604020202020204" pitchFamily="34" charset="0"/>
                  </a:rPr>
                  <a:t> phase-change material (PCM) with very low absorption in the IR spectrum [1].</a:t>
                </a:r>
              </a:p>
              <a:p>
                <a:pPr marL="685800" indent="-685800">
                  <a:buFontTx/>
                  <a:buChar char="-"/>
                </a:pPr>
                <a:r>
                  <a:rPr lang="en-GB" sz="3800" dirty="0">
                    <a:latin typeface="Arial" panose="020B0604020202020204" pitchFamily="34" charset="0"/>
                    <a:cs typeface="Arial" panose="020B0604020202020204" pitchFamily="34" charset="0"/>
                  </a:rPr>
                  <a:t>Its crystallization temperature is 186 </a:t>
                </a:r>
                <a:r>
                  <a:rPr lang="en-GB" sz="3800" dirty="0">
                    <a:solidFill>
                      <a:srgbClr val="1F1F1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°C,</a:t>
                </a:r>
                <a:r>
                  <a:rPr lang="en-GB" sz="3800" dirty="0">
                    <a:latin typeface="Arial" panose="020B0604020202020204" pitchFamily="34" charset="0"/>
                    <a:cs typeface="Arial" panose="020B0604020202020204" pitchFamily="34" charset="0"/>
                  </a:rPr>
                  <a:t> comparable to GST (180 °C) but is lower than </a:t>
                </a:r>
                <a:r>
                  <a:rPr lang="en-GB" sz="3800" u="sng" dirty="0">
                    <a:solidFill>
                      <a:srgbClr val="FF7B7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other non-volatile PCMs</a:t>
                </a:r>
                <a:r>
                  <a:rPr lang="en-GB" sz="3800" dirty="0">
                    <a:solidFill>
                      <a:srgbClr val="FF7B79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[2].</a:t>
                </a:r>
              </a:p>
              <a:p>
                <a:pPr marL="685800" indent="-685800">
                  <a:buFontTx/>
                  <a:buChar char="-"/>
                </a:pPr>
                <a:r>
                  <a:rPr lang="en-GB" sz="3800" dirty="0">
                    <a:latin typeface="Arial" panose="020B0604020202020204" pitchFamily="34" charset="0"/>
                    <a:cs typeface="Arial" panose="020B0604020202020204" pitchFamily="34" charset="0"/>
                  </a:rPr>
                  <a:t>It has been demonstrated to have high endurance (10</a:t>
                </a:r>
                <a:r>
                  <a:rPr lang="en-GB" sz="38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7</a:t>
                </a:r>
                <a:r>
                  <a:rPr lang="en-GB" sz="3800" dirty="0">
                    <a:latin typeface="Arial" panose="020B0604020202020204" pitchFamily="34" charset="0"/>
                    <a:cs typeface="Arial" panose="020B0604020202020204" pitchFamily="34" charset="0"/>
                  </a:rPr>
                  <a:t> cycles) [2].</a:t>
                </a:r>
              </a:p>
              <a:p>
                <a:pPr marL="685800" indent="-685800">
                  <a:buFontTx/>
                  <a:buChar char="-"/>
                </a:pPr>
                <a:r>
                  <a:rPr lang="en-GB" sz="3800" dirty="0">
                    <a:latin typeface="Arial" panose="020B0604020202020204" pitchFamily="34" charset="0"/>
                    <a:cs typeface="Arial" panose="020B0604020202020204" pitchFamily="34" charset="0"/>
                  </a:rPr>
                  <a:t>In photonics, it’s mainly used as reconfigurable waveguide [3] but can also be used as </a:t>
                </a:r>
                <a:r>
                  <a:rPr lang="en-GB" sz="3800" u="sng" dirty="0">
                    <a:solidFill>
                      <a:srgbClr val="80B6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optical limiter</a:t>
                </a:r>
                <a:r>
                  <a:rPr lang="en-GB" sz="3800" dirty="0">
                    <a:solidFill>
                      <a:srgbClr val="80B6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[4].</a:t>
                </a:r>
              </a:p>
              <a:p>
                <a:pPr marL="685800" indent="-685800">
                  <a:buFontTx/>
                  <a:buChar char="-"/>
                </a:pPr>
                <a:r>
                  <a:rPr lang="en-GB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Asymmetrical design is used to restore resonant in device with </a:t>
                </a:r>
                <a:r>
                  <a:rPr lang="en-GB" sz="3600" u="sng" dirty="0">
                    <a:solidFill>
                      <a:srgbClr val="9DE3D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imaginary index</a:t>
                </a:r>
                <a:r>
                  <a:rPr lang="en-GB" sz="3600" dirty="0">
                    <a:solidFill>
                      <a:srgbClr val="9DE3D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en-GB" sz="36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GB" sz="3600" dirty="0">
                    <a:solidFill>
                      <a:srgbClr val="9DE3D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[5]</a:t>
                </a:r>
              </a:p>
              <a:p>
                <a:pPr marL="685800" indent="-685800">
                  <a:buFontTx/>
                  <a:buChar char="-"/>
                </a:pPr>
                <a:r>
                  <a:rPr lang="en-GB" sz="3800" dirty="0">
                    <a:latin typeface="Arial" panose="020B0604020202020204" pitchFamily="34" charset="0"/>
                    <a:cs typeface="Arial" panose="020B0604020202020204" pitchFamily="34" charset="0"/>
                  </a:rPr>
                  <a:t>We designed a </a:t>
                </a:r>
                <a:r>
                  <a:rPr lang="en-GB" sz="3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1-D thin film device with anti-reflection property for 532 and 1064 nm limiter.</a:t>
                </a:r>
                <a:endParaRPr lang="en-GB" sz="3800" dirty="0">
                  <a:highlight>
                    <a:srgbClr val="00FFFF"/>
                  </a:highligh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6408919-48CD-8F59-4CCD-3C548D98FE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3583" y="11448448"/>
                <a:ext cx="2975352" cy="476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9DE3D1"/>
                    </a:solidFill>
                    <a:latin typeface="Helvetica" pitchFamily="2" charset="0"/>
                    <a:cs typeface="KMITLGO" panose="02000000000000000000" pitchFamily="2" charset="0"/>
                  </a:rPr>
                  <a:t>Antimony triselenide</a:t>
                </a:r>
                <a:endParaRPr lang="en-GB" sz="2400" dirty="0">
                  <a:solidFill>
                    <a:srgbClr val="9DE3D1"/>
                  </a:solidFill>
                  <a:latin typeface="Helvetica" pitchFamily="2" charset="0"/>
                  <a:cs typeface="KMITLGO" panose="02000000000000000000" pitchFamily="2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F80E39-FB65-F7C9-9529-E390CB0FFB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08936" y="11446595"/>
                <a:ext cx="6906737" cy="476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80B6FF"/>
                    </a:solidFill>
                    <a:latin typeface="Helvetica" pitchFamily="2" charset="0"/>
                    <a:cs typeface="KMITLGO" panose="02000000000000000000" pitchFamily="2" charset="0"/>
                  </a:rPr>
                  <a:t>Won’t revert its phase when the temperature drop</a:t>
                </a:r>
                <a:endParaRPr lang="en-GB" sz="2400" dirty="0">
                  <a:solidFill>
                    <a:srgbClr val="80B6FF"/>
                  </a:solidFill>
                  <a:latin typeface="Helvetica" pitchFamily="2" charset="0"/>
                  <a:cs typeface="KMITLGO" panose="02000000000000000000" pitchFamily="2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604FC6B-AF67-7B3F-66A9-B651D34CD4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32367" y="15233485"/>
                <a:ext cx="6325520" cy="7948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rgbClr val="80B6FF"/>
                    </a:solidFill>
                    <a:latin typeface="Helvetica" pitchFamily="2" charset="0"/>
                    <a:cs typeface="KMITLGO" panose="02000000000000000000" pitchFamily="2" charset="0"/>
                  </a:rPr>
                  <a:t>Non-linear device which limits the transmissivity,  either by light intensity or by phase transition</a:t>
                </a:r>
                <a:endParaRPr lang="en-GB" sz="2200" dirty="0">
                  <a:solidFill>
                    <a:srgbClr val="80B6FF"/>
                  </a:solidFill>
                  <a:latin typeface="Helvetica" pitchFamily="2" charset="0"/>
                  <a:cs typeface="KMITLGO" panose="02000000000000000000" pitchFamily="2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73A6DAA-D6BE-67A7-313B-E20BCC0C94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697223" y="15536061"/>
                <a:ext cx="3786044" cy="476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solidFill>
                      <a:srgbClr val="9DE3D1"/>
                    </a:solidFill>
                    <a:latin typeface="Helvetica" pitchFamily="2" charset="0"/>
                    <a:cs typeface="KMITLGO" panose="02000000000000000000" pitchFamily="2" charset="0"/>
                  </a:rPr>
                  <a:t>Absorption</a:t>
                </a:r>
                <a:r>
                  <a:rPr lang="en-US" sz="2000" dirty="0">
                    <a:solidFill>
                      <a:srgbClr val="9DE3D1"/>
                    </a:solidFill>
                    <a:latin typeface="Helvetica" pitchFamily="2" charset="0"/>
                    <a:cs typeface="KMITLGO" panose="02000000000000000000" pitchFamily="2" charset="0"/>
                  </a:rPr>
                  <a:t> coefficient; k</a:t>
                </a:r>
                <a:endParaRPr lang="en-GB" sz="2000" dirty="0">
                  <a:solidFill>
                    <a:srgbClr val="9DE3D1"/>
                  </a:solidFill>
                  <a:latin typeface="Helvetica" pitchFamily="2" charset="0"/>
                  <a:cs typeface="KMITLGO" panose="02000000000000000000" pitchFamily="2" charset="0"/>
                </a:endParaRPr>
              </a:p>
            </p:txBody>
          </p:sp>
        </p:grpSp>
        <p:sp>
          <p:nvSpPr>
            <p:cNvPr id="1031" name="TextBox 1030">
              <a:extLst>
                <a:ext uri="{FF2B5EF4-FFF2-40B4-BE49-F238E27FC236}">
                  <a16:creationId xmlns:a16="http://schemas.microsoft.com/office/drawing/2014/main" id="{F6309B62-D9F5-9B16-AC45-27E9BCC262BD}"/>
                </a:ext>
              </a:extLst>
            </p:cNvPr>
            <p:cNvSpPr txBox="1">
              <a:spLocks/>
            </p:cNvSpPr>
            <p:nvPr/>
          </p:nvSpPr>
          <p:spPr>
            <a:xfrm>
              <a:off x="9570995" y="13532661"/>
              <a:ext cx="27188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rgbClr val="FF7B79"/>
                  </a:solidFill>
                  <a:latin typeface="Helvetica" pitchFamily="2" charset="0"/>
                </a:rPr>
                <a:t>GSST and Sb</a:t>
              </a:r>
              <a:r>
                <a:rPr lang="en-GB" sz="2400" baseline="-25000" dirty="0">
                  <a:solidFill>
                    <a:srgbClr val="FF7B79"/>
                  </a:solidFill>
                  <a:latin typeface="Helvetica" pitchFamily="2" charset="0"/>
                </a:rPr>
                <a:t>2</a:t>
              </a:r>
              <a:r>
                <a:rPr lang="en-GB" sz="2400" dirty="0">
                  <a:solidFill>
                    <a:srgbClr val="FF7B79"/>
                  </a:solidFill>
                  <a:latin typeface="Helvetica" pitchFamily="2" charset="0"/>
                </a:rPr>
                <a:t>S</a:t>
              </a:r>
              <a:r>
                <a:rPr lang="en-GB" sz="2400" baseline="-25000" dirty="0">
                  <a:solidFill>
                    <a:srgbClr val="FF7B79"/>
                  </a:solidFill>
                  <a:latin typeface="Helvetica" pitchFamily="2" charset="0"/>
                </a:rPr>
                <a:t>3</a:t>
              </a:r>
              <a:r>
                <a:rPr lang="en-GB" sz="2400" dirty="0">
                  <a:solidFill>
                    <a:srgbClr val="FF7B79"/>
                  </a:solidFill>
                  <a:latin typeface="Helvetica" pitchFamily="2" charset="0"/>
                </a:rPr>
                <a:t> </a:t>
              </a:r>
              <a:endParaRPr lang="en-GB" sz="2400" dirty="0">
                <a:solidFill>
                  <a:srgbClr val="FF7B79"/>
                </a:solidFill>
                <a:latin typeface="Helvetica" pitchFamily="2" charset="0"/>
                <a:cs typeface="KMITLGO" panose="02000000000000000000" pitchFamily="2" charset="0"/>
              </a:endParaRPr>
            </a:p>
          </p:txBody>
        </p:sp>
      </p:grpSp>
      <p:grpSp>
        <p:nvGrpSpPr>
          <p:cNvPr id="1036" name="Group 1035">
            <a:extLst>
              <a:ext uri="{FF2B5EF4-FFF2-40B4-BE49-F238E27FC236}">
                <a16:creationId xmlns:a16="http://schemas.microsoft.com/office/drawing/2014/main" id="{E6BC31D6-1F3A-7BB8-A6BF-6638C2705C70}"/>
              </a:ext>
            </a:extLst>
          </p:cNvPr>
          <p:cNvGrpSpPr/>
          <p:nvPr/>
        </p:nvGrpSpPr>
        <p:grpSpPr>
          <a:xfrm>
            <a:off x="262154" y="16875192"/>
            <a:ext cx="18178243" cy="4524315"/>
            <a:chOff x="262154" y="17877230"/>
            <a:chExt cx="18178243" cy="452431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93A49D2-ACB4-A20C-A835-2467208A2B95}"/>
                </a:ext>
              </a:extLst>
            </p:cNvPr>
            <p:cNvSpPr txBox="1">
              <a:spLocks/>
            </p:cNvSpPr>
            <p:nvPr/>
          </p:nvSpPr>
          <p:spPr>
            <a:xfrm>
              <a:off x="262154" y="17877230"/>
              <a:ext cx="18178243" cy="4524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800" b="1" dirty="0">
                  <a:solidFill>
                    <a:srgbClr val="FFE6B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2. Theory</a:t>
              </a:r>
              <a:endParaRPr lang="en-GB" sz="1600" b="1" dirty="0">
                <a:solidFill>
                  <a:srgbClr val="9DE3D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571500" indent="-571500">
                <a:buFontTx/>
                <a:buChar char="-"/>
              </a:pPr>
              <a:r>
                <a:rPr lang="en-GB" sz="4000" dirty="0">
                  <a:latin typeface="Arial" panose="020B0604020202020204" pitchFamily="34" charset="0"/>
                  <a:cs typeface="Arial" panose="020B0604020202020204" pitchFamily="34" charset="0"/>
                </a:rPr>
                <a:t>Anti-reflection is archived by </a:t>
              </a:r>
              <a:r>
                <a:rPr lang="en-GB" sz="4000" b="1" u="sng" dirty="0">
                  <a:solidFill>
                    <a:srgbClr val="9DE3D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QWOT</a:t>
              </a:r>
              <a:r>
                <a:rPr lang="en-GB" sz="4000" dirty="0"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  <a:p>
              <a:pPr marL="685800" indent="-685800">
                <a:buFontTx/>
                <a:buChar char="-"/>
              </a:pP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Resonant cavity </a:t>
              </a:r>
              <a:r>
                <a:rPr lang="en-GB" sz="4000" dirty="0">
                  <a:latin typeface="Arial" panose="020B0604020202020204" pitchFamily="34" charset="0"/>
                  <a:cs typeface="Arial" panose="020B0604020202020204" pitchFamily="34" charset="0"/>
                </a:rPr>
                <a:t>allows light to cycle through the central PCM layer(s) multiple times, </a:t>
              </a:r>
              <a:r>
                <a:rPr lang="en-GB" sz="4000" dirty="0">
                  <a:solidFill>
                    <a:srgbClr val="FF7B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increasing the total absorptivity.</a:t>
              </a:r>
            </a:p>
            <a:p>
              <a:pPr marL="571500" indent="-571500">
                <a:buFontTx/>
                <a:buChar char="-"/>
              </a:pPr>
              <a:r>
                <a:rPr lang="en-US" sz="4000" b="1" dirty="0">
                  <a:solidFill>
                    <a:srgbClr val="80B6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Asymmetrical resonant cavity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with different number of unit cell on each side, it’s possible to restore resonance even with high </a:t>
              </a:r>
              <a:r>
                <a:rPr lang="en-US" sz="4000" i="1" dirty="0">
                  <a:latin typeface="Arial" panose="020B0604020202020204" pitchFamily="34" charset="0"/>
                  <a:cs typeface="Arial" panose="020B0604020202020204" pitchFamily="34" charset="0"/>
                </a:rPr>
                <a:t>k index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material.</a:t>
              </a:r>
            </a:p>
          </p:txBody>
        </p:sp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E6E80447-ED25-5EEE-F98D-C861292CEBCD}"/>
                </a:ext>
              </a:extLst>
            </p:cNvPr>
            <p:cNvSpPr txBox="1">
              <a:spLocks/>
            </p:cNvSpPr>
            <p:nvPr/>
          </p:nvSpPr>
          <p:spPr>
            <a:xfrm>
              <a:off x="6509203" y="18884829"/>
              <a:ext cx="4170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9DE3D1"/>
                  </a:solidFill>
                  <a:latin typeface="Helvetica" pitchFamily="2" charset="0"/>
                  <a:cs typeface="KMITLGO" panose="02000000000000000000" pitchFamily="2" charset="0"/>
                </a:rPr>
                <a:t>Quarter-wave</a:t>
              </a:r>
              <a:r>
                <a:rPr lang="en-US" sz="2000" dirty="0">
                  <a:solidFill>
                    <a:srgbClr val="9DE3D1"/>
                  </a:solidFill>
                  <a:latin typeface="Helvetica" pitchFamily="2" charset="0"/>
                  <a:cs typeface="KMITLGO" panose="02000000000000000000" pitchFamily="2" charset="0"/>
                </a:rPr>
                <a:t> optical thickness</a:t>
              </a:r>
              <a:endParaRPr lang="en-GB" sz="2000" dirty="0">
                <a:solidFill>
                  <a:srgbClr val="9DE3D1"/>
                </a:solidFill>
                <a:latin typeface="Helvetica" pitchFamily="2" charset="0"/>
                <a:cs typeface="KMITLGO" panose="02000000000000000000" pitchFamily="2" charset="0"/>
              </a:endParaRPr>
            </a:p>
          </p:txBody>
        </p:sp>
      </p:grp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AEF5B64A-0DFE-CBF7-C8EC-116BF02A7EC7}"/>
              </a:ext>
            </a:extLst>
          </p:cNvPr>
          <p:cNvCxnSpPr>
            <a:cxnSpLocks/>
          </p:cNvCxnSpPr>
          <p:nvPr/>
        </p:nvCxnSpPr>
        <p:spPr>
          <a:xfrm flipH="1">
            <a:off x="349949" y="9464085"/>
            <a:ext cx="2957531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70" name="Group 1069">
            <a:extLst>
              <a:ext uri="{FF2B5EF4-FFF2-40B4-BE49-F238E27FC236}">
                <a16:creationId xmlns:a16="http://schemas.microsoft.com/office/drawing/2014/main" id="{48C182C7-49D3-C845-EF54-E9CCE7EC056C}"/>
              </a:ext>
            </a:extLst>
          </p:cNvPr>
          <p:cNvGrpSpPr/>
          <p:nvPr/>
        </p:nvGrpSpPr>
        <p:grpSpPr>
          <a:xfrm>
            <a:off x="841250" y="21445745"/>
            <a:ext cx="14715295" cy="18706920"/>
            <a:chOff x="841250" y="21445745"/>
            <a:chExt cx="14715295" cy="18706920"/>
          </a:xfrm>
        </p:grpSpPr>
        <p:grpSp>
          <p:nvGrpSpPr>
            <p:cNvPr id="1064" name="Group 1063">
              <a:extLst>
                <a:ext uri="{FF2B5EF4-FFF2-40B4-BE49-F238E27FC236}">
                  <a16:creationId xmlns:a16="http://schemas.microsoft.com/office/drawing/2014/main" id="{0FA9BDB7-3391-66A9-412E-954CE914CCE1}"/>
                </a:ext>
              </a:extLst>
            </p:cNvPr>
            <p:cNvGrpSpPr/>
            <p:nvPr/>
          </p:nvGrpSpPr>
          <p:grpSpPr>
            <a:xfrm>
              <a:off x="4876516" y="21445745"/>
              <a:ext cx="10680029" cy="18706920"/>
              <a:chOff x="4899934" y="21445745"/>
              <a:chExt cx="10680029" cy="18706920"/>
            </a:xfrm>
          </p:grpSpPr>
          <p:grpSp>
            <p:nvGrpSpPr>
              <p:cNvPr id="1046" name="Group 1045">
                <a:extLst>
                  <a:ext uri="{FF2B5EF4-FFF2-40B4-BE49-F238E27FC236}">
                    <a16:creationId xmlns:a16="http://schemas.microsoft.com/office/drawing/2014/main" id="{40A6F0FC-9032-0F22-EA7C-37DDF4AF2DDC}"/>
                  </a:ext>
                </a:extLst>
              </p:cNvPr>
              <p:cNvGrpSpPr/>
              <p:nvPr/>
            </p:nvGrpSpPr>
            <p:grpSpPr>
              <a:xfrm>
                <a:off x="4899934" y="22528498"/>
                <a:ext cx="10680029" cy="17624167"/>
                <a:chOff x="5043949" y="22528498"/>
                <a:chExt cx="10680029" cy="17624167"/>
              </a:xfrm>
            </p:grpSpPr>
            <p:pic>
              <p:nvPicPr>
                <p:cNvPr id="1041" name="Picture 1040" descr="A graph with lines and numbers&#10;&#10;AI-generated content may be incorrect.">
                  <a:extLst>
                    <a:ext uri="{FF2B5EF4-FFF2-40B4-BE49-F238E27FC236}">
                      <a16:creationId xmlns:a16="http://schemas.microsoft.com/office/drawing/2014/main" id="{1DC63884-F0EB-4335-F403-B8C6FA3B0A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543" t="4917" r="6433" b="5723"/>
                <a:stretch>
                  <a:fillRect/>
                </a:stretch>
              </p:blipFill>
              <p:spPr>
                <a:xfrm>
                  <a:off x="5352998" y="28555283"/>
                  <a:ext cx="10087256" cy="5640218"/>
                </a:xfrm>
                <a:prstGeom prst="rect">
                  <a:avLst/>
                </a:prstGeom>
              </p:spPr>
            </p:pic>
            <p:pic>
              <p:nvPicPr>
                <p:cNvPr id="1043" name="Picture 1042" descr="A graph of a graph&#10;&#10;AI-generated content may be incorrect.">
                  <a:extLst>
                    <a:ext uri="{FF2B5EF4-FFF2-40B4-BE49-F238E27FC236}">
                      <a16:creationId xmlns:a16="http://schemas.microsoft.com/office/drawing/2014/main" id="{B8C6482F-AD28-3A35-916B-B0AA2EE965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7082" t="4730" r="6087" b="5911"/>
                <a:stretch>
                  <a:fillRect/>
                </a:stretch>
              </p:blipFill>
              <p:spPr>
                <a:xfrm>
                  <a:off x="5317766" y="34357077"/>
                  <a:ext cx="10064828" cy="5640219"/>
                </a:xfrm>
                <a:prstGeom prst="rect">
                  <a:avLst/>
                </a:prstGeom>
              </p:spPr>
            </p:pic>
            <p:pic>
              <p:nvPicPr>
                <p:cNvPr id="1039" name="Picture 1038" descr="A graph with lines and numbers&#10;&#10;AI-generated content may be incorrect.">
                  <a:extLst>
                    <a:ext uri="{FF2B5EF4-FFF2-40B4-BE49-F238E27FC236}">
                      <a16:creationId xmlns:a16="http://schemas.microsoft.com/office/drawing/2014/main" id="{579FAEB0-3E9B-A675-FDC4-9593EB5B2C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488" t="5320" r="6488" b="5320"/>
                <a:stretch>
                  <a:fillRect/>
                </a:stretch>
              </p:blipFill>
              <p:spPr>
                <a:xfrm>
                  <a:off x="5344843" y="22707673"/>
                  <a:ext cx="10087256" cy="5640218"/>
                </a:xfrm>
                <a:prstGeom prst="rect">
                  <a:avLst/>
                </a:prstGeom>
              </p:spPr>
            </p:pic>
            <p:sp>
              <p:nvSpPr>
                <p:cNvPr id="1045" name="Rectangle 1044">
                  <a:extLst>
                    <a:ext uri="{FF2B5EF4-FFF2-40B4-BE49-F238E27FC236}">
                      <a16:creationId xmlns:a16="http://schemas.microsoft.com/office/drawing/2014/main" id="{8DA63762-A5FD-DF9B-7996-A1B0F444BEF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5043949" y="22528498"/>
                  <a:ext cx="10680029" cy="17624167"/>
                </a:xfrm>
                <a:prstGeom prst="rect">
                  <a:avLst/>
                </a:prstGeom>
                <a:noFill/>
                <a:ln w="76200">
                  <a:solidFill>
                    <a:srgbClr val="9DE3D1"/>
                  </a:solidFill>
                  <a:extLst>
                    <a:ext uri="{C807C97D-BFC1-408E-A445-0C87EB9F89A2}">
                      <ask:lineSketchStyleProps xmlns:ask="http://schemas.microsoft.com/office/drawing/2018/sketchyshapes" sd="1115573714">
                        <a:custGeom>
                          <a:avLst/>
                          <a:gdLst>
                            <a:gd name="csX0" fmla="*/ 0 w 10680029"/>
                            <a:gd name="csY0" fmla="*/ 0 h 17624167"/>
                            <a:gd name="csX1" fmla="*/ 10680029 w 10680029"/>
                            <a:gd name="csY1" fmla="*/ 0 h 17624167"/>
                            <a:gd name="csX2" fmla="*/ 10680029 w 10680029"/>
                            <a:gd name="csY2" fmla="*/ 17624167 h 17624167"/>
                            <a:gd name="csX3" fmla="*/ 0 w 10680029"/>
                            <a:gd name="csY3" fmla="*/ 17624167 h 17624167"/>
                            <a:gd name="csX4" fmla="*/ 0 w 10680029"/>
                            <a:gd name="csY4" fmla="*/ 0 h 17624167"/>
                          </a:gdLst>
                          <a:ahLst/>
                          <a:cxnLst>
                            <a:cxn ang="0">
                              <a:pos x="csX0" y="csY0"/>
                            </a:cxn>
                            <a:cxn ang="0">
                              <a:pos x="csX1" y="csY1"/>
                            </a:cxn>
                            <a:cxn ang="0">
                              <a:pos x="csX2" y="csY2"/>
                            </a:cxn>
                            <a:cxn ang="0">
                              <a:pos x="csX3" y="csY3"/>
                            </a:cxn>
                            <a:cxn ang="0">
                              <a:pos x="csX4" y="csY4"/>
                            </a:cxn>
                          </a:cxnLst>
                          <a:rect l="l" t="t" r="r" b="b"/>
                          <a:pathLst>
                            <a:path w="10680029" h="17624167" extrusionOk="0">
                              <a:moveTo>
                                <a:pt x="0" y="0"/>
                              </a:moveTo>
                              <a:cubicBezTo>
                                <a:pt x="4500302" y="-16372"/>
                                <a:pt x="6921311" y="-138075"/>
                                <a:pt x="10680029" y="0"/>
                              </a:cubicBezTo>
                              <a:cubicBezTo>
                                <a:pt x="10739357" y="6063394"/>
                                <a:pt x="10758071" y="13796140"/>
                                <a:pt x="10680029" y="17624167"/>
                              </a:cubicBezTo>
                              <a:cubicBezTo>
                                <a:pt x="7172939" y="17546290"/>
                                <a:pt x="1184332" y="17542759"/>
                                <a:pt x="0" y="17624167"/>
                              </a:cubicBezTo>
                              <a:cubicBezTo>
                                <a:pt x="-130867" y="11096450"/>
                                <a:pt x="-106413" y="5379806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GB" sz="18519" b="1" dirty="0">
                    <a:solidFill>
                      <a:schemeClr val="tx1"/>
                    </a:solidFill>
                    <a:latin typeface="KMITLGO" panose="02000000000000000000" pitchFamily="2" charset="0"/>
                    <a:cs typeface="KMITLGO" panose="02000000000000000000" pitchFamily="2" charset="0"/>
                  </a:endParaRPr>
                </a:p>
              </p:txBody>
            </p:sp>
          </p:grpSp>
          <p:sp>
            <p:nvSpPr>
              <p:cNvPr id="1047" name="TextBox 1046">
                <a:extLst>
                  <a:ext uri="{FF2B5EF4-FFF2-40B4-BE49-F238E27FC236}">
                    <a16:creationId xmlns:a16="http://schemas.microsoft.com/office/drawing/2014/main" id="{AFAA3822-62B0-55B6-8634-6C110AE4C9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30680" y="21445745"/>
                <a:ext cx="5846757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600" b="1" dirty="0">
                    <a:solidFill>
                      <a:srgbClr val="9DE3D1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A) 532 nm</a:t>
                </a:r>
              </a:p>
            </p:txBody>
          </p:sp>
        </p:grp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86CF066B-368E-91E3-6ADD-2E49E30B3825}"/>
                </a:ext>
              </a:extLst>
            </p:cNvPr>
            <p:cNvSpPr txBox="1">
              <a:spLocks/>
            </p:cNvSpPr>
            <p:nvPr/>
          </p:nvSpPr>
          <p:spPr>
            <a:xfrm>
              <a:off x="841250" y="24127398"/>
              <a:ext cx="4447019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T: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8% / 1%</a:t>
              </a:r>
            </a:p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R: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30% / 40%</a:t>
              </a:r>
            </a:p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Sb</a:t>
              </a:r>
              <a:r>
                <a:rPr lang="en-US" sz="4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Se</a:t>
              </a:r>
              <a:r>
                <a:rPr lang="en-US" sz="4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67.1 nm</a:t>
              </a:r>
            </a:p>
            <a:p>
              <a:r>
                <a:rPr lang="en-US" sz="4000" b="1" dirty="0">
                  <a:solidFill>
                    <a:srgbClr val="9DE3D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Total:</a:t>
              </a:r>
              <a:r>
                <a:rPr lang="en-US" sz="4000" dirty="0">
                  <a:solidFill>
                    <a:srgbClr val="9DE3D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67.1 nm</a:t>
              </a:r>
            </a:p>
          </p:txBody>
        </p:sp>
        <p:sp>
          <p:nvSpPr>
            <p:cNvPr id="1066" name="TextBox 1065">
              <a:extLst>
                <a:ext uri="{FF2B5EF4-FFF2-40B4-BE49-F238E27FC236}">
                  <a16:creationId xmlns:a16="http://schemas.microsoft.com/office/drawing/2014/main" id="{BBD0C4B3-A8A1-AA02-13F2-0CDB595FAE72}"/>
                </a:ext>
              </a:extLst>
            </p:cNvPr>
            <p:cNvSpPr txBox="1">
              <a:spLocks/>
            </p:cNvSpPr>
            <p:nvPr/>
          </p:nvSpPr>
          <p:spPr>
            <a:xfrm>
              <a:off x="847954" y="29975008"/>
              <a:ext cx="4447019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T: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34% / 10%</a:t>
              </a:r>
            </a:p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R: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0% / 2%</a:t>
              </a:r>
            </a:p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Sb</a:t>
              </a:r>
              <a:r>
                <a:rPr lang="en-US" sz="4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Se</a:t>
              </a:r>
              <a:r>
                <a:rPr lang="en-US" sz="4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38.5 nm</a:t>
              </a:r>
            </a:p>
            <a:p>
              <a:r>
                <a:rPr lang="en-US" sz="4000" b="1" dirty="0">
                  <a:solidFill>
                    <a:srgbClr val="9DE3D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Total:</a:t>
              </a:r>
              <a:r>
                <a:rPr lang="en-US" sz="4000" dirty="0">
                  <a:solidFill>
                    <a:srgbClr val="9DE3D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433.2 nm</a:t>
              </a:r>
            </a:p>
          </p:txBody>
        </p:sp>
        <p:sp>
          <p:nvSpPr>
            <p:cNvPr id="1067" name="TextBox 1066">
              <a:extLst>
                <a:ext uri="{FF2B5EF4-FFF2-40B4-BE49-F238E27FC236}">
                  <a16:creationId xmlns:a16="http://schemas.microsoft.com/office/drawing/2014/main" id="{E73FD1E0-0DB5-67C6-2392-71E8A87B8B7B}"/>
                </a:ext>
              </a:extLst>
            </p:cNvPr>
            <p:cNvSpPr txBox="1">
              <a:spLocks/>
            </p:cNvSpPr>
            <p:nvPr/>
          </p:nvSpPr>
          <p:spPr>
            <a:xfrm>
              <a:off x="845129" y="35482958"/>
              <a:ext cx="4447019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T: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50% / 24%</a:t>
              </a:r>
            </a:p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R: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0% / 6%</a:t>
              </a:r>
            </a:p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Sb</a:t>
              </a:r>
              <a:r>
                <a:rPr lang="en-US" sz="4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Se</a:t>
              </a:r>
              <a:r>
                <a:rPr lang="en-US" sz="4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5.4 nm</a:t>
              </a:r>
            </a:p>
            <a:p>
              <a:r>
                <a:rPr lang="en-US" sz="4000" b="1" dirty="0">
                  <a:solidFill>
                    <a:srgbClr val="9DE3D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Total:</a:t>
              </a:r>
              <a:r>
                <a:rPr lang="en-US" sz="4000" dirty="0">
                  <a:solidFill>
                    <a:srgbClr val="9DE3D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591.9 nm</a:t>
              </a:r>
            </a:p>
          </p:txBody>
        </p:sp>
      </p:grp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42900386-5C13-1B29-103C-93D3D2635156}"/>
              </a:ext>
            </a:extLst>
          </p:cNvPr>
          <p:cNvGrpSpPr/>
          <p:nvPr/>
        </p:nvGrpSpPr>
        <p:grpSpPr>
          <a:xfrm>
            <a:off x="15693774" y="26482296"/>
            <a:ext cx="14128045" cy="13696372"/>
            <a:chOff x="15693774" y="26482296"/>
            <a:chExt cx="14128045" cy="13696372"/>
          </a:xfrm>
        </p:grpSpPr>
        <p:grpSp>
          <p:nvGrpSpPr>
            <p:cNvPr id="1063" name="Group 1062">
              <a:extLst>
                <a:ext uri="{FF2B5EF4-FFF2-40B4-BE49-F238E27FC236}">
                  <a16:creationId xmlns:a16="http://schemas.microsoft.com/office/drawing/2014/main" id="{390D47A4-33CA-D8A7-0327-1D973AFC0581}"/>
                </a:ext>
              </a:extLst>
            </p:cNvPr>
            <p:cNvGrpSpPr/>
            <p:nvPr/>
          </p:nvGrpSpPr>
          <p:grpSpPr>
            <a:xfrm>
              <a:off x="19140619" y="26482296"/>
              <a:ext cx="10681200" cy="13696372"/>
              <a:chOff x="18993646" y="26364308"/>
              <a:chExt cx="10844880" cy="13696372"/>
            </a:xfrm>
          </p:grpSpPr>
          <p:pic>
            <p:nvPicPr>
              <p:cNvPr id="1049" name="Picture 1048" descr="A diagram of a graph&#10;&#10;AI-generated content may be incorrect.">
                <a:extLst>
                  <a:ext uri="{FF2B5EF4-FFF2-40B4-BE49-F238E27FC236}">
                    <a16:creationId xmlns:a16="http://schemas.microsoft.com/office/drawing/2014/main" id="{6621DE74-A82F-2EA1-3939-5E49F719FE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37" t="5777" r="5563" b="5017"/>
              <a:stretch>
                <a:fillRect/>
              </a:stretch>
            </p:blipFill>
            <p:spPr>
              <a:xfrm>
                <a:off x="19215999" y="27722823"/>
                <a:ext cx="10467609" cy="5940000"/>
              </a:xfrm>
              <a:prstGeom prst="rect">
                <a:avLst/>
              </a:prstGeom>
            </p:spPr>
          </p:pic>
          <p:pic>
            <p:nvPicPr>
              <p:cNvPr id="1051" name="Picture 1050" descr="A graph of a diagram&#10;&#10;AI-generated content may be incorrect.">
                <a:extLst>
                  <a:ext uri="{FF2B5EF4-FFF2-40B4-BE49-F238E27FC236}">
                    <a16:creationId xmlns:a16="http://schemas.microsoft.com/office/drawing/2014/main" id="{160643B1-0F28-4DE5-BE30-E4EF52DBFB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37" t="5450" r="5563" b="5335"/>
              <a:stretch>
                <a:fillRect/>
              </a:stretch>
            </p:blipFill>
            <p:spPr>
              <a:xfrm>
                <a:off x="19217146" y="33913342"/>
                <a:ext cx="10466462" cy="5940000"/>
              </a:xfrm>
              <a:prstGeom prst="rect">
                <a:avLst/>
              </a:prstGeom>
            </p:spPr>
          </p:pic>
          <p:sp>
            <p:nvSpPr>
              <p:cNvPr id="1061" name="Rectangle 1060">
                <a:extLst>
                  <a:ext uri="{FF2B5EF4-FFF2-40B4-BE49-F238E27FC236}">
                    <a16:creationId xmlns:a16="http://schemas.microsoft.com/office/drawing/2014/main" id="{72976EE3-50C8-2164-C2B4-C02B26DE7A1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8993646" y="27391821"/>
                <a:ext cx="10844880" cy="12668859"/>
              </a:xfrm>
              <a:prstGeom prst="rect">
                <a:avLst/>
              </a:prstGeom>
              <a:noFill/>
              <a:ln w="76200">
                <a:solidFill>
                  <a:srgbClr val="FF7B79"/>
                </a:solidFill>
                <a:extLst>
                  <a:ext uri="{C807C97D-BFC1-408E-A445-0C87EB9F89A2}">
                    <ask:lineSketchStyleProps xmlns:ask="http://schemas.microsoft.com/office/drawing/2018/sketchyshapes" sd="1115573714">
                      <a:custGeom>
                        <a:avLst/>
                        <a:gdLst>
                          <a:gd name="csX0" fmla="*/ 0 w 10680029"/>
                          <a:gd name="csY0" fmla="*/ 0 h 17624167"/>
                          <a:gd name="csX1" fmla="*/ 10680029 w 10680029"/>
                          <a:gd name="csY1" fmla="*/ 0 h 17624167"/>
                          <a:gd name="csX2" fmla="*/ 10680029 w 10680029"/>
                          <a:gd name="csY2" fmla="*/ 17624167 h 17624167"/>
                          <a:gd name="csX3" fmla="*/ 0 w 10680029"/>
                          <a:gd name="csY3" fmla="*/ 17624167 h 17624167"/>
                          <a:gd name="csX4" fmla="*/ 0 w 10680029"/>
                          <a:gd name="csY4" fmla="*/ 0 h 17624167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10680029" h="17624167" extrusionOk="0">
                            <a:moveTo>
                              <a:pt x="0" y="0"/>
                            </a:moveTo>
                            <a:cubicBezTo>
                              <a:pt x="4500302" y="-16372"/>
                              <a:pt x="6921311" y="-138075"/>
                              <a:pt x="10680029" y="0"/>
                            </a:cubicBezTo>
                            <a:cubicBezTo>
                              <a:pt x="10739357" y="6063394"/>
                              <a:pt x="10758071" y="13796140"/>
                              <a:pt x="10680029" y="17624167"/>
                            </a:cubicBezTo>
                            <a:cubicBezTo>
                              <a:pt x="7172939" y="17546290"/>
                              <a:pt x="1184332" y="17542759"/>
                              <a:pt x="0" y="17624167"/>
                            </a:cubicBezTo>
                            <a:cubicBezTo>
                              <a:pt x="-130867" y="11096450"/>
                              <a:pt x="-106413" y="5379806"/>
                              <a:pt x="0" y="0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GB" sz="18519" b="1" dirty="0">
                  <a:solidFill>
                    <a:schemeClr val="tx1"/>
                  </a:solidFill>
                  <a:latin typeface="KMITLGO" panose="02000000000000000000" pitchFamily="2" charset="0"/>
                  <a:cs typeface="KMITLGO" panose="02000000000000000000" pitchFamily="2" charset="0"/>
                </a:endParaRPr>
              </a:p>
            </p:txBody>
          </p:sp>
          <p:sp>
            <p:nvSpPr>
              <p:cNvPr id="1062" name="TextBox 1061">
                <a:extLst>
                  <a:ext uri="{FF2B5EF4-FFF2-40B4-BE49-F238E27FC236}">
                    <a16:creationId xmlns:a16="http://schemas.microsoft.com/office/drawing/2014/main" id="{C2333D62-397D-5942-B03E-98CE1C6A60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30563" y="26364308"/>
                <a:ext cx="5846757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6600" dirty="0">
                    <a:solidFill>
                      <a:srgbClr val="FF7B79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B) 1064 nm</a:t>
                </a:r>
              </a:p>
            </p:txBody>
          </p:sp>
        </p:grp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5DE1A6AB-AD8A-3616-02C1-BC961720BFD7}"/>
                </a:ext>
              </a:extLst>
            </p:cNvPr>
            <p:cNvSpPr txBox="1">
              <a:spLocks/>
            </p:cNvSpPr>
            <p:nvPr/>
          </p:nvSpPr>
          <p:spPr>
            <a:xfrm>
              <a:off x="15693774" y="29975008"/>
              <a:ext cx="4447019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T: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100% / 29%</a:t>
              </a:r>
            </a:p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R: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0% / 1%</a:t>
              </a:r>
            </a:p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Sb</a:t>
              </a:r>
              <a:r>
                <a:rPr lang="en-US" sz="4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Se</a:t>
              </a:r>
              <a:r>
                <a:rPr lang="en-US" sz="4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157.9</a:t>
              </a:r>
            </a:p>
            <a:p>
              <a:r>
                <a:rPr lang="en-US" sz="4000" b="1" dirty="0">
                  <a:solidFill>
                    <a:srgbClr val="FF7B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Total:</a:t>
              </a:r>
              <a:r>
                <a:rPr lang="en-US" sz="4000" dirty="0">
                  <a:solidFill>
                    <a:srgbClr val="FF7B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157.9</a:t>
              </a:r>
            </a:p>
          </p:txBody>
        </p:sp>
        <p:sp>
          <p:nvSpPr>
            <p:cNvPr id="1069" name="TextBox 1068">
              <a:extLst>
                <a:ext uri="{FF2B5EF4-FFF2-40B4-BE49-F238E27FC236}">
                  <a16:creationId xmlns:a16="http://schemas.microsoft.com/office/drawing/2014/main" id="{ABD40F96-17D9-53A4-CAC1-432EB35BD390}"/>
                </a:ext>
              </a:extLst>
            </p:cNvPr>
            <p:cNvSpPr txBox="1">
              <a:spLocks/>
            </p:cNvSpPr>
            <p:nvPr/>
          </p:nvSpPr>
          <p:spPr>
            <a:xfrm>
              <a:off x="15693774" y="35482957"/>
              <a:ext cx="4447019" cy="2554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T: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100% / 26%</a:t>
              </a:r>
            </a:p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R: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0% / 1%</a:t>
              </a:r>
            </a:p>
            <a:p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Sb</a:t>
              </a:r>
              <a:r>
                <a:rPr lang="en-US" sz="4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Se</a:t>
              </a:r>
              <a:r>
                <a:rPr lang="en-US" sz="4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4000" b="1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4000" dirty="0">
                  <a:latin typeface="Arial" panose="020B0604020202020204" pitchFamily="34" charset="0"/>
                  <a:cs typeface="Arial" panose="020B0604020202020204" pitchFamily="34" charset="0"/>
                </a:rPr>
                <a:t>105</a:t>
              </a:r>
            </a:p>
            <a:p>
              <a:r>
                <a:rPr lang="en-US" sz="4000" b="1" dirty="0">
                  <a:solidFill>
                    <a:srgbClr val="FF7B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Total:</a:t>
              </a:r>
              <a:r>
                <a:rPr lang="en-US" sz="4000" dirty="0">
                  <a:solidFill>
                    <a:srgbClr val="FF7B79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1496.4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019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2656</TotalTime>
  <Words>1684</Words>
  <Application>Microsoft Office PowerPoint</Application>
  <PresentationFormat>Custom</PresentationFormat>
  <Paragraphs>151</Paragraphs>
  <Slides>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Google Sans</vt:lpstr>
      <vt:lpstr>Aptos</vt:lpstr>
      <vt:lpstr>Arial</vt:lpstr>
      <vt:lpstr>Calibri</vt:lpstr>
      <vt:lpstr>Calibri Light</vt:lpstr>
      <vt:lpstr>Cambria Math</vt:lpstr>
      <vt:lpstr>Helvetica</vt:lpstr>
      <vt:lpstr>KMITLGO</vt:lpstr>
      <vt:lpstr>Segoe UI Black</vt:lpstr>
      <vt:lpstr>Segoe UI Semibold</vt:lpstr>
      <vt:lpstr>Office 2013 - 2022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Chettanat Padungatthakij</dc:creator>
  <cp:lastModifiedBy>Chettanat Padungatthakij</cp:lastModifiedBy>
  <cp:revision>75</cp:revision>
  <dcterms:created xsi:type="dcterms:W3CDTF">2025-02-13T06:46:43Z</dcterms:created>
  <dcterms:modified xsi:type="dcterms:W3CDTF">2025-12-09T14:47:00Z</dcterms:modified>
</cp:coreProperties>
</file>