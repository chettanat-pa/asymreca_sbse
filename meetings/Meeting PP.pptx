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7" r:id="rId3"/>
    <p:sldId id="256" r:id="rId4"/>
    <p:sldId id="260" r:id="rId5"/>
    <p:sldId id="258" r:id="rId6"/>
    <p:sldId id="264" r:id="rId7"/>
    <p:sldId id="282" r:id="rId8"/>
    <p:sldId id="296" r:id="rId9"/>
    <p:sldId id="265" r:id="rId10"/>
    <p:sldId id="263" r:id="rId11"/>
    <p:sldId id="294" r:id="rId12"/>
    <p:sldId id="295" r:id="rId13"/>
    <p:sldId id="299" r:id="rId14"/>
    <p:sldId id="297" r:id="rId15"/>
    <p:sldId id="298" r:id="rId16"/>
    <p:sldId id="301" r:id="rId17"/>
    <p:sldId id="303" r:id="rId18"/>
    <p:sldId id="304" r:id="rId19"/>
    <p:sldId id="300" r:id="rId20"/>
    <p:sldId id="305" r:id="rId21"/>
    <p:sldId id="306" r:id="rId22"/>
    <p:sldId id="307" r:id="rId23"/>
    <p:sldId id="308" r:id="rId24"/>
    <p:sldId id="313" r:id="rId25"/>
    <p:sldId id="311" r:id="rId26"/>
    <p:sldId id="312" r:id="rId27"/>
    <p:sldId id="314" r:id="rId28"/>
    <p:sldId id="31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3178-D3D4-0096-DA68-C260ABF22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6FD15-8A4E-6021-7EB2-DD6DF2711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56D2B-6243-3704-6F76-36BA55222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DB155-7616-5A3E-D42F-586BCAA5E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AA617-6E5A-2A50-1724-EAB298B5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460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A115-0147-3713-D89A-71D43E81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33845-C773-F50B-ECC0-3BB570EB0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92CFE-4C44-64DF-872D-D8F248BE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0E40E-24CA-4717-EC5D-6A6A2C61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593FB-8950-7C1D-A845-83DD5FA2C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970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9F23-3FBE-202B-DFB3-857B1443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508D5-DC9F-06B6-9D52-C999970B3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A5133-E3BB-2FC5-5422-12C76BD30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3082C-5A05-435D-F07B-AB605A61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4AAD9-75D6-3469-CAB7-EC00D1BD8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83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64B9B-6403-E5AD-3667-A6C6A33E3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DAF1B-D610-8490-7F6D-233DE94AD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BE999-FE9A-7BA9-A17C-7884280DE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BA440-0B91-EC3D-9070-F1532669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D12C7-8CDF-D297-5C06-60B57CA32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A9824-538C-192A-0D6B-A193CAA6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67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51E7-97E9-DDD1-9016-032991FCF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478A8-03D5-9B14-54FC-DC81815C1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93F5E-3D75-06A3-602A-484BF1603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CC0CC-633F-A1E5-62D9-F4815FC2D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E13BB5-339F-49D5-07D7-82FFB3492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82BBF-95C4-6064-24B0-1E293164B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2D3194-9B00-8E53-1EAA-3742A8AAC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1807A-0A58-D107-EE12-AD308228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5105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CC0A-07F7-0A63-EE88-E0AC7ACA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4782B5-04C2-BA2C-D30C-884C1AC1A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B37D6-B8DD-ADB8-A55D-1900283A6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87F39-B5CD-CF4A-DB57-FA742C39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4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CAD16-C44C-9C46-A930-6F403E3E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2E053-695E-112E-D322-950C12495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95FD9-0DBB-9985-C711-87ABE9334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73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2F939-8C5C-D07E-D658-8B4E091CA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EB27E-9E0B-7F0C-26D1-56BCEA09B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3561C-3857-68E5-EE07-0940F5F2F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FB173-2FA7-1518-C3E1-C3A57071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25076-F161-FA94-4D35-1B544D8F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9D879-9829-8D4A-AE76-3F9C17F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621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E0972-96C1-0B14-5B58-E3ED5BAED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899BCA-BA56-A964-3F6B-1F02DCA7D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CDB47-6FC0-4AAE-2D44-BCA09D9BD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DD5FC-A2BD-7720-1470-90D1AFF2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1B25E-178B-C4C2-EDBD-F80217B6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D4D72-DB94-54B4-456F-E4C9843C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37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2963-2A4E-9365-9CB0-2F864616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9C1FA-8ABF-BF3A-077E-506D1F81A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C5478-68C5-CE41-7275-E67539A7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51D95-4728-D316-DF04-3A5EF8FA6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DA4BE-0C40-8ABE-1B91-F0CE3755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72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2F61F-81DF-8E2B-D50A-5B73FA503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460DA-30DF-FA64-9C13-99F9B8F70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50572-FF85-5345-58C8-5DAD6A8C4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D8A80-CA4D-A785-6CE9-E931E9E8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19608-EC98-120D-F9C8-3D2C3B71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712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85D22-0F8C-C446-A5DA-F838D1B2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1E10C-51D8-1E2B-F6A1-293E4C8C4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FE768-0F30-B717-737B-0EB7BC670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95DD63-6668-4FD6-91E0-C37FAC7BA147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6C71F-5C36-DECF-2F82-9EB16D058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9DED1-7B79-A14C-2913-02316CB24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820CA-1219-421C-8D8E-1E0B91B2E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95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5258/SOTON/D124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i.org/10.1016/j.solmat.2019.110260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5258/SOTON/D124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364/OME.509434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826517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90E5-C6A9-8466-62A9-5EACDF5924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Ideas</a:t>
            </a:r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68687-9F70-55DC-C6E9-C046863AC7D7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GB" dirty="0"/>
              <a:t>27/11/2025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82451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88116F9F-198F-2D76-AEE5-D2EF73EAF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35" t="8417" r="6887" b="5886"/>
          <a:stretch>
            <a:fillRect/>
          </a:stretch>
        </p:blipFill>
        <p:spPr>
          <a:xfrm>
            <a:off x="2406770" y="2635249"/>
            <a:ext cx="7530860" cy="42199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C07BED-C07C-AD27-3147-CEA4BF84B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Refractive index @1550nm Sb</a:t>
            </a:r>
            <a:r>
              <a:rPr lang="en-US" sz="4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n-US" sz="4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vs VO</a:t>
            </a:r>
            <a:r>
              <a:rPr lang="en-US" sz="4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GB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AD0A6-7A6C-2C5F-9094-507632B2A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030641"/>
            <a:ext cx="5157787" cy="823912"/>
          </a:xfrm>
        </p:spPr>
        <p:txBody>
          <a:bodyPr>
            <a:normAutofit fontScale="77500" lnSpcReduction="20000"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Sb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Se3 (T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transition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= 186 °C)</a:t>
            </a:r>
          </a:p>
          <a:p>
            <a:r>
              <a:rPr lang="en-GB" sz="1600" b="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Dataset for A new family of ultra-low loss reversible phase change materials for photonic integrated circuits: Sb2S3 and Sb2Se3</a:t>
            </a:r>
            <a:endParaRPr lang="en-GB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A5695-EE8B-AD4A-B2FE-CA2E4C5AE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22969"/>
            <a:ext cx="5157787" cy="368458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Amorphous: 3.2854 + 0.0000j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Crystalline: 4.0499 + 0.0002j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7DA287-71E2-3079-E749-4B38B9685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30641"/>
            <a:ext cx="5183188" cy="823912"/>
          </a:xfrm>
        </p:spPr>
        <p:txBody>
          <a:bodyPr>
            <a:normAutofit fontScale="77500" lnSpcReduction="20000"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VO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(25/100 °C; T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trans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= 68 °C (volatile))</a:t>
            </a:r>
            <a:endParaRPr lang="en-US" sz="2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b="0" dirty="0">
                <a:hlinkClick r:id="rId4"/>
              </a:rPr>
              <a:t>Thermochromic VO</a:t>
            </a:r>
            <a:r>
              <a:rPr lang="en-GB" sz="1600" b="0" baseline="-25000" dirty="0">
                <a:hlinkClick r:id="rId4"/>
              </a:rPr>
              <a:t>2</a:t>
            </a:r>
            <a:r>
              <a:rPr lang="en-GB" sz="1600" b="0" dirty="0">
                <a:hlinkClick r:id="rId4"/>
              </a:rPr>
              <a:t>-based smart radiator devices with ultralow refractive index cavities for increased performance</a:t>
            </a:r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99028-175B-8C8B-43A9-9CB828A38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22969"/>
            <a:ext cx="5183188" cy="368458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Amorphous: 3.1462 + 0.3388j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Metallic: 1.9277 + 2.9058j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66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1F310C30-0287-E3F8-5A90-A410A512D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4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7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B686B-F3AB-0D22-1900-D49E4DE6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9369D45-1C3F-0939-BA42-0E0AE2E59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7" t="8418" r="6550" b="4267"/>
          <a:stretch>
            <a:fillRect/>
          </a:stretch>
        </p:blipFill>
        <p:spPr>
          <a:xfrm>
            <a:off x="2514092" y="2646881"/>
            <a:ext cx="7376602" cy="4167668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701D113-7976-B0E1-334D-11BCEC4AC16F}"/>
              </a:ext>
            </a:extLst>
          </p:cNvPr>
          <p:cNvSpPr txBox="1">
            <a:spLocks/>
          </p:cNvSpPr>
          <p:nvPr/>
        </p:nvSpPr>
        <p:spPr>
          <a:xfrm>
            <a:off x="6172200" y="1030641"/>
            <a:ext cx="5183188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GST (T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trans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= 150 °C, T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amorphization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= 600 °C)</a:t>
            </a:r>
          </a:p>
          <a:p>
            <a:r>
              <a:rPr lang="en-GB" sz="1600" b="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Dataset for A new family of ultra-low loss reversible phase change materials for photonic integrated circuits: Sb2S3 and Sb2Se3</a:t>
            </a:r>
            <a:endParaRPr lang="en-GB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999C84E-22AB-4CD2-A6E0-6BFCA9860F2E}"/>
              </a:ext>
            </a:extLst>
          </p:cNvPr>
          <p:cNvSpPr txBox="1">
            <a:spLocks/>
          </p:cNvSpPr>
          <p:nvPr/>
        </p:nvSpPr>
        <p:spPr>
          <a:xfrm>
            <a:off x="839788" y="1822969"/>
            <a:ext cx="5157787" cy="1348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Amorphous: 3.2854 + 0.0000j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Crystalline: 4.0499 + 0.0002j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AB3F5F77-1B31-B433-7467-84A9AD0A9A5F}"/>
              </a:ext>
            </a:extLst>
          </p:cNvPr>
          <p:cNvSpPr txBox="1">
            <a:spLocks/>
          </p:cNvSpPr>
          <p:nvPr/>
        </p:nvSpPr>
        <p:spPr>
          <a:xfrm>
            <a:off x="6172200" y="1822969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Amorphous: 4.3534 + 0.0608j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Crystalline : 7.9132 + 1.0331j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350C82-BD33-8BDE-B2D7-10A565A9C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Refractive index @1550nm Sb</a:t>
            </a:r>
            <a:r>
              <a:rPr lang="en-US" sz="4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n-US" sz="4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vs GST</a:t>
            </a:r>
            <a:endParaRPr lang="en-GB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0CF5C30-0241-7043-7062-D352EAEAB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030641"/>
            <a:ext cx="5157787" cy="823912"/>
          </a:xfrm>
        </p:spPr>
        <p:txBody>
          <a:bodyPr>
            <a:normAutofit fontScale="77500" lnSpcReduction="20000"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Sb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Se3 (T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transition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= 186 °C)</a:t>
            </a:r>
          </a:p>
          <a:p>
            <a:r>
              <a:rPr lang="en-GB" sz="1600" b="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Dataset for A new family of ultra-low loss reversible phase change materials for photonic integrated circuits: Sb2S3 and Sb2Se3</a:t>
            </a:r>
            <a:endParaRPr lang="en-GB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151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DDAF10B8-C32C-DF58-6A6F-C04CC8D48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4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36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96C9F-D84C-75BC-B920-7FB23C2B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571F-3053-C4E6-50CD-F5EB0B30F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0"/>
            <a:ext cx="10515600" cy="1325563"/>
          </a:xfrm>
        </p:spPr>
        <p:txBody>
          <a:bodyPr/>
          <a:lstStyle/>
          <a:p>
            <a:r>
              <a:rPr lang="en-US" b="1" dirty="0"/>
              <a:t>Sb2Se3 pros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1AEA8-1AE8-CBC1-861B-9872CCFD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985"/>
            <a:ext cx="10515600" cy="4744978"/>
          </a:xfrm>
        </p:spPr>
        <p:txBody>
          <a:bodyPr/>
          <a:lstStyle/>
          <a:p>
            <a:r>
              <a:rPr lang="en-GB" dirty="0"/>
              <a:t>Low absorption at C-band (no ref need?)</a:t>
            </a:r>
          </a:p>
          <a:p>
            <a:r>
              <a:rPr lang="en-GB" dirty="0"/>
              <a:t>Large </a:t>
            </a:r>
            <a:r>
              <a:rPr lang="el-GR" dirty="0"/>
              <a:t>Δ</a:t>
            </a:r>
            <a:r>
              <a:rPr lang="en-GB" dirty="0"/>
              <a:t>n b/w phase (ref?)</a:t>
            </a:r>
          </a:p>
          <a:p>
            <a:r>
              <a:rPr lang="en-GB" dirty="0"/>
              <a:t>High switching endurance 10</a:t>
            </a:r>
            <a:r>
              <a:rPr lang="en-GB" baseline="30000" dirty="0"/>
              <a:t>7</a:t>
            </a:r>
            <a:r>
              <a:rPr lang="en-GB" dirty="0"/>
              <a:t> cycles </a:t>
            </a:r>
            <a:r>
              <a:rPr lang="en-GB" sz="1800" dirty="0">
                <a:hlinkClick r:id="rId2"/>
              </a:rPr>
              <a:t>(Optical switching beyond a million cycles of low-loss phase change material Sb</a:t>
            </a:r>
            <a:r>
              <a:rPr lang="en-GB" sz="1800" baseline="-25000" dirty="0">
                <a:hlinkClick r:id="rId2"/>
              </a:rPr>
              <a:t>2</a:t>
            </a:r>
            <a:r>
              <a:rPr lang="en-GB" sz="1800" dirty="0">
                <a:hlinkClick r:id="rId2"/>
              </a:rPr>
              <a:t>Se</a:t>
            </a:r>
            <a:r>
              <a:rPr lang="en-GB" sz="1800" baseline="-25000" dirty="0">
                <a:hlinkClick r:id="rId2"/>
              </a:rPr>
              <a:t>3</a:t>
            </a:r>
            <a:r>
              <a:rPr lang="en-GB" sz="1800" dirty="0">
                <a:hlinkClick r:id="rId2"/>
              </a:rPr>
              <a:t>)</a:t>
            </a:r>
            <a:endParaRPr lang="en-GB" sz="1800" dirty="0"/>
          </a:p>
          <a:p>
            <a:r>
              <a:rPr lang="en-GB" dirty="0"/>
              <a:t>Crystalline temperature is </a:t>
            </a:r>
            <a:r>
              <a:rPr lang="en-GB"/>
              <a:t>relatively low (</a:t>
            </a:r>
            <a:r>
              <a:rPr lang="en-GB" dirty="0"/>
              <a:t>186 °C) </a:t>
            </a:r>
            <a:r>
              <a:rPr lang="en-GB" sz="1800" dirty="0"/>
              <a:t>(</a:t>
            </a:r>
            <a:r>
              <a:rPr lang="en-GB" sz="1800" dirty="0">
                <a:hlinkClick r:id="rId2"/>
              </a:rPr>
              <a:t>Optical switching beyond a million cycles…)</a:t>
            </a:r>
            <a:endParaRPr lang="en-GB" sz="1800" dirty="0"/>
          </a:p>
          <a:p>
            <a:pPr lvl="1"/>
            <a:r>
              <a:rPr lang="en-GB" dirty="0"/>
              <a:t>In this paper, annealed @20</a:t>
            </a:r>
            <a:r>
              <a:rPr lang="en-US" dirty="0"/>
              <a:t>0°C for 5 mins.</a:t>
            </a:r>
          </a:p>
          <a:p>
            <a:pPr lvl="1"/>
            <a:r>
              <a:rPr lang="en-GB" dirty="0"/>
              <a:t>Will remain stable at telecommunication usage.</a:t>
            </a:r>
          </a:p>
          <a:p>
            <a:pPr lvl="1"/>
            <a:r>
              <a:rPr lang="en-GB" dirty="0"/>
              <a:t>Can’t find amorphization temp anywhere.</a:t>
            </a:r>
          </a:p>
          <a:p>
            <a:pPr lvl="1"/>
            <a:r>
              <a:rPr lang="en-GB" dirty="0"/>
              <a:t>For comparison, </a:t>
            </a:r>
            <a:r>
              <a:rPr lang="en-GB" dirty="0" err="1"/>
              <a:t>T</a:t>
            </a:r>
            <a:r>
              <a:rPr lang="en-GB" baseline="-25000" dirty="0" err="1"/>
              <a:t>crystallization</a:t>
            </a:r>
            <a:r>
              <a:rPr lang="en-GB" dirty="0"/>
              <a:t>: GST =180, Sb</a:t>
            </a:r>
            <a:r>
              <a:rPr lang="en-GB" baseline="-25000" dirty="0"/>
              <a:t>2</a:t>
            </a:r>
            <a:r>
              <a:rPr lang="en-GB" dirty="0"/>
              <a:t>S</a:t>
            </a:r>
            <a:r>
              <a:rPr lang="en-GB" baseline="-25000" dirty="0"/>
              <a:t>3 </a:t>
            </a:r>
            <a:r>
              <a:rPr lang="en-GB" dirty="0"/>
              <a:t>=270, GSST = 300+ °C</a:t>
            </a:r>
          </a:p>
        </p:txBody>
      </p:sp>
    </p:spTree>
    <p:extLst>
      <p:ext uri="{BB962C8B-B14F-4D97-AF65-F5344CB8AC3E}">
        <p14:creationId xmlns:p14="http://schemas.microsoft.com/office/powerpoint/2010/main" val="2696924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29F8-BE16-8CEE-661F-22CEFAACA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4E2A96-5D47-F113-CC93-C4320D6B1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667545"/>
            <a:ext cx="5029200" cy="61817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509C13-BFB0-D154-428F-DB53362A4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0"/>
            <a:ext cx="10515600" cy="1325563"/>
          </a:xfrm>
        </p:spPr>
        <p:txBody>
          <a:bodyPr/>
          <a:lstStyle/>
          <a:p>
            <a:r>
              <a:rPr lang="en-US" b="1" dirty="0"/>
              <a:t>Sb2Se3 as optical limiter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D5CD-73D1-610E-6BE4-B6DF83B22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38" y="1431985"/>
            <a:ext cx="6780362" cy="4744978"/>
          </a:xfrm>
        </p:spPr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? Might be suitable for usage in short wl, e.g. shorter than 400 nm.</a:t>
            </a:r>
          </a:p>
          <a:p>
            <a:pPr lvl="1">
              <a:buFontTx/>
              <a:buChar char="-"/>
            </a:pPr>
            <a:r>
              <a:rPr lang="en-US" dirty="0"/>
              <a:t>Small absorption coefficient (k) in both phase. @ 1550 nm</a:t>
            </a:r>
          </a:p>
          <a:p>
            <a:pPr lvl="2">
              <a:buFontTx/>
              <a:buChar char="-"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5956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4BBEE-7AAF-D6A0-3B36-601D2773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27A552-DD9E-7111-33A3-6132FA9AD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0"/>
            <a:ext cx="10515600" cy="1325563"/>
          </a:xfrm>
        </p:spPr>
        <p:txBody>
          <a:bodyPr/>
          <a:lstStyle/>
          <a:p>
            <a:r>
              <a:rPr lang="en-US" b="1" dirty="0"/>
              <a:t>Why 532 and 1064 optical limiter?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B5C99-B15D-AD95-D95F-77D3351F2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38" y="1431985"/>
            <a:ext cx="10818962" cy="4744978"/>
          </a:xfrm>
        </p:spPr>
        <p:txBody>
          <a:bodyPr/>
          <a:lstStyle/>
          <a:p>
            <a:pPr lvl="2"/>
            <a:r>
              <a:rPr lang="en-US" dirty="0"/>
              <a:t>Standard wl for Nd:YAG (Neodymium-doped yttrium aluminium garnet) laser (2</a:t>
            </a:r>
            <a:r>
              <a:rPr lang="en-US" baseline="30000" dirty="0"/>
              <a:t>nd</a:t>
            </a:r>
            <a:r>
              <a:rPr lang="en-US" dirty="0"/>
              <a:t> harmonic = 532 nm).</a:t>
            </a:r>
          </a:p>
          <a:p>
            <a:pPr lvl="3"/>
            <a:r>
              <a:rPr lang="en-US" dirty="0"/>
              <a:t>Find citation(?)</a:t>
            </a:r>
          </a:p>
          <a:p>
            <a:pPr lvl="1"/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3983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140B-7CD2-BF31-E96B-F56608C31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16A1-80DE-5803-BAEC-DC380792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Refractive index, non-linear effect vs phase transition.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2527C-E729-C224-D839-965F87D77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Kerr effect: Intensity dependent</a:t>
            </a:r>
          </a:p>
          <a:p>
            <a:r>
              <a:rPr lang="en-US" dirty="0"/>
              <a:t>Change due to phase transition: amorphous -&gt; crystalline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294285-753B-B723-862F-68A0E2F4F30A}"/>
              </a:ext>
            </a:extLst>
          </p:cNvPr>
          <p:cNvSpPr txBox="1">
            <a:spLocks/>
          </p:cNvSpPr>
          <p:nvPr/>
        </p:nvSpPr>
        <p:spPr>
          <a:xfrm>
            <a:off x="990600" y="2828925"/>
            <a:ext cx="10515600" cy="35004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“</a:t>
            </a:r>
            <a:r>
              <a:rPr lang="en-GB" dirty="0"/>
              <a:t>We show that it is possible to shift the transition edge of the filter by several hundred nanometers by utilizing the huge changes in the refractive index of GST. </a:t>
            </a:r>
            <a:r>
              <a:rPr lang="en-GB" b="1" dirty="0"/>
              <a:t>This shift is orders of magnitude larger than that achievable with nonlinear refraction… </a:t>
            </a:r>
            <a:r>
              <a:rPr lang="en-GB" dirty="0"/>
              <a:t>“ - </a:t>
            </a:r>
            <a:r>
              <a:rPr lang="en-GB" b="1" dirty="0">
                <a:hlinkClick r:id="rId2"/>
              </a:rPr>
              <a:t>Broadband Reflective Optical Limiter Using GST Phase Change Material</a:t>
            </a:r>
            <a:endParaRPr lang="en-GB" b="1" dirty="0"/>
          </a:p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&gt; </a:t>
            </a:r>
            <a:r>
              <a:rPr lang="en-GB" dirty="0"/>
              <a:t>Non-linear term should be negligible when compared to index changes due to phase transition.</a:t>
            </a:r>
          </a:p>
        </p:txBody>
      </p:sp>
    </p:spTree>
    <p:extLst>
      <p:ext uri="{BB962C8B-B14F-4D97-AF65-F5344CB8AC3E}">
        <p14:creationId xmlns:p14="http://schemas.microsoft.com/office/powerpoint/2010/main" val="4150249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4648" y="1397001"/>
            <a:ext cx="10331552" cy="93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32" lvl="1" indent="-323866" defTabSz="609630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727272"/>
                </a:solidFill>
                <a:latin typeface="Open Sans"/>
                <a:ea typeface="Open Sans"/>
                <a:cs typeface="Open Sans"/>
                <a:sym typeface="Open Sans"/>
              </a:rPr>
              <a:t>Both device types don’t require Reflection</a:t>
            </a:r>
          </a:p>
          <a:p>
            <a:pPr marL="1007584" lvl="2" indent="-335861" defTabSz="609630">
              <a:lnSpc>
                <a:spcPts val="3267"/>
              </a:lnSpc>
              <a:buFont typeface="Arial"/>
              <a:buChar char="⚬"/>
            </a:pPr>
            <a:r>
              <a:rPr lang="en-US" sz="2333">
                <a:solidFill>
                  <a:srgbClr val="727272"/>
                </a:solidFill>
                <a:latin typeface="Open Sans"/>
                <a:ea typeface="Open Sans"/>
                <a:cs typeface="Open Sans"/>
                <a:sym typeface="Open Sans"/>
              </a:rPr>
              <a:t>Increase Transmission and Absorption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621772" y="2039958"/>
            <a:ext cx="3636463" cy="1047952"/>
            <a:chOff x="0" y="0"/>
            <a:chExt cx="7272926" cy="20959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77780" cy="1767004"/>
            </a:xfrm>
            <a:custGeom>
              <a:avLst/>
              <a:gdLst/>
              <a:ahLst/>
              <a:cxnLst/>
              <a:rect l="l" t="t" r="r" b="b"/>
              <a:pathLst>
                <a:path w="4977780" h="1767004">
                  <a:moveTo>
                    <a:pt x="0" y="0"/>
                  </a:moveTo>
                  <a:lnTo>
                    <a:pt x="4977780" y="0"/>
                  </a:lnTo>
                  <a:lnTo>
                    <a:pt x="4977780" y="1767004"/>
                  </a:lnTo>
                  <a:lnTo>
                    <a:pt x="0" y="1767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379396" y="1347878"/>
              <a:ext cx="1635622" cy="748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32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A6A6A6"/>
                  </a:solidFill>
                  <a:latin typeface="Open Sans"/>
                  <a:ea typeface="Open Sans"/>
                  <a:cs typeface="Open Sans"/>
                  <a:sym typeface="Open Sans"/>
                </a:rPr>
                <a:t>k=2π/λ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06244" y="249816"/>
              <a:ext cx="1066682" cy="11219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defTabSz="609630">
                <a:lnSpc>
                  <a:spcPts val="4800"/>
                </a:lnSpc>
              </a:pPr>
              <a:r>
                <a:rPr lang="en-US" sz="3000">
                  <a:solidFill>
                    <a:srgbClr val="727272"/>
                  </a:solidFill>
                  <a:latin typeface="Open Sans"/>
                  <a:ea typeface="Open Sans"/>
                  <a:cs typeface="Open Sans"/>
                  <a:sym typeface="Open Sans"/>
                </a:rPr>
                <a:t>(2)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5147933" y="3050710"/>
            <a:ext cx="6358267" cy="3532901"/>
          </a:xfrm>
          <a:custGeom>
            <a:avLst/>
            <a:gdLst/>
            <a:ahLst/>
            <a:cxnLst/>
            <a:rect l="l" t="t" r="r" b="b"/>
            <a:pathLst>
              <a:path w="9537400" h="5299351">
                <a:moveTo>
                  <a:pt x="0" y="0"/>
                </a:moveTo>
                <a:lnTo>
                  <a:pt x="9537400" y="0"/>
                </a:lnTo>
                <a:lnTo>
                  <a:pt x="9537400" y="5299351"/>
                </a:lnTo>
                <a:lnTo>
                  <a:pt x="0" y="5299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89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685800" y="488950"/>
            <a:ext cx="10820400" cy="9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8000"/>
              </a:lnSpc>
            </a:pPr>
            <a:r>
              <a:rPr lang="en-US" sz="5000" b="1">
                <a:solidFill>
                  <a:srgbClr val="0097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Antireflection </a:t>
            </a:r>
            <a:r>
              <a:rPr lang="en-US" sz="5000" b="1" u="sng">
                <a:solidFill>
                  <a:srgbClr val="0097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(AR)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139644"/>
            <a:ext cx="3217022" cy="513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002"/>
              </a:lnSpc>
            </a:pPr>
            <a:r>
              <a:rPr lang="en-US" sz="4002" b="1">
                <a:solidFill>
                  <a:srgbClr val="9DE3D1"/>
                </a:solidFill>
                <a:latin typeface="Roboto Bold"/>
                <a:ea typeface="Roboto Bold"/>
                <a:cs typeface="Roboto Bold"/>
                <a:sym typeface="Roboto Bold"/>
              </a:rPr>
              <a:t>2 Theory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85800" y="3818271"/>
            <a:ext cx="4254529" cy="823045"/>
            <a:chOff x="0" y="0"/>
            <a:chExt cx="8509057" cy="16460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79991" cy="1646091"/>
            </a:xfrm>
            <a:custGeom>
              <a:avLst/>
              <a:gdLst/>
              <a:ahLst/>
              <a:cxnLst/>
              <a:rect l="l" t="t" r="r" b="b"/>
              <a:pathLst>
                <a:path w="4679991" h="1646091">
                  <a:moveTo>
                    <a:pt x="0" y="0"/>
                  </a:moveTo>
                  <a:lnTo>
                    <a:pt x="4679991" y="0"/>
                  </a:lnTo>
                  <a:lnTo>
                    <a:pt x="4679991" y="1646091"/>
                  </a:lnTo>
                  <a:lnTo>
                    <a:pt x="0" y="1646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1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2375" y="403920"/>
              <a:ext cx="1066682" cy="748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defTabSz="609630">
                <a:lnSpc>
                  <a:spcPts val="3200"/>
                </a:lnSpc>
              </a:pPr>
              <a:r>
                <a:rPr lang="en-US" sz="2000">
                  <a:solidFill>
                    <a:srgbClr val="727272"/>
                  </a:solidFill>
                  <a:latin typeface="Open Sans"/>
                  <a:ea typeface="Open Sans"/>
                  <a:cs typeface="Open Sans"/>
                  <a:sym typeface="Open Sans"/>
                </a:rPr>
                <a:t>(3.1)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4839689"/>
            <a:ext cx="4254529" cy="1332511"/>
            <a:chOff x="0" y="0"/>
            <a:chExt cx="8509057" cy="26650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58021" cy="2665021"/>
            </a:xfrm>
            <a:custGeom>
              <a:avLst/>
              <a:gdLst/>
              <a:ahLst/>
              <a:cxnLst/>
              <a:rect l="l" t="t" r="r" b="b"/>
              <a:pathLst>
                <a:path w="6458021" h="2665021">
                  <a:moveTo>
                    <a:pt x="0" y="0"/>
                  </a:moveTo>
                  <a:lnTo>
                    <a:pt x="6458021" y="0"/>
                  </a:lnTo>
                  <a:lnTo>
                    <a:pt x="6458021" y="2665021"/>
                  </a:lnTo>
                  <a:lnTo>
                    <a:pt x="0" y="2665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062" b="-186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42375" y="51266"/>
              <a:ext cx="1066682" cy="748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defTabSz="609630">
                <a:lnSpc>
                  <a:spcPts val="3200"/>
                </a:lnSpc>
              </a:pPr>
              <a:r>
                <a:rPr lang="en-US" sz="2000">
                  <a:solidFill>
                    <a:srgbClr val="727272"/>
                  </a:solidFill>
                  <a:latin typeface="Open Sans"/>
                  <a:ea typeface="Open Sans"/>
                  <a:cs typeface="Open Sans"/>
                  <a:sym typeface="Open Sans"/>
                </a:rPr>
                <a:t>(3.2)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42375" y="1339341"/>
              <a:ext cx="1066682" cy="748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defTabSz="609630">
                <a:lnSpc>
                  <a:spcPts val="3200"/>
                </a:lnSpc>
              </a:pPr>
              <a:r>
                <a:rPr lang="en-US" sz="2000">
                  <a:solidFill>
                    <a:srgbClr val="727272"/>
                  </a:solidFill>
                  <a:latin typeface="Open Sans"/>
                  <a:ea typeface="Open Sans"/>
                  <a:cs typeface="Open Sans"/>
                  <a:sym typeface="Open Sans"/>
                </a:rPr>
                <a:t>(3.3)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85800" y="2685095"/>
            <a:ext cx="7242600" cy="1029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200"/>
              </a:lnSpc>
            </a:pPr>
            <a:r>
              <a:rPr lang="en-US" sz="3000">
                <a:solidFill>
                  <a:srgbClr val="FE752D"/>
                </a:solidFill>
                <a:latin typeface="Open Sans"/>
                <a:ea typeface="Open Sans"/>
                <a:cs typeface="Open Sans"/>
                <a:sym typeface="Open Sans"/>
              </a:rPr>
              <a:t>Quarter-Wave Optical Thickness </a:t>
            </a:r>
            <a:r>
              <a:rPr lang="en-US" sz="3000" b="1" u="sng">
                <a:solidFill>
                  <a:srgbClr val="FE752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(QWOT)</a:t>
            </a:r>
          </a:p>
          <a:p>
            <a:pPr defTabSz="609630">
              <a:lnSpc>
                <a:spcPts val="4200"/>
              </a:lnSpc>
            </a:pPr>
            <a:r>
              <a:rPr lang="en-US" sz="3000" i="1">
                <a:solidFill>
                  <a:srgbClr val="0B2F3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    nA &lt; nF &lt; 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82094" y="6637817"/>
            <a:ext cx="427813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666"/>
              </a:lnSpc>
            </a:pPr>
            <a:r>
              <a:rPr lang="en-US" sz="1666" b="1">
                <a:solidFill>
                  <a:srgbClr val="0B2F3D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46B4C8-596E-C41C-4738-058DC1111A7E}"/>
              </a:ext>
            </a:extLst>
          </p:cNvPr>
          <p:cNvSpPr txBox="1"/>
          <p:nvPr/>
        </p:nvSpPr>
        <p:spPr>
          <a:xfrm>
            <a:off x="10566299" y="0"/>
            <a:ext cx="162570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Bachelor’s pptx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49069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D108-CFDF-7030-DF51-83B9D67D9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Results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212627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5E3C0-633E-32C0-7E2D-11DFFEF08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78" y="365126"/>
            <a:ext cx="10515600" cy="892774"/>
          </a:xfrm>
          <a:solidFill>
            <a:srgbClr val="C00000"/>
          </a:solidFill>
        </p:spPr>
        <p:txBody>
          <a:bodyPr/>
          <a:lstStyle/>
          <a:p>
            <a:r>
              <a:rPr lang="en-US" dirty="0"/>
              <a:t>1064 nm Optical limiter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AAF05C-5B42-0CDD-FDBD-48468322B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38" y="1544319"/>
            <a:ext cx="5172915" cy="4554556"/>
          </a:xfrm>
        </p:spPr>
        <p:txBody>
          <a:bodyPr/>
          <a:lstStyle/>
          <a:p>
            <a:pPr marL="457200" lvl="1" indent="0">
              <a:buNone/>
            </a:pPr>
            <a:r>
              <a:rPr lang="en-US" b="1" dirty="0"/>
              <a:t>Refractive index of SbSe:</a:t>
            </a:r>
          </a:p>
          <a:p>
            <a:pPr marL="457200" lvl="1" indent="0">
              <a:buNone/>
            </a:pPr>
            <a:r>
              <a:rPr lang="en-US" dirty="0"/>
              <a:t>Amo 	= 3.370 + 0.000000j</a:t>
            </a:r>
          </a:p>
          <a:p>
            <a:pPr marL="457200" lvl="1" indent="0">
              <a:buNone/>
            </a:pPr>
            <a:r>
              <a:rPr lang="en-US" dirty="0"/>
              <a:t>Cry 	= 4.308 + 0.009744j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F1F2F0-ADD4-DD2A-4BA0-A4AF3EF62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753" y="365126"/>
            <a:ext cx="6127748" cy="612774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53C2D5-EA34-661B-AA27-2D3FC6024B98}"/>
              </a:ext>
            </a:extLst>
          </p:cNvPr>
          <p:cNvCxnSpPr/>
          <p:nvPr/>
        </p:nvCxnSpPr>
        <p:spPr>
          <a:xfrm flipV="1">
            <a:off x="9023230" y="603849"/>
            <a:ext cx="0" cy="5495026"/>
          </a:xfrm>
          <a:prstGeom prst="line">
            <a:avLst/>
          </a:prstGeom>
          <a:ln w="28575">
            <a:solidFill>
              <a:srgbClr val="FF0000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952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573EA-6EA0-117E-6D62-A0013C10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EAC160-DCEA-B0F0-5836-CC100E04E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6509"/>
            <a:ext cx="10515600" cy="274498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67B616-FEE6-BB4C-049D-A1E958E59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38" y="396239"/>
            <a:ext cx="10818962" cy="74168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4000" b="1" dirty="0"/>
              <a:t>Resonant in amorphous phase</a:t>
            </a:r>
            <a:endParaRPr lang="en-GB" sz="4000" b="1" dirty="0"/>
          </a:p>
        </p:txBody>
      </p:sp>
    </p:spTree>
    <p:extLst>
      <p:ext uri="{BB962C8B-B14F-4D97-AF65-F5344CB8AC3E}">
        <p14:creationId xmlns:p14="http://schemas.microsoft.com/office/powerpoint/2010/main" val="1562880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0CCAACE-815D-4A79-875A-B7EFC28F7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D6480B-A7F7-381A-40F6-CDAC57A29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3F84AA0-4D70-D92B-47CB-88B130A16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892F14E-2D3B-B958-464B-64DCA0F47015}"/>
              </a:ext>
            </a:extLst>
          </p:cNvPr>
          <p:cNvSpPr txBox="1"/>
          <p:nvPr/>
        </p:nvSpPr>
        <p:spPr>
          <a:xfrm>
            <a:off x="5874625" y="18115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748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C3DBD-8714-C18B-57B8-4A604F3B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CCAACE-815D-4A79-875A-B7EFC28F7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3692C-705F-5494-DAB1-69940D5F4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B91E5F-5132-B55B-F43A-A32884FB4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F01335-149F-1341-51B4-14B05027C624}"/>
              </a:ext>
            </a:extLst>
          </p:cNvPr>
          <p:cNvSpPr txBox="1"/>
          <p:nvPr/>
        </p:nvSpPr>
        <p:spPr>
          <a:xfrm>
            <a:off x="5874625" y="18115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17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502F0-88F5-A462-C1B9-BC7EF3FEFE13}"/>
              </a:ext>
            </a:extLst>
          </p:cNvPr>
          <p:cNvSpPr txBox="1">
            <a:spLocks/>
          </p:cNvSpPr>
          <p:nvPr/>
        </p:nvSpPr>
        <p:spPr>
          <a:xfrm>
            <a:off x="534838" y="396239"/>
            <a:ext cx="10818962" cy="74168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US" sz="4000" b="1" dirty="0"/>
              <a:t>Resonant in crystalline phase</a:t>
            </a:r>
            <a:endParaRPr lang="en-GB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8EC39-045E-7E5B-5A74-6265370F4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15" y="2055600"/>
            <a:ext cx="10797170" cy="2746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552C676-BE23-F5FD-7FC0-0533A44EE587}"/>
              </a:ext>
            </a:extLst>
          </p:cNvPr>
          <p:cNvSpPr/>
          <p:nvPr/>
        </p:nvSpPr>
        <p:spPr>
          <a:xfrm>
            <a:off x="10006642" y="2475781"/>
            <a:ext cx="1690777" cy="2484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181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4B049-0369-90BD-1C15-201DE659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2396FE3-4AD7-C66D-AAD2-C543F35E5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B10F86-956F-2046-B4BD-69FB2ED64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B365778-22D2-CE91-9269-E0C4B8F4C764}"/>
              </a:ext>
            </a:extLst>
          </p:cNvPr>
          <p:cNvSpPr txBox="1"/>
          <p:nvPr/>
        </p:nvSpPr>
        <p:spPr>
          <a:xfrm>
            <a:off x="5874625" y="18115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062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91B7-1F83-4F8A-75E0-68DC1F141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A157A6C-6A90-95A9-C296-082C587C5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7"/>
            <a:ext cx="6095980" cy="68579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B4486B7-0FB1-38B0-0116-0277CD982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4" y="10"/>
            <a:ext cx="6095991" cy="68579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54F50A2-985E-285D-CD0F-B073DB01A3D3}"/>
              </a:ext>
            </a:extLst>
          </p:cNvPr>
          <p:cNvSpPr txBox="1"/>
          <p:nvPr/>
        </p:nvSpPr>
        <p:spPr>
          <a:xfrm>
            <a:off x="5874625" y="18115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156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F0223-A5FE-159C-A448-2DF77515B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67E5-D93D-0DCC-0505-841D9C23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78" y="365126"/>
            <a:ext cx="10515600" cy="892774"/>
          </a:xfrm>
          <a:solidFill>
            <a:schemeClr val="accent6"/>
          </a:solidFill>
        </p:spPr>
        <p:txBody>
          <a:bodyPr/>
          <a:lstStyle/>
          <a:p>
            <a:r>
              <a:rPr lang="en-US" dirty="0"/>
              <a:t>532 nm Optical limiter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EA3785-FA5C-EBE0-6D15-7784CFC7C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38" y="1544319"/>
            <a:ext cx="10818962" cy="1330961"/>
          </a:xfrm>
        </p:spPr>
        <p:txBody>
          <a:bodyPr/>
          <a:lstStyle/>
          <a:p>
            <a:pPr marL="457200" lvl="1" indent="0">
              <a:buNone/>
            </a:pPr>
            <a:r>
              <a:rPr lang="en-US" b="1" dirty="0"/>
              <a:t>Refractive index of SbSe:</a:t>
            </a:r>
          </a:p>
          <a:p>
            <a:pPr marL="457200" lvl="1" indent="0">
              <a:buNone/>
            </a:pPr>
            <a:r>
              <a:rPr lang="en-US" dirty="0"/>
              <a:t>Amo 	= 3.962 + 1.093042j</a:t>
            </a:r>
          </a:p>
          <a:p>
            <a:pPr marL="457200" lvl="1" indent="0">
              <a:buNone/>
            </a:pPr>
            <a:r>
              <a:rPr lang="en-US" dirty="0"/>
              <a:t>Cry 	= 4.788 + 2.240748j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41242B-E41C-D95C-0B54-27AFD0BB3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753" y="365126"/>
            <a:ext cx="6127748" cy="6127748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B5BB95-8667-BD67-B6E1-8CBF411EE8C8}"/>
              </a:ext>
            </a:extLst>
          </p:cNvPr>
          <p:cNvCxnSpPr/>
          <p:nvPr/>
        </p:nvCxnSpPr>
        <p:spPr>
          <a:xfrm flipV="1">
            <a:off x="6909758" y="603849"/>
            <a:ext cx="0" cy="5495026"/>
          </a:xfrm>
          <a:prstGeom prst="line">
            <a:avLst/>
          </a:prstGeom>
          <a:ln w="28575">
            <a:solidFill>
              <a:srgbClr val="4EA72E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029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9B62B-2BF3-F2D5-F388-B4A49CFA8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A055D-4AD1-F78C-50C7-3CDB88758640}"/>
              </a:ext>
            </a:extLst>
          </p:cNvPr>
          <p:cNvSpPr txBox="1">
            <a:spLocks/>
          </p:cNvSpPr>
          <p:nvPr/>
        </p:nvSpPr>
        <p:spPr>
          <a:xfrm>
            <a:off x="534838" y="396239"/>
            <a:ext cx="10818962" cy="74168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US" sz="4000" b="1" dirty="0"/>
              <a:t>Resonant in crystalline phase</a:t>
            </a:r>
            <a:endParaRPr lang="en-GB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D33F9-CAA6-A5EA-AE4E-9B08F897D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40" y="2090386"/>
            <a:ext cx="10522519" cy="26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593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F5CC-9E60-0A11-E1CD-20237091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5CAA99C-5484-0446-ABB2-0549B89FA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7"/>
            <a:ext cx="6095980" cy="68579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980684C-E915-4C2D-8F8C-0D565A0C8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4" y="10"/>
            <a:ext cx="6095991" cy="68579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354C54D-3C28-9116-CAF2-88137A0E75F0}"/>
              </a:ext>
            </a:extLst>
          </p:cNvPr>
          <p:cNvSpPr txBox="1"/>
          <p:nvPr/>
        </p:nvSpPr>
        <p:spPr>
          <a:xfrm>
            <a:off x="5874625" y="18115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642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D7944-CB6F-BD82-AA0F-4CDCDDF9E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B57B044-76F8-AADB-34FA-3577A2ADD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7"/>
            <a:ext cx="6095979" cy="68579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E4DD4E8-AC6C-8848-F16F-48D952858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4" y="10"/>
            <a:ext cx="6095991" cy="685798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4448E52-6361-4936-019F-CFC4828F8C84}"/>
              </a:ext>
            </a:extLst>
          </p:cNvPr>
          <p:cNvSpPr txBox="1"/>
          <p:nvPr/>
        </p:nvSpPr>
        <p:spPr>
          <a:xfrm>
            <a:off x="5874625" y="18115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487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1EDDF-DF62-682F-DAFE-E4800E653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573D-EB72-8B1A-9500-736197F9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78" y="365126"/>
            <a:ext cx="10515600" cy="892774"/>
          </a:xfrm>
          <a:solidFill>
            <a:srgbClr val="FFFF00"/>
          </a:solidFill>
        </p:spPr>
        <p:txBody>
          <a:bodyPr/>
          <a:lstStyle/>
          <a:p>
            <a:r>
              <a:rPr lang="en-US" dirty="0"/>
              <a:t>600 nm Optical limiter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68F974-AB8A-6B00-9448-4D662E61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38" y="1544319"/>
            <a:ext cx="10818962" cy="1330961"/>
          </a:xfrm>
        </p:spPr>
        <p:txBody>
          <a:bodyPr/>
          <a:lstStyle/>
          <a:p>
            <a:pPr marL="457200" lvl="1" indent="0">
              <a:buNone/>
            </a:pPr>
            <a:r>
              <a:rPr lang="en-US" b="1" dirty="0"/>
              <a:t>Refractive index of SbSe:</a:t>
            </a:r>
          </a:p>
          <a:p>
            <a:pPr marL="457200" lvl="1" indent="0">
              <a:buNone/>
            </a:pPr>
            <a:r>
              <a:rPr lang="en-US" dirty="0"/>
              <a:t>Amo 	= 3.962 + 1.093042j</a:t>
            </a:r>
          </a:p>
          <a:p>
            <a:pPr marL="457200" lvl="1" indent="0">
              <a:buNone/>
            </a:pPr>
            <a:r>
              <a:rPr lang="en-US" dirty="0"/>
              <a:t>Cry 	= 4.788 + 2.240748j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DFE290-0377-8597-CA13-D6A92E2F7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753" y="365126"/>
            <a:ext cx="6127748" cy="6127748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A0DCC-68BE-4C6E-D728-A92D39D261A7}"/>
              </a:ext>
            </a:extLst>
          </p:cNvPr>
          <p:cNvCxnSpPr/>
          <p:nvPr/>
        </p:nvCxnSpPr>
        <p:spPr>
          <a:xfrm flipV="1">
            <a:off x="6909758" y="603849"/>
            <a:ext cx="0" cy="5495026"/>
          </a:xfrm>
          <a:prstGeom prst="line">
            <a:avLst/>
          </a:prstGeom>
          <a:ln w="28575">
            <a:solidFill>
              <a:srgbClr val="4EA72E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491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4C81-CD3A-83FE-42AC-C400FAEED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E4E6-625F-FCE8-6CF1-B012145D8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78" y="365126"/>
            <a:ext cx="5588479" cy="892774"/>
          </a:xfrm>
          <a:solidFill>
            <a:srgbClr val="C00000"/>
          </a:solidFill>
        </p:spPr>
        <p:txBody>
          <a:bodyPr/>
          <a:lstStyle/>
          <a:p>
            <a:r>
              <a:rPr lang="en-US" dirty="0"/>
              <a:t>1064 nm Optical limiter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6A4907-50C4-042B-289D-DCE5099F65E1}"/>
              </a:ext>
            </a:extLst>
          </p:cNvPr>
          <p:cNvSpPr/>
          <p:nvPr/>
        </p:nvSpPr>
        <p:spPr>
          <a:xfrm>
            <a:off x="242978" y="3950898"/>
            <a:ext cx="2574000" cy="28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SiO2 = 3 mm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9EB4B6-F23A-75E2-3B2B-CDD29A35B45E}"/>
              </a:ext>
            </a:extLst>
          </p:cNvPr>
          <p:cNvSpPr/>
          <p:nvPr/>
        </p:nvSpPr>
        <p:spPr>
          <a:xfrm>
            <a:off x="242978" y="2813298"/>
            <a:ext cx="2574000" cy="11376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HWOT = 157.9 nm</a:t>
            </a:r>
            <a:endParaRPr lang="en-GB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0FF5D4-2C50-9445-B36F-EAC450A27209}"/>
              </a:ext>
            </a:extLst>
          </p:cNvPr>
          <p:cNvSpPr/>
          <p:nvPr/>
        </p:nvSpPr>
        <p:spPr>
          <a:xfrm>
            <a:off x="5948017" y="3939423"/>
            <a:ext cx="2573546" cy="28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SiO2 = 3 mm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66D472-BD2F-A3AA-F552-8E3AF7BA9D52}"/>
              </a:ext>
            </a:extLst>
          </p:cNvPr>
          <p:cNvSpPr/>
          <p:nvPr/>
        </p:nvSpPr>
        <p:spPr>
          <a:xfrm>
            <a:off x="5948016" y="3781023"/>
            <a:ext cx="2573547" cy="158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QWOT/2 = 24.75 nm</a:t>
            </a:r>
            <a:endParaRPr lang="en-GB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188F5B-2ADD-4A08-983C-E38EB8386D17}"/>
              </a:ext>
            </a:extLst>
          </p:cNvPr>
          <p:cNvSpPr/>
          <p:nvPr/>
        </p:nvSpPr>
        <p:spPr>
          <a:xfrm>
            <a:off x="5948017" y="2801823"/>
            <a:ext cx="2573546" cy="979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MgF2 = QWOT = 135.8 nm</a:t>
            </a:r>
            <a:endParaRPr lang="en-GB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18411A-1B30-8459-ABA9-88821A9E8760}"/>
              </a:ext>
            </a:extLst>
          </p:cNvPr>
          <p:cNvSpPr/>
          <p:nvPr/>
        </p:nvSpPr>
        <p:spPr>
          <a:xfrm>
            <a:off x="5948015" y="2643423"/>
            <a:ext cx="2573547" cy="158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QWOT/2 = 24.75 nm</a:t>
            </a:r>
            <a:endParaRPr lang="en-GB" sz="1400" dirty="0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F45445A-A521-8FB7-468D-02D363F82511}"/>
              </a:ext>
            </a:extLst>
          </p:cNvPr>
          <p:cNvSpPr/>
          <p:nvPr/>
        </p:nvSpPr>
        <p:spPr>
          <a:xfrm>
            <a:off x="8521562" y="2643423"/>
            <a:ext cx="180582" cy="12960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80710D-6676-AF03-B91F-969A57448359}"/>
              </a:ext>
            </a:extLst>
          </p:cNvPr>
          <p:cNvSpPr txBox="1"/>
          <p:nvPr/>
        </p:nvSpPr>
        <p:spPr>
          <a:xfrm rot="5400000">
            <a:off x="8233682" y="3106757"/>
            <a:ext cx="1178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unit-cell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8E587C-6BC9-F98C-E882-7C9A8705D3DD}"/>
              </a:ext>
            </a:extLst>
          </p:cNvPr>
          <p:cNvSpPr txBox="1"/>
          <p:nvPr/>
        </p:nvSpPr>
        <p:spPr>
          <a:xfrm>
            <a:off x="854601" y="2050255"/>
            <a:ext cx="1350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Single-layer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C1627F-DD60-AB37-C2C8-5D6314FA462C}"/>
              </a:ext>
            </a:extLst>
          </p:cNvPr>
          <p:cNvSpPr txBox="1"/>
          <p:nvPr/>
        </p:nvSpPr>
        <p:spPr>
          <a:xfrm>
            <a:off x="6334349" y="2045925"/>
            <a:ext cx="1800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Edge-filter (N=1)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D99E1F-05A9-B451-9D8D-D61F2E555BDD}"/>
              </a:ext>
            </a:extLst>
          </p:cNvPr>
          <p:cNvSpPr/>
          <p:nvPr/>
        </p:nvSpPr>
        <p:spPr>
          <a:xfrm>
            <a:off x="9007583" y="3950898"/>
            <a:ext cx="2573546" cy="28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SiO2 = 3 mm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809364-75AA-C3F1-20D1-8CFE13505018}"/>
              </a:ext>
            </a:extLst>
          </p:cNvPr>
          <p:cNvSpPr/>
          <p:nvPr/>
        </p:nvSpPr>
        <p:spPr>
          <a:xfrm>
            <a:off x="9007582" y="3792498"/>
            <a:ext cx="2573547" cy="158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QWOT/2 = 24.75 nm</a:t>
            </a:r>
            <a:endParaRPr lang="en-GB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9CB607-FEA2-650E-A719-4F28010092A3}"/>
              </a:ext>
            </a:extLst>
          </p:cNvPr>
          <p:cNvSpPr/>
          <p:nvPr/>
        </p:nvSpPr>
        <p:spPr>
          <a:xfrm>
            <a:off x="9007583" y="2813298"/>
            <a:ext cx="2573546" cy="979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MgF = QWOT = 135.8 nm</a:t>
            </a:r>
            <a:endParaRPr lang="en-GB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0152D1-267E-B4B4-232D-75BAF6749A75}"/>
              </a:ext>
            </a:extLst>
          </p:cNvPr>
          <p:cNvSpPr/>
          <p:nvPr/>
        </p:nvSpPr>
        <p:spPr>
          <a:xfrm>
            <a:off x="9007581" y="2654898"/>
            <a:ext cx="2573547" cy="158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QWOT/2 = 24.75 nm</a:t>
            </a:r>
            <a:endParaRPr lang="en-GB" sz="1400" dirty="0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E976946A-6C00-9830-38EA-3ADFFF791E98}"/>
              </a:ext>
            </a:extLst>
          </p:cNvPr>
          <p:cNvSpPr/>
          <p:nvPr/>
        </p:nvSpPr>
        <p:spPr>
          <a:xfrm>
            <a:off x="11581128" y="1358898"/>
            <a:ext cx="241540" cy="25920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2116EC-14CA-4452-990D-582CCDD2ABE4}"/>
              </a:ext>
            </a:extLst>
          </p:cNvPr>
          <p:cNvSpPr txBox="1"/>
          <p:nvPr/>
        </p:nvSpPr>
        <p:spPr>
          <a:xfrm rot="5400000">
            <a:off x="11313436" y="2482955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unit-cells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23B244-D01A-EDDE-FBC4-CB624BF66168}"/>
              </a:ext>
            </a:extLst>
          </p:cNvPr>
          <p:cNvSpPr txBox="1"/>
          <p:nvPr/>
        </p:nvSpPr>
        <p:spPr>
          <a:xfrm>
            <a:off x="9393915" y="877093"/>
            <a:ext cx="1800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Edge-filter (N=2)</a:t>
            </a:r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E85036-D485-28C9-4022-69648910FB68}"/>
              </a:ext>
            </a:extLst>
          </p:cNvPr>
          <p:cNvSpPr/>
          <p:nvPr/>
        </p:nvSpPr>
        <p:spPr>
          <a:xfrm>
            <a:off x="9007582" y="2496498"/>
            <a:ext cx="2573547" cy="158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QWOT/2 = 24.75 nm</a:t>
            </a:r>
            <a:endParaRPr lang="en-GB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C4423F-F667-4525-1572-B01F68B86295}"/>
              </a:ext>
            </a:extLst>
          </p:cNvPr>
          <p:cNvSpPr/>
          <p:nvPr/>
        </p:nvSpPr>
        <p:spPr>
          <a:xfrm>
            <a:off x="9007583" y="1517298"/>
            <a:ext cx="2573546" cy="979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MgF = QWOT = 135.8 nm</a:t>
            </a:r>
            <a:endParaRPr lang="en-GB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BB258B-651A-081F-F261-D62B6391E46B}"/>
              </a:ext>
            </a:extLst>
          </p:cNvPr>
          <p:cNvSpPr/>
          <p:nvPr/>
        </p:nvSpPr>
        <p:spPr>
          <a:xfrm>
            <a:off x="9007581" y="1358898"/>
            <a:ext cx="2573547" cy="158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QWOT/2 = 24.75 nm</a:t>
            </a:r>
            <a:endParaRPr lang="en-GB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B9718-38B6-7A11-3604-B148A916B45E}"/>
              </a:ext>
            </a:extLst>
          </p:cNvPr>
          <p:cNvSpPr/>
          <p:nvPr/>
        </p:nvSpPr>
        <p:spPr>
          <a:xfrm>
            <a:off x="3009502" y="3950898"/>
            <a:ext cx="2574000" cy="28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SiO2 = 3 mm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0BAF52-D55B-8613-B1C4-F720818C2280}"/>
              </a:ext>
            </a:extLst>
          </p:cNvPr>
          <p:cNvSpPr/>
          <p:nvPr/>
        </p:nvSpPr>
        <p:spPr>
          <a:xfrm>
            <a:off x="3009502" y="3385521"/>
            <a:ext cx="2574000" cy="5688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QWOT = 78.9 nm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5858B5-AFEE-5D5D-90AD-7FEB15583565}"/>
              </a:ext>
            </a:extLst>
          </p:cNvPr>
          <p:cNvSpPr txBox="1"/>
          <p:nvPr/>
        </p:nvSpPr>
        <p:spPr>
          <a:xfrm>
            <a:off x="3621125" y="2045925"/>
            <a:ext cx="113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Two-layer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1FEB63-25B7-D9A4-EA90-03F7FAB5332D}"/>
              </a:ext>
            </a:extLst>
          </p:cNvPr>
          <p:cNvSpPr/>
          <p:nvPr/>
        </p:nvSpPr>
        <p:spPr>
          <a:xfrm>
            <a:off x="3009956" y="2554098"/>
            <a:ext cx="2573546" cy="828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TiO2 = QWOT = 115.2 nm</a:t>
            </a:r>
            <a:endParaRPr lang="en-GB" sz="1400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0AA56678-13E9-6A9D-FCEC-B578604D0A4A}"/>
              </a:ext>
            </a:extLst>
          </p:cNvPr>
          <p:cNvSpPr/>
          <p:nvPr/>
        </p:nvSpPr>
        <p:spPr>
          <a:xfrm rot="16200000">
            <a:off x="2787053" y="-720797"/>
            <a:ext cx="252377" cy="534052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D4ECC9B5-7D5D-E618-5A9A-EAAFA49C3A23}"/>
              </a:ext>
            </a:extLst>
          </p:cNvPr>
          <p:cNvSpPr/>
          <p:nvPr/>
        </p:nvSpPr>
        <p:spPr>
          <a:xfrm rot="16200000">
            <a:off x="8641712" y="-1950588"/>
            <a:ext cx="252377" cy="5639771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B30283-FF68-47A1-F1DC-D9867349D10E}"/>
              </a:ext>
            </a:extLst>
          </p:cNvPr>
          <p:cNvSpPr txBox="1"/>
          <p:nvPr/>
        </p:nvSpPr>
        <p:spPr>
          <a:xfrm>
            <a:off x="1182511" y="1438098"/>
            <a:ext cx="360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0000"/>
                </a:highlight>
              </a:rPr>
              <a:t>Reference wavelength = 1064 nm</a:t>
            </a:r>
            <a:endParaRPr lang="en-GB" b="1" dirty="0">
              <a:highlight>
                <a:srgbClr val="FF0000"/>
              </a:highligh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1E8520-F375-3DB6-DED6-AB7A003E1FC9}"/>
              </a:ext>
            </a:extLst>
          </p:cNvPr>
          <p:cNvSpPr txBox="1"/>
          <p:nvPr/>
        </p:nvSpPr>
        <p:spPr>
          <a:xfrm>
            <a:off x="7037170" y="350264"/>
            <a:ext cx="3481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0000"/>
                </a:highlight>
              </a:rPr>
              <a:t>Reference wavelength = 750 nm</a:t>
            </a:r>
            <a:endParaRPr lang="en-GB" b="1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96402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1B6EA-0A4D-A9F0-C81D-38903528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F4DBD8-2EFF-B8B8-588A-9790C500988A}"/>
              </a:ext>
            </a:extLst>
          </p:cNvPr>
          <p:cNvSpPr/>
          <p:nvPr/>
        </p:nvSpPr>
        <p:spPr>
          <a:xfrm>
            <a:off x="242978" y="3950898"/>
            <a:ext cx="2574000" cy="28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SiO2 = 3 mm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1B9EC9-3C0A-B0D9-52CC-06E5836E0B37}"/>
              </a:ext>
            </a:extLst>
          </p:cNvPr>
          <p:cNvSpPr/>
          <p:nvPr/>
        </p:nvSpPr>
        <p:spPr>
          <a:xfrm>
            <a:off x="242978" y="3478279"/>
            <a:ext cx="2574000" cy="46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HWOT = 67.2 nm</a:t>
            </a:r>
            <a:endParaRPr lang="en-GB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8A6892-1A73-B38B-CCF7-E02778CCABDE}"/>
              </a:ext>
            </a:extLst>
          </p:cNvPr>
          <p:cNvSpPr/>
          <p:nvPr/>
        </p:nvSpPr>
        <p:spPr>
          <a:xfrm>
            <a:off x="5928971" y="3950898"/>
            <a:ext cx="2573546" cy="28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SiO2 = 3 mm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1A661-1087-494A-1622-6BFFE633ED88}"/>
              </a:ext>
            </a:extLst>
          </p:cNvPr>
          <p:cNvSpPr/>
          <p:nvPr/>
        </p:nvSpPr>
        <p:spPr>
          <a:xfrm>
            <a:off x="5928970" y="3546976"/>
            <a:ext cx="2573547" cy="194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TiO2 = QWOT/2 = 27.14 nm</a:t>
            </a:r>
            <a:endParaRPr lang="en-GB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93B425-EBF7-8E00-DCA8-85F9D1B37EEB}"/>
              </a:ext>
            </a:extLst>
          </p:cNvPr>
          <p:cNvSpPr/>
          <p:nvPr/>
        </p:nvSpPr>
        <p:spPr>
          <a:xfrm>
            <a:off x="5925069" y="2846657"/>
            <a:ext cx="2573546" cy="691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MgF = QWOT = 96.08 nm</a:t>
            </a:r>
            <a:endParaRPr lang="en-GB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278F49-2AA2-8FB9-E1A4-80B7328A89D4}"/>
              </a:ext>
            </a:extLst>
          </p:cNvPr>
          <p:cNvSpPr/>
          <p:nvPr/>
        </p:nvSpPr>
        <p:spPr>
          <a:xfrm>
            <a:off x="5928969" y="2652257"/>
            <a:ext cx="2573547" cy="194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TiO2 = QWOT/2 = 27.14 nm</a:t>
            </a:r>
            <a:endParaRPr lang="en-GB" sz="1400" dirty="0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D9E83C76-5758-C5BC-3615-2A7A01A0BC89}"/>
              </a:ext>
            </a:extLst>
          </p:cNvPr>
          <p:cNvSpPr/>
          <p:nvPr/>
        </p:nvSpPr>
        <p:spPr>
          <a:xfrm>
            <a:off x="8502516" y="2852286"/>
            <a:ext cx="180582" cy="109861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B9A3DF-2527-3629-9C6B-9E2261F04588}"/>
              </a:ext>
            </a:extLst>
          </p:cNvPr>
          <p:cNvSpPr txBox="1"/>
          <p:nvPr/>
        </p:nvSpPr>
        <p:spPr>
          <a:xfrm rot="5400000">
            <a:off x="8250417" y="3244334"/>
            <a:ext cx="1178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unit-cell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021161-5093-9C40-F070-292449B9F99A}"/>
              </a:ext>
            </a:extLst>
          </p:cNvPr>
          <p:cNvSpPr txBox="1"/>
          <p:nvPr/>
        </p:nvSpPr>
        <p:spPr>
          <a:xfrm>
            <a:off x="854601" y="1018761"/>
            <a:ext cx="1431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Single-layer</a:t>
            </a:r>
            <a:endParaRPr lang="en-GB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32BE08-2760-40DD-1C01-8FDF891B92EC}"/>
              </a:ext>
            </a:extLst>
          </p:cNvPr>
          <p:cNvSpPr txBox="1"/>
          <p:nvPr/>
        </p:nvSpPr>
        <p:spPr>
          <a:xfrm>
            <a:off x="6096000" y="888568"/>
            <a:ext cx="21952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Fabry-Perot </a:t>
            </a:r>
          </a:p>
          <a:p>
            <a:r>
              <a:rPr lang="en-US" dirty="0"/>
              <a:t>N=1(MgF/SbSe) M=0</a:t>
            </a:r>
          </a:p>
          <a:p>
            <a:r>
              <a:rPr lang="en-US" dirty="0"/>
              <a:t>H = TiO2, L = MgF2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AB0C7-4C4C-31A5-16F1-E8E4E51A02E2}"/>
              </a:ext>
            </a:extLst>
          </p:cNvPr>
          <p:cNvSpPr/>
          <p:nvPr/>
        </p:nvSpPr>
        <p:spPr>
          <a:xfrm>
            <a:off x="9159527" y="3946279"/>
            <a:ext cx="2573546" cy="2896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SiO2 = 3 mm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53EC74-B799-1810-3AF5-6A595A55A58F}"/>
              </a:ext>
            </a:extLst>
          </p:cNvPr>
          <p:cNvSpPr txBox="1"/>
          <p:nvPr/>
        </p:nvSpPr>
        <p:spPr>
          <a:xfrm rot="5400000">
            <a:off x="11452984" y="3035119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unit-cells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5ED80B-FEF2-C389-54E1-58A49645242E}"/>
              </a:ext>
            </a:extLst>
          </p:cNvPr>
          <p:cNvSpPr txBox="1">
            <a:spLocks/>
          </p:cNvSpPr>
          <p:nvPr/>
        </p:nvSpPr>
        <p:spPr>
          <a:xfrm>
            <a:off x="-3696" y="-4206"/>
            <a:ext cx="5587200" cy="89277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532 nm Optical limiter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55E56-6E44-FD6C-3379-710335A1BAAE}"/>
              </a:ext>
            </a:extLst>
          </p:cNvPr>
          <p:cNvSpPr txBox="1"/>
          <p:nvPr/>
        </p:nvSpPr>
        <p:spPr>
          <a:xfrm>
            <a:off x="3070656" y="589933"/>
            <a:ext cx="3481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0000"/>
                </a:highlight>
              </a:rPr>
              <a:t>Reference wavelength = 532 nm</a:t>
            </a:r>
            <a:endParaRPr lang="en-GB" b="1" dirty="0">
              <a:highlight>
                <a:srgbClr val="FF0000"/>
              </a:highligh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3EBD3A-320C-CD97-72B7-0C0A7CD27FA3}"/>
              </a:ext>
            </a:extLst>
          </p:cNvPr>
          <p:cNvSpPr/>
          <p:nvPr/>
        </p:nvSpPr>
        <p:spPr>
          <a:xfrm>
            <a:off x="5928516" y="2083478"/>
            <a:ext cx="2574000" cy="180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6.6 nm</a:t>
            </a:r>
            <a:endParaRPr lang="en-GB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7DF160-55E2-FF78-F55D-B4DDD13D2CFD}"/>
              </a:ext>
            </a:extLst>
          </p:cNvPr>
          <p:cNvSpPr/>
          <p:nvPr/>
        </p:nvSpPr>
        <p:spPr>
          <a:xfrm>
            <a:off x="5928969" y="2270678"/>
            <a:ext cx="2573546" cy="367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MgF = 51.4 nm</a:t>
            </a:r>
            <a:endParaRPr lang="en-GB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433DFC-0F4B-4AE6-25C6-B0CE15FA0889}"/>
              </a:ext>
            </a:extLst>
          </p:cNvPr>
          <p:cNvSpPr/>
          <p:nvPr/>
        </p:nvSpPr>
        <p:spPr>
          <a:xfrm>
            <a:off x="9159528" y="3558124"/>
            <a:ext cx="2573547" cy="194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TiO2 = QWOT/2 = 27.14 nm</a:t>
            </a:r>
            <a:endParaRPr lang="en-GB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41448D-72D6-466E-1178-F219B9AD001D}"/>
              </a:ext>
            </a:extLst>
          </p:cNvPr>
          <p:cNvSpPr/>
          <p:nvPr/>
        </p:nvSpPr>
        <p:spPr>
          <a:xfrm>
            <a:off x="9155627" y="2857805"/>
            <a:ext cx="2573546" cy="691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MgF = QWOT = 96.08 nm</a:t>
            </a:r>
            <a:endParaRPr lang="en-GB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247982-112D-BF39-C4C7-3816DF63372E}"/>
              </a:ext>
            </a:extLst>
          </p:cNvPr>
          <p:cNvSpPr/>
          <p:nvPr/>
        </p:nvSpPr>
        <p:spPr>
          <a:xfrm>
            <a:off x="9159527" y="2663405"/>
            <a:ext cx="2573547" cy="194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TiO2 = QWOT/2 = 27.14 nm</a:t>
            </a:r>
            <a:endParaRPr lang="en-GB" sz="1400" dirty="0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775BDE89-B541-F2AD-F5F5-75DFB764BD70}"/>
              </a:ext>
            </a:extLst>
          </p:cNvPr>
          <p:cNvSpPr/>
          <p:nvPr/>
        </p:nvSpPr>
        <p:spPr>
          <a:xfrm>
            <a:off x="11733074" y="2678145"/>
            <a:ext cx="236812" cy="108328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3D751A7-05F5-1295-631E-56DAE709159A}"/>
              </a:ext>
            </a:extLst>
          </p:cNvPr>
          <p:cNvSpPr/>
          <p:nvPr/>
        </p:nvSpPr>
        <p:spPr>
          <a:xfrm>
            <a:off x="5924244" y="3756498"/>
            <a:ext cx="2573547" cy="194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TiO2 = QWOT/2 = 27.14 nm</a:t>
            </a:r>
            <a:endParaRPr lang="en-GB" sz="1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EEA93F-CC51-6379-15B3-62FC6B3A0478}"/>
              </a:ext>
            </a:extLst>
          </p:cNvPr>
          <p:cNvSpPr/>
          <p:nvPr/>
        </p:nvSpPr>
        <p:spPr>
          <a:xfrm>
            <a:off x="5924243" y="1890441"/>
            <a:ext cx="2573547" cy="194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TiO2 = QWOT/2 = 27.14 nm</a:t>
            </a:r>
            <a:endParaRPr lang="en-GB" sz="14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E82B61-4EC9-7DA0-EA89-2DE4E69C9380}"/>
              </a:ext>
            </a:extLst>
          </p:cNvPr>
          <p:cNvSpPr/>
          <p:nvPr/>
        </p:nvSpPr>
        <p:spPr>
          <a:xfrm>
            <a:off x="9163428" y="3752524"/>
            <a:ext cx="2573547" cy="194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TiO2 = QWOT/2 = 27.14 nm</a:t>
            </a:r>
            <a:endParaRPr lang="en-GB" sz="1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139779-49EF-186B-7C2E-45D4B7A50035}"/>
              </a:ext>
            </a:extLst>
          </p:cNvPr>
          <p:cNvSpPr/>
          <p:nvPr/>
        </p:nvSpPr>
        <p:spPr>
          <a:xfrm>
            <a:off x="9164201" y="2477906"/>
            <a:ext cx="2574000" cy="180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7.1 nm</a:t>
            </a:r>
            <a:endParaRPr lang="en-GB" sz="1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A85780-C71F-447C-434D-54B9A3634A81}"/>
              </a:ext>
            </a:extLst>
          </p:cNvPr>
          <p:cNvSpPr/>
          <p:nvPr/>
        </p:nvSpPr>
        <p:spPr>
          <a:xfrm>
            <a:off x="9163428" y="2272492"/>
            <a:ext cx="2573547" cy="194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TiO2  = 34.6 nm</a:t>
            </a:r>
            <a:endParaRPr lang="en-GB" sz="14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7D83077-A2C2-E8E3-9652-AD8EF559AEFE}"/>
              </a:ext>
            </a:extLst>
          </p:cNvPr>
          <p:cNvSpPr/>
          <p:nvPr/>
        </p:nvSpPr>
        <p:spPr>
          <a:xfrm>
            <a:off x="9162974" y="2077813"/>
            <a:ext cx="2574000" cy="180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7.1 nm</a:t>
            </a:r>
            <a:endParaRPr lang="en-GB" sz="1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54FA874-D004-E915-7288-5478D546887E}"/>
              </a:ext>
            </a:extLst>
          </p:cNvPr>
          <p:cNvSpPr/>
          <p:nvPr/>
        </p:nvSpPr>
        <p:spPr>
          <a:xfrm>
            <a:off x="9163427" y="1866839"/>
            <a:ext cx="2573547" cy="194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TiO2 = QWOT/2 = 27.14 nm</a:t>
            </a:r>
            <a:endParaRPr lang="en-GB" sz="14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D4D6E3C-A066-0A6B-BAB1-4A66C4FC29BB}"/>
              </a:ext>
            </a:extLst>
          </p:cNvPr>
          <p:cNvSpPr/>
          <p:nvPr/>
        </p:nvSpPr>
        <p:spPr>
          <a:xfrm>
            <a:off x="3037141" y="3962372"/>
            <a:ext cx="2574000" cy="28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SiO2 = 3 mm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35FC76-C852-83D1-8C2D-22C407E9F127}"/>
              </a:ext>
            </a:extLst>
          </p:cNvPr>
          <p:cNvSpPr txBox="1"/>
          <p:nvPr/>
        </p:nvSpPr>
        <p:spPr>
          <a:xfrm>
            <a:off x="3648764" y="1010208"/>
            <a:ext cx="1431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Single-layer</a:t>
            </a:r>
          </a:p>
          <a:p>
            <a:r>
              <a:rPr lang="en-US" b="1" dirty="0"/>
              <a:t>(non QWOT)</a:t>
            </a:r>
            <a:endParaRPr lang="en-GB" b="1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884E29B-A264-C951-B247-814E317D668F}"/>
              </a:ext>
            </a:extLst>
          </p:cNvPr>
          <p:cNvSpPr/>
          <p:nvPr/>
        </p:nvSpPr>
        <p:spPr>
          <a:xfrm>
            <a:off x="3044006" y="3784279"/>
            <a:ext cx="2574000" cy="162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SbSe = 22.6 nm</a:t>
            </a:r>
            <a:endParaRPr lang="en-GB" sz="14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6C14BA8-D050-182D-67BA-1EC5DACEA245}"/>
              </a:ext>
            </a:extLst>
          </p:cNvPr>
          <p:cNvSpPr/>
          <p:nvPr/>
        </p:nvSpPr>
        <p:spPr>
          <a:xfrm>
            <a:off x="3044460" y="3408899"/>
            <a:ext cx="2573546" cy="367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TiO2 = 56.6 nm</a:t>
            </a:r>
            <a:endParaRPr lang="en-GB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8C66B1-4F22-7406-405D-E53D09BF8B19}"/>
              </a:ext>
            </a:extLst>
          </p:cNvPr>
          <p:cNvSpPr txBox="1"/>
          <p:nvPr/>
        </p:nvSpPr>
        <p:spPr>
          <a:xfrm>
            <a:off x="9087157" y="901086"/>
            <a:ext cx="2710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Fabry-Perot </a:t>
            </a:r>
          </a:p>
          <a:p>
            <a:r>
              <a:rPr lang="en-US" dirty="0"/>
              <a:t>N=1(SbSe/TiO/SbSe) M=0</a:t>
            </a:r>
          </a:p>
          <a:p>
            <a:r>
              <a:rPr lang="en-US" dirty="0"/>
              <a:t>H = TiO2, L = MgF2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4253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56AE-BCFE-50FA-2893-6F35E2A5D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7E33-E6E4-5761-B297-7057BFEB6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78" y="365126"/>
            <a:ext cx="5588479" cy="892774"/>
          </a:xfrm>
          <a:solidFill>
            <a:srgbClr val="C00000"/>
          </a:solidFill>
        </p:spPr>
        <p:txBody>
          <a:bodyPr/>
          <a:lstStyle/>
          <a:p>
            <a:r>
              <a:rPr lang="en-US" dirty="0"/>
              <a:t>1064 nm Optical limiter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AE2FF-A6D0-CF83-13B9-4E39E217757D}"/>
              </a:ext>
            </a:extLst>
          </p:cNvPr>
          <p:cNvSpPr txBox="1"/>
          <p:nvPr/>
        </p:nvSpPr>
        <p:spPr>
          <a:xfrm>
            <a:off x="242978" y="1514475"/>
            <a:ext cx="58530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Endurance simulation</a:t>
            </a:r>
          </a:p>
          <a:p>
            <a:pPr marL="342900" indent="-342900">
              <a:buAutoNum type="arabicPeriod"/>
            </a:pPr>
            <a:r>
              <a:rPr lang="en-US" sz="3000" dirty="0"/>
              <a:t>Single-layer design (HWOT)</a:t>
            </a:r>
          </a:p>
          <a:p>
            <a:pPr marL="342900" indent="-342900">
              <a:buAutoNum type="arabicPeriod"/>
            </a:pPr>
            <a:r>
              <a:rPr lang="en-US" sz="3000" dirty="0"/>
              <a:t>Two-layer design (QWOT)</a:t>
            </a:r>
          </a:p>
          <a:p>
            <a:pPr marL="342900" indent="-342900">
              <a:buFontTx/>
              <a:buAutoNum type="arabicPeriod"/>
            </a:pPr>
            <a:r>
              <a:rPr lang="en-US" sz="3000" dirty="0"/>
              <a:t>Edge-filter design (N=3)</a:t>
            </a:r>
          </a:p>
          <a:p>
            <a:pPr marL="342900" indent="-342900">
              <a:buFontTx/>
              <a:buAutoNum type="arabicPeriod"/>
            </a:pPr>
            <a:r>
              <a:rPr lang="th-TH" sz="3000" dirty="0"/>
              <a:t>*ถ้ามีเวลา</a:t>
            </a:r>
            <a:r>
              <a:rPr lang="en-US" sz="3000" dirty="0"/>
              <a:t> Edge-filter design (</a:t>
            </a:r>
            <a:r>
              <a:rPr lang="en-US" sz="3000" dirty="0">
                <a:cs typeface="Arial" panose="020B0604020202020204" pitchFamily="34" charset="0"/>
              </a:rPr>
              <a:t>N=1, 5, 8</a:t>
            </a:r>
            <a:r>
              <a:rPr lang="en-US" sz="3000" dirty="0"/>
              <a:t>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93F11F-2BFC-978D-40AD-34B7DB5CD433}"/>
              </a:ext>
            </a:extLst>
          </p:cNvPr>
          <p:cNvSpPr txBox="1">
            <a:spLocks/>
          </p:cNvSpPr>
          <p:nvPr/>
        </p:nvSpPr>
        <p:spPr>
          <a:xfrm>
            <a:off x="6360545" y="365126"/>
            <a:ext cx="5587200" cy="892774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532 nm Optical limiter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C6A22-6A2E-53C7-98AE-5A14E8CB1B39}"/>
              </a:ext>
            </a:extLst>
          </p:cNvPr>
          <p:cNvSpPr txBox="1"/>
          <p:nvPr/>
        </p:nvSpPr>
        <p:spPr>
          <a:xfrm>
            <a:off x="6360545" y="1514475"/>
            <a:ext cx="614206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Endurance simulation</a:t>
            </a:r>
          </a:p>
          <a:p>
            <a:pPr marL="514350" indent="-514350">
              <a:buAutoNum type="arabicPeriod"/>
            </a:pPr>
            <a:r>
              <a:rPr lang="en-US" sz="3000" b="1" dirty="0"/>
              <a:t>Single-layer</a:t>
            </a:r>
          </a:p>
          <a:p>
            <a:pPr marL="514350" indent="-514350">
              <a:buAutoNum type="arabicPeriod"/>
            </a:pPr>
            <a:r>
              <a:rPr lang="en-US" sz="3000" b="1" dirty="0"/>
              <a:t>Two-layer (non QWOT)</a:t>
            </a:r>
          </a:p>
          <a:p>
            <a:pPr marL="514350" indent="-514350">
              <a:buAutoNum type="arabicPeriod"/>
            </a:pPr>
            <a:r>
              <a:rPr lang="en-US" sz="3000" b="1" dirty="0"/>
              <a:t>Fabry-Perot: </a:t>
            </a:r>
            <a:r>
              <a:rPr lang="en-US" sz="3000" dirty="0"/>
              <a:t>N1 (MgF/SbSe) M0</a:t>
            </a:r>
          </a:p>
        </p:txBody>
      </p:sp>
    </p:spTree>
    <p:extLst>
      <p:ext uri="{BB962C8B-B14F-4D97-AF65-F5344CB8AC3E}">
        <p14:creationId xmlns:p14="http://schemas.microsoft.com/office/powerpoint/2010/main" val="2856282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92F186-E1D4-A70A-AF7E-9E8451338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0"/>
            <a:ext cx="118364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7E47AC-082C-72EF-0152-D6DD7DBE47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37862"/>
          <a:stretch>
            <a:fillRect/>
          </a:stretch>
        </p:blipFill>
        <p:spPr>
          <a:xfrm>
            <a:off x="177800" y="2596550"/>
            <a:ext cx="11836400" cy="42614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E3E62E-DD0E-AC9D-F5EE-998A72DFD39A}"/>
              </a:ext>
            </a:extLst>
          </p:cNvPr>
          <p:cNvSpPr txBox="1"/>
          <p:nvPr/>
        </p:nvSpPr>
        <p:spPr>
          <a:xfrm>
            <a:off x="8773064" y="1121434"/>
            <a:ext cx="1904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T(amo)	= 93.8%</a:t>
            </a:r>
          </a:p>
          <a:p>
            <a:r>
              <a:rPr lang="en-US" dirty="0">
                <a:solidFill>
                  <a:srgbClr val="FF0000"/>
                </a:solidFill>
              </a:rPr>
              <a:t>T(cry)	= 0.9%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2E163-06A8-CE27-2209-D3F4C4E96593}"/>
              </a:ext>
            </a:extLst>
          </p:cNvPr>
          <p:cNvSpPr txBox="1"/>
          <p:nvPr/>
        </p:nvSpPr>
        <p:spPr>
          <a:xfrm>
            <a:off x="8721254" y="828136"/>
            <a:ext cx="2008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9-layer edge filter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580020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B00B04-05FC-FA96-283B-C23983A25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0"/>
            <a:ext cx="118364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264605-C9C0-11DF-C1EA-B25BE31A20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38240" b="-1"/>
          <a:stretch>
            <a:fillRect/>
          </a:stretch>
        </p:blipFill>
        <p:spPr>
          <a:xfrm>
            <a:off x="177800" y="2622430"/>
            <a:ext cx="11836400" cy="42355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B4A808-DB06-7263-36C9-7F0ADFABA0EB}"/>
              </a:ext>
            </a:extLst>
          </p:cNvPr>
          <p:cNvSpPr txBox="1"/>
          <p:nvPr/>
        </p:nvSpPr>
        <p:spPr>
          <a:xfrm>
            <a:off x="8773064" y="1121434"/>
            <a:ext cx="1904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T(amo)	= 93.6%</a:t>
            </a:r>
          </a:p>
          <a:p>
            <a:r>
              <a:rPr lang="en-US" dirty="0">
                <a:solidFill>
                  <a:srgbClr val="FF0000"/>
                </a:solidFill>
              </a:rPr>
              <a:t>T(cry)	= 0.21%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86CC82-AECD-BDD7-FAD1-26E1BA58DFD9}"/>
              </a:ext>
            </a:extLst>
          </p:cNvPr>
          <p:cNvSpPr txBox="1"/>
          <p:nvPr/>
        </p:nvSpPr>
        <p:spPr>
          <a:xfrm>
            <a:off x="8659539" y="828136"/>
            <a:ext cx="2131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11-layer edge filter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493845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2693</TotalTime>
  <Words>994</Words>
  <Application>Microsoft Office PowerPoint</Application>
  <PresentationFormat>Widescreen</PresentationFormat>
  <Paragraphs>157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Open Sans Italics</vt:lpstr>
      <vt:lpstr>Aptos</vt:lpstr>
      <vt:lpstr>Aptos Display</vt:lpstr>
      <vt:lpstr>Arial</vt:lpstr>
      <vt:lpstr>Open Sans</vt:lpstr>
      <vt:lpstr>Open Sans Bold</vt:lpstr>
      <vt:lpstr>Roboto Bold</vt:lpstr>
      <vt:lpstr>Office Theme</vt:lpstr>
      <vt:lpstr>Ideas</vt:lpstr>
      <vt:lpstr>Refractive index @1550nm Sb2Se3 vs VO2</vt:lpstr>
      <vt:lpstr>PowerPoint Presentation</vt:lpstr>
      <vt:lpstr>Refractive index @1550nm Sb2Se3 vs GST</vt:lpstr>
      <vt:lpstr>PowerPoint Presentation</vt:lpstr>
      <vt:lpstr>Sb2Se3 pros</vt:lpstr>
      <vt:lpstr>Sb2Se3 as optical limiter</vt:lpstr>
      <vt:lpstr>Why 532 and 1064 optical limiter?</vt:lpstr>
      <vt:lpstr>Refractive index, non-linear effect vs phase transition.</vt:lpstr>
      <vt:lpstr>PowerPoint Presentation</vt:lpstr>
      <vt:lpstr>Results</vt:lpstr>
      <vt:lpstr>1064 nm Optical limiter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532 nm Optical limiter</vt:lpstr>
      <vt:lpstr>PowerPoint Presentation</vt:lpstr>
      <vt:lpstr>PowerPoint Presentation</vt:lpstr>
      <vt:lpstr>PowerPoint Presentation</vt:lpstr>
      <vt:lpstr>600 nm Optical limiter</vt:lpstr>
      <vt:lpstr>1064 nm Optical limiter</vt:lpstr>
      <vt:lpstr>PowerPoint Presentation</vt:lpstr>
      <vt:lpstr>1064 nm Optical limiter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Chettanat Padungatthakij</dc:creator>
  <cp:lastModifiedBy>Chettanat Padungatthakij</cp:lastModifiedBy>
  <cp:revision>76</cp:revision>
  <dcterms:created xsi:type="dcterms:W3CDTF">2025-11-26T03:25:13Z</dcterms:created>
  <dcterms:modified xsi:type="dcterms:W3CDTF">2026-07-01T11:14:51Z</dcterms:modified>
</cp:coreProperties>
</file>