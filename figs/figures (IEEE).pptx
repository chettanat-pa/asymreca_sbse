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27"/>
  </p:notesMasterIdLst>
  <p:handoutMasterIdLst>
    <p:handoutMasterId r:id="rId28"/>
  </p:handoutMasterIdLst>
  <p:sldIdLst>
    <p:sldId id="298" r:id="rId2"/>
    <p:sldId id="299" r:id="rId3"/>
    <p:sldId id="287" r:id="rId4"/>
    <p:sldId id="300" r:id="rId5"/>
    <p:sldId id="289" r:id="rId6"/>
    <p:sldId id="303" r:id="rId7"/>
    <p:sldId id="290" r:id="rId8"/>
    <p:sldId id="293" r:id="rId9"/>
    <p:sldId id="301" r:id="rId10"/>
    <p:sldId id="294" r:id="rId11"/>
    <p:sldId id="284" r:id="rId12"/>
    <p:sldId id="295" r:id="rId13"/>
    <p:sldId id="296" r:id="rId14"/>
    <p:sldId id="302" r:id="rId15"/>
    <p:sldId id="297" r:id="rId16"/>
    <p:sldId id="273" r:id="rId17"/>
    <p:sldId id="256" r:id="rId18"/>
    <p:sldId id="257" r:id="rId19"/>
    <p:sldId id="258" r:id="rId20"/>
    <p:sldId id="260" r:id="rId21"/>
    <p:sldId id="261" r:id="rId22"/>
    <p:sldId id="262" r:id="rId23"/>
    <p:sldId id="264" r:id="rId24"/>
    <p:sldId id="265" r:id="rId25"/>
    <p:sldId id="259" r:id="rId26"/>
  </p:sldIdLst>
  <p:sldSz cx="11520488" cy="648017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41" userDrawn="1">
          <p15:clr>
            <a:srgbClr val="A4A3A4"/>
          </p15:clr>
        </p15:guide>
        <p15:guide id="2" pos="362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EA72E"/>
    <a:srgbClr val="96DCF8"/>
    <a:srgbClr val="0F9ED5"/>
    <a:srgbClr val="D9F2D0"/>
    <a:srgbClr val="FF6600"/>
    <a:srgbClr val="CC9900"/>
    <a:srgbClr val="FFFF99"/>
    <a:srgbClr val="0000F1"/>
    <a:srgbClr val="F40909"/>
    <a:srgbClr val="F42A2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08" autoAdjust="0"/>
    <p:restoredTop sz="94044" autoAdjust="0"/>
  </p:normalViewPr>
  <p:slideViewPr>
    <p:cSldViewPr snapToGrid="0">
      <p:cViewPr>
        <p:scale>
          <a:sx n="100" d="100"/>
          <a:sy n="100" d="100"/>
        </p:scale>
        <p:origin x="1026" y="426"/>
      </p:cViewPr>
      <p:guideLst>
        <p:guide orient="horz" pos="2041"/>
        <p:guide pos="3629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89" d="100"/>
          <a:sy n="89" d="100"/>
        </p:scale>
        <p:origin x="3630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7A9345C-020D-ABD5-27C2-44264CAF8BBF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C4975B-624B-BFE2-BEE9-76A217D45DF8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EB2F41-9719-4AEE-BEDF-5036ADBCF7E1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0FAA64-9A0D-C70F-B287-FC42EC55AB1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3FC8A-0031-6229-3DBE-4B54C788E0A3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2036D3-6882-4411-8C69-A7F464792960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855532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D6ECBE-534E-4AEE-8ADA-897E2D67A90F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3090B90-D4C3-44FA-A94E-B53CE27CF91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69459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1pPr>
    <a:lvl2pPr marL="431910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2pPr>
    <a:lvl3pPr marL="863821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3pPr>
    <a:lvl4pPr marL="1295732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4pPr>
    <a:lvl5pPr marL="172764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5pPr>
    <a:lvl6pPr marL="215955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6pPr>
    <a:lvl7pPr marL="259146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7pPr>
    <a:lvl8pPr marL="3023374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8pPr>
    <a:lvl9pPr marL="3455286" algn="l" defTabSz="863821" rtl="0" eaLnBrk="1" latinLnBrk="0" hangingPunct="1">
      <a:defRPr sz="11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3090B90-D4C3-44FA-A94E-B53CE27CF91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192576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440061" y="1060529"/>
            <a:ext cx="8640366" cy="2256061"/>
          </a:xfrm>
        </p:spPr>
        <p:txBody>
          <a:bodyPr anchor="b"/>
          <a:lstStyle>
            <a:lvl1pPr algn="ctr"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440061" y="3403592"/>
            <a:ext cx="8640366" cy="1564542"/>
          </a:xfrm>
        </p:spPr>
        <p:txBody>
          <a:bodyPr/>
          <a:lstStyle>
            <a:lvl1pPr marL="0" indent="0" algn="ctr">
              <a:buNone/>
              <a:defRPr sz="2268"/>
            </a:lvl1pPr>
            <a:lvl2pPr marL="432008" indent="0" algn="ctr">
              <a:buNone/>
              <a:defRPr sz="1890"/>
            </a:lvl2pPr>
            <a:lvl3pPr marL="864017" indent="0" algn="ctr">
              <a:buNone/>
              <a:defRPr sz="1701"/>
            </a:lvl3pPr>
            <a:lvl4pPr marL="1296025" indent="0" algn="ctr">
              <a:buNone/>
              <a:defRPr sz="1512"/>
            </a:lvl4pPr>
            <a:lvl5pPr marL="1728033" indent="0" algn="ctr">
              <a:buNone/>
              <a:defRPr sz="1512"/>
            </a:lvl5pPr>
            <a:lvl6pPr marL="2160041" indent="0" algn="ctr">
              <a:buNone/>
              <a:defRPr sz="1512"/>
            </a:lvl6pPr>
            <a:lvl7pPr marL="2592050" indent="0" algn="ctr">
              <a:buNone/>
              <a:defRPr sz="1512"/>
            </a:lvl7pPr>
            <a:lvl8pPr marL="3024058" indent="0" algn="ctr">
              <a:buNone/>
              <a:defRPr sz="1512"/>
            </a:lvl8pPr>
            <a:lvl9pPr marL="3456066" indent="0" algn="ctr">
              <a:buNone/>
              <a:defRPr sz="1512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402218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314845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6033" y="1615545"/>
            <a:ext cx="9936421" cy="2695572"/>
          </a:xfrm>
        </p:spPr>
        <p:txBody>
          <a:bodyPr anchor="b"/>
          <a:lstStyle>
            <a:lvl1pPr>
              <a:defRPr sz="566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6033" y="4336618"/>
            <a:ext cx="9936421" cy="1417538"/>
          </a:xfrm>
        </p:spPr>
        <p:txBody>
          <a:bodyPr/>
          <a:lstStyle>
            <a:lvl1pPr marL="0" indent="0">
              <a:buNone/>
              <a:defRPr sz="2268">
                <a:solidFill>
                  <a:schemeClr val="tx1">
                    <a:tint val="82000"/>
                  </a:schemeClr>
                </a:solidFill>
              </a:defRPr>
            </a:lvl1pPr>
            <a:lvl2pPr marL="432008" indent="0">
              <a:buNone/>
              <a:defRPr sz="1890">
                <a:solidFill>
                  <a:schemeClr val="tx1">
                    <a:tint val="82000"/>
                  </a:schemeClr>
                </a:solidFill>
              </a:defRPr>
            </a:lvl2pPr>
            <a:lvl3pPr marL="864017" indent="0">
              <a:buNone/>
              <a:defRPr sz="1701">
                <a:solidFill>
                  <a:schemeClr val="tx1">
                    <a:tint val="82000"/>
                  </a:schemeClr>
                </a:solidFill>
              </a:defRPr>
            </a:lvl3pPr>
            <a:lvl4pPr marL="1296025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4pPr>
            <a:lvl5pPr marL="1728033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5pPr>
            <a:lvl6pPr marL="2160041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6pPr>
            <a:lvl7pPr marL="2592050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7pPr>
            <a:lvl8pPr marL="3024058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8pPr>
            <a:lvl9pPr marL="3456066" indent="0">
              <a:buNone/>
              <a:defRPr sz="151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4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92034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32247" y="1725046"/>
            <a:ext cx="4896207" cy="41116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54244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4" y="345010"/>
            <a:ext cx="9936421" cy="125253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3535" y="1588543"/>
            <a:ext cx="4873706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3535" y="2367064"/>
            <a:ext cx="4873706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32247" y="1588543"/>
            <a:ext cx="4897708" cy="778521"/>
          </a:xfrm>
        </p:spPr>
        <p:txBody>
          <a:bodyPr anchor="b"/>
          <a:lstStyle>
            <a:lvl1pPr marL="0" indent="0">
              <a:buNone/>
              <a:defRPr sz="2268" b="1"/>
            </a:lvl1pPr>
            <a:lvl2pPr marL="432008" indent="0">
              <a:buNone/>
              <a:defRPr sz="1890" b="1"/>
            </a:lvl2pPr>
            <a:lvl3pPr marL="864017" indent="0">
              <a:buNone/>
              <a:defRPr sz="1701" b="1"/>
            </a:lvl3pPr>
            <a:lvl4pPr marL="1296025" indent="0">
              <a:buNone/>
              <a:defRPr sz="1512" b="1"/>
            </a:lvl4pPr>
            <a:lvl5pPr marL="1728033" indent="0">
              <a:buNone/>
              <a:defRPr sz="1512" b="1"/>
            </a:lvl5pPr>
            <a:lvl6pPr marL="2160041" indent="0">
              <a:buNone/>
              <a:defRPr sz="1512" b="1"/>
            </a:lvl6pPr>
            <a:lvl7pPr marL="2592050" indent="0">
              <a:buNone/>
              <a:defRPr sz="1512" b="1"/>
            </a:lvl7pPr>
            <a:lvl8pPr marL="3024058" indent="0">
              <a:buNone/>
              <a:defRPr sz="1512" b="1"/>
            </a:lvl8pPr>
            <a:lvl9pPr marL="3456066" indent="0">
              <a:buNone/>
              <a:defRPr sz="1512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32247" y="2367064"/>
            <a:ext cx="4897708" cy="348159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3636446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684450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986601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97708" y="933026"/>
            <a:ext cx="5832247" cy="4605124"/>
          </a:xfrm>
        </p:spPr>
        <p:txBody>
          <a:bodyPr/>
          <a:lstStyle>
            <a:lvl1pPr>
              <a:defRPr sz="3024"/>
            </a:lvl1pPr>
            <a:lvl2pPr>
              <a:defRPr sz="2646"/>
            </a:lvl2pPr>
            <a:lvl3pPr>
              <a:defRPr sz="2268"/>
            </a:lvl3pPr>
            <a:lvl4pPr>
              <a:defRPr sz="1890"/>
            </a:lvl4pPr>
            <a:lvl5pPr>
              <a:defRPr sz="1890"/>
            </a:lvl5pPr>
            <a:lvl6pPr>
              <a:defRPr sz="1890"/>
            </a:lvl6pPr>
            <a:lvl7pPr>
              <a:defRPr sz="1890"/>
            </a:lvl7pPr>
            <a:lvl8pPr>
              <a:defRPr sz="1890"/>
            </a:lvl8pPr>
            <a:lvl9pPr>
              <a:defRPr sz="189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96546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93535" y="432012"/>
            <a:ext cx="3715657" cy="1512041"/>
          </a:xfrm>
        </p:spPr>
        <p:txBody>
          <a:bodyPr anchor="b"/>
          <a:lstStyle>
            <a:lvl1pPr>
              <a:defRPr sz="302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97708" y="933026"/>
            <a:ext cx="5832247" cy="4605124"/>
          </a:xfrm>
        </p:spPr>
        <p:txBody>
          <a:bodyPr anchor="t"/>
          <a:lstStyle>
            <a:lvl1pPr marL="0" indent="0">
              <a:buNone/>
              <a:defRPr sz="3024"/>
            </a:lvl1pPr>
            <a:lvl2pPr marL="432008" indent="0">
              <a:buNone/>
              <a:defRPr sz="2646"/>
            </a:lvl2pPr>
            <a:lvl3pPr marL="864017" indent="0">
              <a:buNone/>
              <a:defRPr sz="2268"/>
            </a:lvl3pPr>
            <a:lvl4pPr marL="1296025" indent="0">
              <a:buNone/>
              <a:defRPr sz="1890"/>
            </a:lvl4pPr>
            <a:lvl5pPr marL="1728033" indent="0">
              <a:buNone/>
              <a:defRPr sz="1890"/>
            </a:lvl5pPr>
            <a:lvl6pPr marL="2160041" indent="0">
              <a:buNone/>
              <a:defRPr sz="1890"/>
            </a:lvl6pPr>
            <a:lvl7pPr marL="2592050" indent="0">
              <a:buNone/>
              <a:defRPr sz="1890"/>
            </a:lvl7pPr>
            <a:lvl8pPr marL="3024058" indent="0">
              <a:buNone/>
              <a:defRPr sz="1890"/>
            </a:lvl8pPr>
            <a:lvl9pPr marL="3456066" indent="0">
              <a:buNone/>
              <a:defRPr sz="189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93535" y="1944052"/>
            <a:ext cx="3715657" cy="3601598"/>
          </a:xfrm>
        </p:spPr>
        <p:txBody>
          <a:bodyPr/>
          <a:lstStyle>
            <a:lvl1pPr marL="0" indent="0">
              <a:buNone/>
              <a:defRPr sz="1512"/>
            </a:lvl1pPr>
            <a:lvl2pPr marL="432008" indent="0">
              <a:buNone/>
              <a:defRPr sz="1323"/>
            </a:lvl2pPr>
            <a:lvl3pPr marL="864017" indent="0">
              <a:buNone/>
              <a:defRPr sz="1134"/>
            </a:lvl3pPr>
            <a:lvl4pPr marL="1296025" indent="0">
              <a:buNone/>
              <a:defRPr sz="945"/>
            </a:lvl4pPr>
            <a:lvl5pPr marL="1728033" indent="0">
              <a:buNone/>
              <a:defRPr sz="945"/>
            </a:lvl5pPr>
            <a:lvl6pPr marL="2160041" indent="0">
              <a:buNone/>
              <a:defRPr sz="945"/>
            </a:lvl6pPr>
            <a:lvl7pPr marL="2592050" indent="0">
              <a:buNone/>
              <a:defRPr sz="945"/>
            </a:lvl7pPr>
            <a:lvl8pPr marL="3024058" indent="0">
              <a:buNone/>
              <a:defRPr sz="945"/>
            </a:lvl8pPr>
            <a:lvl9pPr marL="3456066" indent="0">
              <a:buNone/>
              <a:defRPr sz="94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22052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96201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244349" y="345009"/>
            <a:ext cx="2484105" cy="5491649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92033" y="345009"/>
            <a:ext cx="7308310" cy="549164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89385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92034" y="345010"/>
            <a:ext cx="9936421" cy="125253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92034" y="1725046"/>
            <a:ext cx="9936421" cy="41116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92033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DA190FC-D844-4E0A-A0A2-219D558319DC}" type="datetimeFigureOut">
              <a:rPr lang="en-GB" smtClean="0"/>
              <a:t>06/08/2026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16162" y="6006163"/>
            <a:ext cx="3888165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136345" y="6006163"/>
            <a:ext cx="2592110" cy="3450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34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9721035-3FF4-4FD6-AC9F-AA58A0AFABE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8396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864017" rtl="0" eaLnBrk="1" latinLnBrk="0" hangingPunct="1">
        <a:lnSpc>
          <a:spcPct val="90000"/>
        </a:lnSpc>
        <a:spcBef>
          <a:spcPct val="0"/>
        </a:spcBef>
        <a:buNone/>
        <a:defRPr sz="4158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16004" indent="-216004" algn="l" defTabSz="864017" rtl="0" eaLnBrk="1" latinLnBrk="0" hangingPunct="1">
        <a:lnSpc>
          <a:spcPct val="90000"/>
        </a:lnSpc>
        <a:spcBef>
          <a:spcPts val="945"/>
        </a:spcBef>
        <a:buFont typeface="Arial" panose="020B0604020202020204" pitchFamily="34" charset="0"/>
        <a:buChar char="•"/>
        <a:defRPr sz="2646" kern="1200">
          <a:solidFill>
            <a:schemeClr val="tx1"/>
          </a:solidFill>
          <a:latin typeface="+mn-lt"/>
          <a:ea typeface="+mn-ea"/>
          <a:cs typeface="+mn-cs"/>
        </a:defRPr>
      </a:lvl1pPr>
      <a:lvl2pPr marL="64801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2268" kern="1200">
          <a:solidFill>
            <a:schemeClr val="tx1"/>
          </a:solidFill>
          <a:latin typeface="+mn-lt"/>
          <a:ea typeface="+mn-ea"/>
          <a:cs typeface="+mn-cs"/>
        </a:defRPr>
      </a:lvl2pPr>
      <a:lvl3pPr marL="1080021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890" kern="1200">
          <a:solidFill>
            <a:schemeClr val="tx1"/>
          </a:solidFill>
          <a:latin typeface="+mn-lt"/>
          <a:ea typeface="+mn-ea"/>
          <a:cs typeface="+mn-cs"/>
        </a:defRPr>
      </a:lvl3pPr>
      <a:lvl4pPr marL="1512029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944037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376046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808054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240062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672070" indent="-216004" algn="l" defTabSz="864017" rtl="0" eaLnBrk="1" latinLnBrk="0" hangingPunct="1">
        <a:lnSpc>
          <a:spcPct val="90000"/>
        </a:lnSpc>
        <a:spcBef>
          <a:spcPts val="472"/>
        </a:spcBef>
        <a:buFont typeface="Arial" panose="020B0604020202020204" pitchFamily="34" charset="0"/>
        <a:buChar char="•"/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1pPr>
      <a:lvl2pPr marL="43200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2pPr>
      <a:lvl3pPr marL="864017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3pPr>
      <a:lvl4pPr marL="1296025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4pPr>
      <a:lvl5pPr marL="1728033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5pPr>
      <a:lvl6pPr marL="2160041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6pPr>
      <a:lvl7pPr marL="2592050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7pPr>
      <a:lvl8pPr marL="3024058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8pPr>
      <a:lvl9pPr marL="3456066" algn="l" defTabSz="864017" rtl="0" eaLnBrk="1" latinLnBrk="0" hangingPunct="1">
        <a:defRPr sz="17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image" Target="../media/image11.jp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jpg"/><Relationship Id="rId4" Type="http://schemas.openxmlformats.org/officeDocument/2006/relationships/image" Target="../media/image13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jpg"/><Relationship Id="rId3" Type="http://schemas.openxmlformats.org/officeDocument/2006/relationships/image" Target="../media/image14.png"/><Relationship Id="rId7" Type="http://schemas.openxmlformats.org/officeDocument/2006/relationships/image" Target="../media/image18.png"/><Relationship Id="rId12" Type="http://schemas.openxmlformats.org/officeDocument/2006/relationships/image" Target="../media/image23.jpg"/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jpg"/><Relationship Id="rId11" Type="http://schemas.openxmlformats.org/officeDocument/2006/relationships/image" Target="../media/image22.jpg"/><Relationship Id="rId5" Type="http://schemas.openxmlformats.org/officeDocument/2006/relationships/image" Target="../media/image16.jpg"/><Relationship Id="rId10" Type="http://schemas.openxmlformats.org/officeDocument/2006/relationships/image" Target="../media/image21.jpg"/><Relationship Id="rId4" Type="http://schemas.openxmlformats.org/officeDocument/2006/relationships/image" Target="../media/image15.png"/><Relationship Id="rId9" Type="http://schemas.openxmlformats.org/officeDocument/2006/relationships/image" Target="../media/image20.jp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jpg"/><Relationship Id="rId3" Type="http://schemas.openxmlformats.org/officeDocument/2006/relationships/image" Target="../media/image15.jpg"/><Relationship Id="rId7" Type="http://schemas.openxmlformats.org/officeDocument/2006/relationships/image" Target="../media/image21.jpg"/><Relationship Id="rId2" Type="http://schemas.openxmlformats.org/officeDocument/2006/relationships/image" Target="../media/image14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jpg"/><Relationship Id="rId5" Type="http://schemas.openxmlformats.org/officeDocument/2006/relationships/image" Target="../media/image18.png"/><Relationship Id="rId4" Type="http://schemas.openxmlformats.org/officeDocument/2006/relationships/image" Target="../media/image17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g"/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jpeg"/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42E25F28-08A0-0533-3FF0-1425898B28F1}"/>
              </a:ext>
            </a:extLst>
          </p:cNvPr>
          <p:cNvGrpSpPr/>
          <p:nvPr/>
        </p:nvGrpSpPr>
        <p:grpSpPr>
          <a:xfrm>
            <a:off x="4352243" y="72088"/>
            <a:ext cx="3168000" cy="6120000"/>
            <a:chOff x="4352244" y="72088"/>
            <a:chExt cx="2865427" cy="633599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C3289A8-A92F-A46F-57BC-26B37AAD3B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000"/>
            <a:stretch>
              <a:fillRect/>
            </a:stretch>
          </p:blipFill>
          <p:spPr bwMode="auto">
            <a:xfrm>
              <a:off x="4352244" y="72088"/>
              <a:ext cx="2816000" cy="3168000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DDC6853A-E572-BCDE-3BD4-61FF043782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0000"/>
            <a:stretch>
              <a:fillRect/>
            </a:stretch>
          </p:blipFill>
          <p:spPr bwMode="auto">
            <a:xfrm>
              <a:off x="4401671" y="3240087"/>
              <a:ext cx="2816000" cy="3168000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7E0A820-A6E1-904B-6DA6-668B487FED7B}"/>
                </a:ext>
              </a:extLst>
            </p:cNvPr>
            <p:cNvSpPr txBox="1"/>
            <p:nvPr/>
          </p:nvSpPr>
          <p:spPr bwMode="auto">
            <a:xfrm>
              <a:off x="5926004" y="177794"/>
              <a:ext cx="1157311" cy="254911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rtlCol="0">
              <a:spAutoFit/>
            </a:bodyPr>
            <a:lstStyle/>
            <a:p>
              <a:pPr algn="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Amorphous Sb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Se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GB" sz="10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4D6D5DC3-C4D8-A800-CFE9-B0E050E70319}"/>
                </a:ext>
              </a:extLst>
            </p:cNvPr>
            <p:cNvSpPr txBox="1"/>
            <p:nvPr/>
          </p:nvSpPr>
          <p:spPr bwMode="auto">
            <a:xfrm>
              <a:off x="5987397" y="3346257"/>
              <a:ext cx="1108014" cy="254911"/>
            </a:xfrm>
            <a:prstGeom prst="rect">
              <a:avLst/>
            </a:prstGeom>
            <a:noFill/>
            <a:ln>
              <a:noFill/>
            </a:ln>
          </p:spPr>
          <p:txBody>
            <a:bodyPr wrap="none" rtlCol="0">
              <a:spAutoFit/>
            </a:bodyPr>
            <a:lstStyle/>
            <a:p>
              <a:pPr algn="r"/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Crystalline Sb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2</a:t>
              </a:r>
              <a:r>
                <a:rPr lang="en-US" sz="1000" dirty="0">
                  <a:latin typeface="Arial" panose="020B0604020202020204" pitchFamily="34" charset="0"/>
                  <a:cs typeface="Arial" panose="020B0604020202020204" pitchFamily="34" charset="0"/>
                </a:rPr>
                <a:t>Se</a:t>
              </a:r>
              <a:r>
                <a:rPr lang="en-US" sz="1000" baseline="-25000" dirty="0">
                  <a:latin typeface="Arial" panose="020B0604020202020204" pitchFamily="34" charset="0"/>
                  <a:cs typeface="Arial" panose="020B0604020202020204" pitchFamily="34" charset="0"/>
                </a:rPr>
                <a:t>3</a:t>
              </a:r>
              <a:endParaRPr lang="en-GB" sz="1000" baseline="-25000" dirty="0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1F098F3-51A9-DC5C-A8C1-A13943BF9DD0}"/>
                </a:ext>
              </a:extLst>
            </p:cNvPr>
            <p:cNvSpPr txBox="1"/>
            <p:nvPr/>
          </p:nvSpPr>
          <p:spPr bwMode="auto">
            <a:xfrm>
              <a:off x="4585145" y="901257"/>
              <a:ext cx="918077" cy="223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Refractive index </a:t>
              </a:r>
              <a:r>
                <a:rPr lang="en-US" sz="800" b="1" i="1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en-GB" sz="800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B8918525-0CF3-C175-25DA-D144B70361DE}"/>
                </a:ext>
              </a:extLst>
            </p:cNvPr>
            <p:cNvSpPr txBox="1"/>
            <p:nvPr/>
          </p:nvSpPr>
          <p:spPr bwMode="auto">
            <a:xfrm>
              <a:off x="4691979" y="3568435"/>
              <a:ext cx="2315792" cy="223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800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Refractive index </a:t>
              </a:r>
              <a:r>
                <a:rPr lang="en-US" sz="800" b="1" i="1" dirty="0">
                  <a:solidFill>
                    <a:srgbClr val="0000F7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n</a:t>
              </a:r>
              <a:endParaRPr lang="en-GB" sz="800" b="1" i="1" dirty="0">
                <a:solidFill>
                  <a:srgbClr val="0000F7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504B99A-A866-4098-B7D1-0EB0C58A0120}"/>
                </a:ext>
              </a:extLst>
            </p:cNvPr>
            <p:cNvSpPr txBox="1"/>
            <p:nvPr/>
          </p:nvSpPr>
          <p:spPr bwMode="auto">
            <a:xfrm>
              <a:off x="4985855" y="2468862"/>
              <a:ext cx="1096416" cy="223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Extinction coefficient </a:t>
              </a:r>
              <a:r>
                <a:rPr lang="en-US" sz="800" b="1" i="1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endParaRPr lang="en-GB" sz="800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3E813FEC-3D1D-6F3D-0607-B2237B19EF68}"/>
                </a:ext>
              </a:extLst>
            </p:cNvPr>
            <p:cNvSpPr txBox="1"/>
            <p:nvPr/>
          </p:nvSpPr>
          <p:spPr bwMode="auto">
            <a:xfrm>
              <a:off x="5062443" y="5376600"/>
              <a:ext cx="1096416" cy="223048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Extinction coefficient </a:t>
              </a:r>
              <a:r>
                <a:rPr lang="en-US" sz="800" b="1" i="1" dirty="0">
                  <a:solidFill>
                    <a:srgbClr val="F50000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k</a:t>
              </a:r>
              <a:endParaRPr lang="en-GB" sz="800" b="1" i="1" dirty="0">
                <a:solidFill>
                  <a:srgbClr val="F50000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9034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DB041E1-689E-6056-3FF9-7C50E6E189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2244" y="650789"/>
            <a:ext cx="6336000" cy="363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276216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4" name="Group 63">
            <a:extLst>
              <a:ext uri="{FF2B5EF4-FFF2-40B4-BE49-F238E27FC236}">
                <a16:creationId xmlns:a16="http://schemas.microsoft.com/office/drawing/2014/main" id="{D25A2BEB-7625-C768-6859-08DE519A9F89}"/>
              </a:ext>
            </a:extLst>
          </p:cNvPr>
          <p:cNvGrpSpPr/>
          <p:nvPr/>
        </p:nvGrpSpPr>
        <p:grpSpPr>
          <a:xfrm>
            <a:off x="2613834" y="-55687"/>
            <a:ext cx="6336000" cy="6535862"/>
            <a:chOff x="2613834" y="-55687"/>
            <a:chExt cx="6336000" cy="6535862"/>
          </a:xfrm>
        </p:grpSpPr>
        <p:grpSp>
          <p:nvGrpSpPr>
            <p:cNvPr id="59" name="Group 58">
              <a:extLst>
                <a:ext uri="{FF2B5EF4-FFF2-40B4-BE49-F238E27FC236}">
                  <a16:creationId xmlns:a16="http://schemas.microsoft.com/office/drawing/2014/main" id="{16EF05C3-F4E7-F631-801F-38FF677A1D60}"/>
                </a:ext>
              </a:extLst>
            </p:cNvPr>
            <p:cNvGrpSpPr/>
            <p:nvPr/>
          </p:nvGrpSpPr>
          <p:grpSpPr>
            <a:xfrm>
              <a:off x="2881313" y="4036861"/>
              <a:ext cx="5762624" cy="2443314"/>
              <a:chOff x="2881313" y="3800634"/>
              <a:chExt cx="5762624" cy="2443314"/>
            </a:xfrm>
          </p:grpSpPr>
          <p:grpSp>
            <p:nvGrpSpPr>
              <p:cNvPr id="11" name="Group 10">
                <a:extLst>
                  <a:ext uri="{FF2B5EF4-FFF2-40B4-BE49-F238E27FC236}">
                    <a16:creationId xmlns:a16="http://schemas.microsoft.com/office/drawing/2014/main" id="{985A40DF-C5C0-473D-7533-7D70FF893EF1}"/>
                  </a:ext>
                </a:extLst>
              </p:cNvPr>
              <p:cNvGrpSpPr/>
              <p:nvPr/>
            </p:nvGrpSpPr>
            <p:grpSpPr>
              <a:xfrm>
                <a:off x="3101824" y="4047153"/>
                <a:ext cx="1432560" cy="1813560"/>
                <a:chOff x="3009900" y="1500840"/>
                <a:chExt cx="1432560" cy="1813560"/>
              </a:xfrm>
            </p:grpSpPr>
            <p:sp>
              <p:nvSpPr>
                <p:cNvPr id="2" name="Rectangle 1">
                  <a:extLst>
                    <a:ext uri="{FF2B5EF4-FFF2-40B4-BE49-F238E27FC236}">
                      <a16:creationId xmlns:a16="http://schemas.microsoft.com/office/drawing/2014/main" id="{69EEC1C1-E1C4-F6A7-8F4E-FC5834B29793}"/>
                    </a:ext>
                  </a:extLst>
                </p:cNvPr>
                <p:cNvSpPr/>
                <p:nvPr/>
              </p:nvSpPr>
              <p:spPr>
                <a:xfrm>
                  <a:off x="3009900" y="1500840"/>
                  <a:ext cx="1432560" cy="1813560"/>
                </a:xfrm>
                <a:prstGeom prst="rect">
                  <a:avLst/>
                </a:prstGeom>
                <a:solidFill>
                  <a:srgbClr val="DCEAF7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sp>
              <p:nvSpPr>
                <p:cNvPr id="5" name="Rectangle 4">
                  <a:extLst>
                    <a:ext uri="{FF2B5EF4-FFF2-40B4-BE49-F238E27FC236}">
                      <a16:creationId xmlns:a16="http://schemas.microsoft.com/office/drawing/2014/main" id="{8A8864C4-05DF-6D12-4B27-EBE0E6A26B17}"/>
                    </a:ext>
                  </a:extLst>
                </p:cNvPr>
                <p:cNvSpPr/>
                <p:nvPr/>
              </p:nvSpPr>
              <p:spPr>
                <a:xfrm>
                  <a:off x="3116580" y="2520087"/>
                  <a:ext cx="1234440" cy="720000"/>
                </a:xfrm>
                <a:prstGeom prst="rect">
                  <a:avLst/>
                </a:prstGeom>
                <a:solidFill>
                  <a:srgbClr val="46B1E1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8" name="Rectangle 7">
                  <a:extLst>
                    <a:ext uri="{FF2B5EF4-FFF2-40B4-BE49-F238E27FC236}">
                      <a16:creationId xmlns:a16="http://schemas.microsoft.com/office/drawing/2014/main" id="{9088F80A-8304-ADE0-6229-1998E4A3624E}"/>
                    </a:ext>
                  </a:extLst>
                </p:cNvPr>
                <p:cNvSpPr/>
                <p:nvPr/>
              </p:nvSpPr>
              <p:spPr>
                <a:xfrm>
                  <a:off x="3116580" y="2268087"/>
                  <a:ext cx="1234440" cy="252000"/>
                </a:xfrm>
                <a:prstGeom prst="rect">
                  <a:avLst/>
                </a:prstGeom>
                <a:solidFill>
                  <a:schemeClr val="accent4">
                    <a:lumMod val="40000"/>
                    <a:lumOff val="60000"/>
                  </a:schemeClr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  <p:sp>
              <p:nvSpPr>
                <p:cNvPr id="10" name="Rectangle 9">
                  <a:extLst>
                    <a:ext uri="{FF2B5EF4-FFF2-40B4-BE49-F238E27FC236}">
                      <a16:creationId xmlns:a16="http://schemas.microsoft.com/office/drawing/2014/main" id="{59A5660C-B63D-1D6E-5602-CEDCBD6C520F}"/>
                    </a:ext>
                  </a:extLst>
                </p:cNvPr>
                <p:cNvSpPr/>
                <p:nvPr/>
              </p:nvSpPr>
              <p:spPr>
                <a:xfrm>
                  <a:off x="3115310" y="2016087"/>
                  <a:ext cx="1234440" cy="252000"/>
                </a:xfrm>
                <a:prstGeom prst="rect">
                  <a:avLst/>
                </a:prstGeom>
                <a:solidFill>
                  <a:srgbClr val="4EA44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3EA04417-EB8C-1D16-4B01-BF3137EE4B9A}"/>
                  </a:ext>
                </a:extLst>
              </p:cNvPr>
              <p:cNvGrpSpPr/>
              <p:nvPr/>
            </p:nvGrpSpPr>
            <p:grpSpPr>
              <a:xfrm>
                <a:off x="5050314" y="4047453"/>
                <a:ext cx="1432560" cy="1813560"/>
                <a:chOff x="5050314" y="3658506"/>
                <a:chExt cx="1432560" cy="1813560"/>
              </a:xfrm>
            </p:grpSpPr>
            <p:grpSp>
              <p:nvGrpSpPr>
                <p:cNvPr id="12" name="Group 11">
                  <a:extLst>
                    <a:ext uri="{FF2B5EF4-FFF2-40B4-BE49-F238E27FC236}">
                      <a16:creationId xmlns:a16="http://schemas.microsoft.com/office/drawing/2014/main" id="{05D7A33B-67BF-CB2A-F6BB-7108C7FCBD91}"/>
                    </a:ext>
                  </a:extLst>
                </p:cNvPr>
                <p:cNvGrpSpPr/>
                <p:nvPr/>
              </p:nvGrpSpPr>
              <p:grpSpPr>
                <a:xfrm>
                  <a:off x="5050314" y="3658506"/>
                  <a:ext cx="1432560" cy="1813560"/>
                  <a:chOff x="3009900" y="1501140"/>
                  <a:chExt cx="1432560" cy="1813560"/>
                </a:xfrm>
              </p:grpSpPr>
              <p:sp>
                <p:nvSpPr>
                  <p:cNvPr id="13" name="Rectangle 12">
                    <a:extLst>
                      <a:ext uri="{FF2B5EF4-FFF2-40B4-BE49-F238E27FC236}">
                        <a16:creationId xmlns:a16="http://schemas.microsoft.com/office/drawing/2014/main" id="{B46890FD-EEBE-439C-064B-E044AB32FDC3}"/>
                      </a:ext>
                    </a:extLst>
                  </p:cNvPr>
                  <p:cNvSpPr/>
                  <p:nvPr/>
                </p:nvSpPr>
                <p:spPr>
                  <a:xfrm>
                    <a:off x="3009900" y="1501140"/>
                    <a:ext cx="1432560" cy="1813560"/>
                  </a:xfrm>
                  <a:prstGeom prst="rect">
                    <a:avLst/>
                  </a:prstGeom>
                  <a:solidFill>
                    <a:srgbClr val="DCEAF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4" name="Rectangle 13">
                    <a:extLst>
                      <a:ext uri="{FF2B5EF4-FFF2-40B4-BE49-F238E27FC236}">
                        <a16:creationId xmlns:a16="http://schemas.microsoft.com/office/drawing/2014/main" id="{C62BD423-B37D-DB60-88C7-4750FAE5352A}"/>
                      </a:ext>
                    </a:extLst>
                  </p:cNvPr>
                  <p:cNvSpPr/>
                  <p:nvPr/>
                </p:nvSpPr>
                <p:spPr>
                  <a:xfrm>
                    <a:off x="3116580" y="2520087"/>
                    <a:ext cx="1234440" cy="720000"/>
                  </a:xfrm>
                  <a:prstGeom prst="rect">
                    <a:avLst/>
                  </a:prstGeom>
                  <a:solidFill>
                    <a:srgbClr val="46B1E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5" name="Rectangle 14">
                    <a:extLst>
                      <a:ext uri="{FF2B5EF4-FFF2-40B4-BE49-F238E27FC236}">
                        <a16:creationId xmlns:a16="http://schemas.microsoft.com/office/drawing/2014/main" id="{42EE3AB4-04D8-90B7-EA80-059B0DA3112C}"/>
                      </a:ext>
                    </a:extLst>
                  </p:cNvPr>
                  <p:cNvSpPr/>
                  <p:nvPr/>
                </p:nvSpPr>
                <p:spPr>
                  <a:xfrm>
                    <a:off x="3116580" y="2268087"/>
                    <a:ext cx="1234440" cy="25200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16" name="Rectangle 15">
                    <a:extLst>
                      <a:ext uri="{FF2B5EF4-FFF2-40B4-BE49-F238E27FC236}">
                        <a16:creationId xmlns:a16="http://schemas.microsoft.com/office/drawing/2014/main" id="{4871DCC8-4B21-041C-7C32-8D5238073C1B}"/>
                      </a:ext>
                    </a:extLst>
                  </p:cNvPr>
                  <p:cNvSpPr/>
                  <p:nvPr/>
                </p:nvSpPr>
                <p:spPr>
                  <a:xfrm>
                    <a:off x="3116896" y="2016087"/>
                    <a:ext cx="1234440" cy="252000"/>
                  </a:xfrm>
                  <a:prstGeom prst="rect">
                    <a:avLst/>
                  </a:prstGeom>
                  <a:solidFill>
                    <a:srgbClr val="FFC000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sp>
              <p:nvSpPr>
                <p:cNvPr id="23" name="Rectangle 22">
                  <a:extLst>
                    <a:ext uri="{FF2B5EF4-FFF2-40B4-BE49-F238E27FC236}">
                      <a16:creationId xmlns:a16="http://schemas.microsoft.com/office/drawing/2014/main" id="{B87FBFDD-5887-94D7-FD2A-4FEB29858FFC}"/>
                    </a:ext>
                  </a:extLst>
                </p:cNvPr>
                <p:cNvSpPr/>
                <p:nvPr/>
              </p:nvSpPr>
              <p:spPr>
                <a:xfrm>
                  <a:off x="5158106" y="3921453"/>
                  <a:ext cx="1234440" cy="252000"/>
                </a:xfrm>
                <a:prstGeom prst="rect">
                  <a:avLst/>
                </a:prstGeom>
                <a:solidFill>
                  <a:srgbClr val="4EA44D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grpSp>
            <p:nvGrpSpPr>
              <p:cNvPr id="27" name="Group 26">
                <a:extLst>
                  <a:ext uri="{FF2B5EF4-FFF2-40B4-BE49-F238E27FC236}">
                    <a16:creationId xmlns:a16="http://schemas.microsoft.com/office/drawing/2014/main" id="{D5DB70A5-D709-E40F-E463-286D7756065A}"/>
                  </a:ext>
                </a:extLst>
              </p:cNvPr>
              <p:cNvGrpSpPr/>
              <p:nvPr/>
            </p:nvGrpSpPr>
            <p:grpSpPr>
              <a:xfrm>
                <a:off x="6986104" y="4047453"/>
                <a:ext cx="1432560" cy="1813560"/>
                <a:chOff x="6986104" y="3658506"/>
                <a:chExt cx="1432560" cy="1813560"/>
              </a:xfrm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27BD492D-43C8-F612-5448-A3094CF06234}"/>
                    </a:ext>
                  </a:extLst>
                </p:cNvPr>
                <p:cNvGrpSpPr/>
                <p:nvPr/>
              </p:nvGrpSpPr>
              <p:grpSpPr>
                <a:xfrm>
                  <a:off x="6986104" y="3658506"/>
                  <a:ext cx="1432560" cy="1813560"/>
                  <a:chOff x="3009900" y="1501140"/>
                  <a:chExt cx="1432560" cy="1813560"/>
                </a:xfrm>
              </p:grpSpPr>
              <p:sp>
                <p:nvSpPr>
                  <p:cNvPr id="18" name="Rectangle 17">
                    <a:extLst>
                      <a:ext uri="{FF2B5EF4-FFF2-40B4-BE49-F238E27FC236}">
                        <a16:creationId xmlns:a16="http://schemas.microsoft.com/office/drawing/2014/main" id="{D8407ADE-5829-3B6C-CC9B-75957A88E1D8}"/>
                      </a:ext>
                    </a:extLst>
                  </p:cNvPr>
                  <p:cNvSpPr/>
                  <p:nvPr/>
                </p:nvSpPr>
                <p:spPr>
                  <a:xfrm>
                    <a:off x="3009900" y="1501140"/>
                    <a:ext cx="1432560" cy="1813560"/>
                  </a:xfrm>
                  <a:prstGeom prst="rect">
                    <a:avLst/>
                  </a:prstGeom>
                  <a:solidFill>
                    <a:srgbClr val="DCEAF7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/>
                  </a:p>
                </p:txBody>
              </p:sp>
              <p:sp>
                <p:nvSpPr>
                  <p:cNvPr id="19" name="Rectangle 18">
                    <a:extLst>
                      <a:ext uri="{FF2B5EF4-FFF2-40B4-BE49-F238E27FC236}">
                        <a16:creationId xmlns:a16="http://schemas.microsoft.com/office/drawing/2014/main" id="{1855D3DC-8978-512E-8344-6494ED4FC0D1}"/>
                      </a:ext>
                    </a:extLst>
                  </p:cNvPr>
                  <p:cNvSpPr/>
                  <p:nvPr/>
                </p:nvSpPr>
                <p:spPr>
                  <a:xfrm>
                    <a:off x="3116580" y="2520087"/>
                    <a:ext cx="1234440" cy="720000"/>
                  </a:xfrm>
                  <a:prstGeom prst="rect">
                    <a:avLst/>
                  </a:prstGeom>
                  <a:solidFill>
                    <a:srgbClr val="46B1E1"/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0" name="Rectangle 19">
                    <a:extLst>
                      <a:ext uri="{FF2B5EF4-FFF2-40B4-BE49-F238E27FC236}">
                        <a16:creationId xmlns:a16="http://schemas.microsoft.com/office/drawing/2014/main" id="{FF1C4A8D-639A-BE8D-3D95-22DF461C5516}"/>
                      </a:ext>
                    </a:extLst>
                  </p:cNvPr>
                  <p:cNvSpPr/>
                  <p:nvPr/>
                </p:nvSpPr>
                <p:spPr>
                  <a:xfrm>
                    <a:off x="3116580" y="2016087"/>
                    <a:ext cx="1234440" cy="252000"/>
                  </a:xfrm>
                  <a:prstGeom prst="rect">
                    <a:avLst/>
                  </a:prstGeom>
                  <a:solidFill>
                    <a:schemeClr val="accent4">
                      <a:lumMod val="40000"/>
                      <a:lumOff val="6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  <p:sp>
                <p:nvSpPr>
                  <p:cNvPr id="21" name="Rectangle 20">
                    <a:extLst>
                      <a:ext uri="{FF2B5EF4-FFF2-40B4-BE49-F238E27FC236}">
                        <a16:creationId xmlns:a16="http://schemas.microsoft.com/office/drawing/2014/main" id="{768F62FF-B30B-9287-7E7F-A9D6669804C4}"/>
                      </a:ext>
                    </a:extLst>
                  </p:cNvPr>
                  <p:cNvSpPr/>
                  <p:nvPr/>
                </p:nvSpPr>
                <p:spPr>
                  <a:xfrm>
                    <a:off x="3115310" y="1764087"/>
                    <a:ext cx="1234440" cy="252000"/>
                  </a:xfrm>
                  <a:prstGeom prst="rect">
                    <a:avLst/>
                  </a:prstGeom>
                  <a:solidFill>
                    <a:schemeClr val="accent2">
                      <a:lumMod val="40000"/>
                      <a:lumOff val="60000"/>
                    </a:schemeClr>
                  </a:solidFill>
                  <a:ln>
                    <a:noFill/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GB" dirty="0"/>
                  </a:p>
                </p:txBody>
              </p:sp>
            </p:grpSp>
            <p:sp>
              <p:nvSpPr>
                <p:cNvPr id="25" name="Rectangle 24">
                  <a:extLst>
                    <a:ext uri="{FF2B5EF4-FFF2-40B4-BE49-F238E27FC236}">
                      <a16:creationId xmlns:a16="http://schemas.microsoft.com/office/drawing/2014/main" id="{86CD3AC7-39CB-9821-8115-C275F934A312}"/>
                    </a:ext>
                  </a:extLst>
                </p:cNvPr>
                <p:cNvSpPr/>
                <p:nvPr/>
              </p:nvSpPr>
              <p:spPr>
                <a:xfrm>
                  <a:off x="7091514" y="4425453"/>
                  <a:ext cx="1234440" cy="252000"/>
                </a:xfrm>
                <a:prstGeom prst="rect">
                  <a:avLst/>
                </a:prstGeom>
                <a:solidFill>
                  <a:srgbClr val="FF66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 dirty="0"/>
                </a:p>
              </p:txBody>
            </p:sp>
          </p:grpSp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4EC85F67-882F-F076-0945-A53128AB971A}"/>
                  </a:ext>
                </a:extLst>
              </p:cNvPr>
              <p:cNvSpPr txBox="1"/>
              <p:nvPr/>
            </p:nvSpPr>
            <p:spPr>
              <a:xfrm>
                <a:off x="2881313" y="5936171"/>
                <a:ext cx="576262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  <a:r>
                  <a:rPr lang="th-TH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 </a:t>
                </a:r>
                <a:r>
                  <a:rPr lang="en-US" sz="14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Thickness of each design</a:t>
                </a:r>
                <a:endParaRPr lang="en-GB" sz="14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B3081A5A-678A-E4CD-BE52-212A1D838AD1}"/>
                  </a:ext>
                </a:extLst>
              </p:cNvPr>
              <p:cNvSpPr txBox="1"/>
              <p:nvPr/>
            </p:nvSpPr>
            <p:spPr>
              <a:xfrm>
                <a:off x="3101824" y="3800634"/>
                <a:ext cx="143256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Two-layer design</a:t>
                </a:r>
                <a:endParaRPr lang="en-GB" sz="1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01FC54B6-28DE-CA0B-9727-B3DB2F12886E}"/>
                  </a:ext>
                </a:extLst>
              </p:cNvPr>
              <p:cNvSpPr txBox="1"/>
              <p:nvPr/>
            </p:nvSpPr>
            <p:spPr>
              <a:xfrm>
                <a:off x="5057934" y="3800933"/>
                <a:ext cx="143256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Three-layer #1</a:t>
                </a:r>
                <a:endParaRPr lang="en-GB" sz="1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3932E130-A150-BE53-A75E-A03A951C42B5}"/>
                  </a:ext>
                </a:extLst>
              </p:cNvPr>
              <p:cNvSpPr txBox="1"/>
              <p:nvPr/>
            </p:nvSpPr>
            <p:spPr>
              <a:xfrm>
                <a:off x="6986104" y="3800932"/>
                <a:ext cx="1432560" cy="24622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Three-layer #2</a:t>
                </a:r>
                <a:endParaRPr lang="en-GB" sz="1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7" name="TextBox 36">
                <a:extLst>
                  <a:ext uri="{FF2B5EF4-FFF2-40B4-BE49-F238E27FC236}">
                    <a16:creationId xmlns:a16="http://schemas.microsoft.com/office/drawing/2014/main" id="{3FCCED5A-E1A5-CB64-2860-A0C06F7F93DE}"/>
                  </a:ext>
                </a:extLst>
              </p:cNvPr>
              <p:cNvSpPr txBox="1"/>
              <p:nvPr/>
            </p:nvSpPr>
            <p:spPr>
              <a:xfrm>
                <a:off x="3207234" y="5343399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Substrate</a:t>
                </a:r>
                <a:endParaRPr lang="en-GB" sz="9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72278144-85AE-30DA-3C02-EB45FBED55CC}"/>
                  </a:ext>
                </a:extLst>
              </p:cNvPr>
              <p:cNvSpPr txBox="1"/>
              <p:nvPr/>
            </p:nvSpPr>
            <p:spPr>
              <a:xfrm>
                <a:off x="3198019" y="4821122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 78.9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2752D5BC-70B9-1ED2-D8AD-1DACF30161C1}"/>
                  </a:ext>
                </a:extLst>
              </p:cNvPr>
              <p:cNvSpPr txBox="1"/>
              <p:nvPr/>
            </p:nvSpPr>
            <p:spPr>
              <a:xfrm>
                <a:off x="3198019" y="4575873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TiO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115.2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A4EDA295-4343-48B5-AF4A-7B9BCBFD7EC8}"/>
                  </a:ext>
                </a:extLst>
              </p:cNvPr>
              <p:cNvSpPr txBox="1"/>
              <p:nvPr/>
            </p:nvSpPr>
            <p:spPr>
              <a:xfrm>
                <a:off x="5154137" y="4827873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 78.9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5" name="TextBox 44">
                <a:extLst>
                  <a:ext uri="{FF2B5EF4-FFF2-40B4-BE49-F238E27FC236}">
                    <a16:creationId xmlns:a16="http://schemas.microsoft.com/office/drawing/2014/main" id="{5847429D-7314-6777-141A-808F8F7BD23C}"/>
                  </a:ext>
                </a:extLst>
              </p:cNvPr>
              <p:cNvSpPr txBox="1"/>
              <p:nvPr/>
            </p:nvSpPr>
            <p:spPr>
              <a:xfrm>
                <a:off x="5157313" y="4569270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Si = 149.6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6076E8F-4796-393A-626D-87C6F206FA8B}"/>
                  </a:ext>
                </a:extLst>
              </p:cNvPr>
              <p:cNvSpPr txBox="1"/>
              <p:nvPr/>
            </p:nvSpPr>
            <p:spPr>
              <a:xfrm>
                <a:off x="5164614" y="5343399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Substrate</a:t>
                </a:r>
                <a:endParaRPr lang="en-GB" sz="9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9" name="TextBox 48">
                <a:extLst>
                  <a:ext uri="{FF2B5EF4-FFF2-40B4-BE49-F238E27FC236}">
                    <a16:creationId xmlns:a16="http://schemas.microsoft.com/office/drawing/2014/main" id="{84F6E206-1511-3D26-E516-CF5BA84751FE}"/>
                  </a:ext>
                </a:extLst>
              </p:cNvPr>
              <p:cNvSpPr txBox="1"/>
              <p:nvPr/>
            </p:nvSpPr>
            <p:spPr>
              <a:xfrm>
                <a:off x="7085164" y="5340596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Substrate</a:t>
                </a:r>
                <a:endParaRPr lang="en-GB" sz="9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DCFF9E63-F2DE-000D-F40E-4FD937617889}"/>
                  </a:ext>
                </a:extLst>
              </p:cNvPr>
              <p:cNvSpPr txBox="1"/>
              <p:nvPr/>
            </p:nvSpPr>
            <p:spPr>
              <a:xfrm>
                <a:off x="6998804" y="4572107"/>
                <a:ext cx="132715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157.9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4" name="TextBox 53">
                <a:extLst>
                  <a:ext uri="{FF2B5EF4-FFF2-40B4-BE49-F238E27FC236}">
                    <a16:creationId xmlns:a16="http://schemas.microsoft.com/office/drawing/2014/main" id="{FF4A0328-59FE-55BE-5A5C-61B8151C7A1A}"/>
                  </a:ext>
                </a:extLst>
              </p:cNvPr>
              <p:cNvSpPr txBox="1"/>
              <p:nvPr/>
            </p:nvSpPr>
            <p:spPr>
              <a:xfrm>
                <a:off x="7085164" y="4320947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Al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O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164.6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6" name="TextBox 55">
                <a:extLst>
                  <a:ext uri="{FF2B5EF4-FFF2-40B4-BE49-F238E27FC236}">
                    <a16:creationId xmlns:a16="http://schemas.microsoft.com/office/drawing/2014/main" id="{EF740732-009A-7B6C-EFEC-0630B69C0C2A}"/>
                  </a:ext>
                </a:extLst>
              </p:cNvPr>
              <p:cNvSpPr txBox="1"/>
              <p:nvPr/>
            </p:nvSpPr>
            <p:spPr>
              <a:xfrm>
                <a:off x="7085164" y="4821121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Si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N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4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133.2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58" name="TextBox 57">
                <a:extLst>
                  <a:ext uri="{FF2B5EF4-FFF2-40B4-BE49-F238E27FC236}">
                    <a16:creationId xmlns:a16="http://schemas.microsoft.com/office/drawing/2014/main" id="{2B200211-968A-68DB-53A2-D83E94916DAD}"/>
                  </a:ext>
                </a:extLst>
              </p:cNvPr>
              <p:cNvSpPr txBox="1"/>
              <p:nvPr/>
            </p:nvSpPr>
            <p:spPr>
              <a:xfrm>
                <a:off x="5155088" y="4327063"/>
                <a:ext cx="1234440" cy="230832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TiO</a:t>
                </a:r>
                <a:r>
                  <a:rPr lang="en-US" sz="9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9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= 115.2 nm</a:t>
                </a:r>
                <a:endParaRPr lang="en-GB" sz="9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3370839C-A507-D563-EDE6-16C221588724}"/>
                </a:ext>
              </a:extLst>
            </p:cNvPr>
            <p:cNvGrpSpPr/>
            <p:nvPr/>
          </p:nvGrpSpPr>
          <p:grpSpPr>
            <a:xfrm>
              <a:off x="2613834" y="-55687"/>
              <a:ext cx="6336000" cy="3979618"/>
              <a:chOff x="2613834" y="-319419"/>
              <a:chExt cx="6336000" cy="3979618"/>
            </a:xfrm>
          </p:grpSpPr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607168DC-234E-7740-6BA9-BC8CD64F0D4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70" t="9788" r="7828" b="2751"/>
              <a:stretch>
                <a:fillRect/>
              </a:stretch>
            </p:blipFill>
            <p:spPr>
              <a:xfrm>
                <a:off x="2613834" y="-319419"/>
                <a:ext cx="6336000" cy="3658506"/>
              </a:xfrm>
              <a:prstGeom prst="rect">
                <a:avLst/>
              </a:prstGeom>
            </p:spPr>
          </p:pic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31DE21A4-2D88-A66E-3EEF-C46FAC35A6AF}"/>
                  </a:ext>
                </a:extLst>
              </p:cNvPr>
              <p:cNvSpPr txBox="1"/>
              <p:nvPr/>
            </p:nvSpPr>
            <p:spPr>
              <a:xfrm>
                <a:off x="2900522" y="3352422"/>
                <a:ext cx="5762624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  <a:r>
                  <a:rPr lang="th-TH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 </a:t>
                </a:r>
                <a:r>
                  <a:rPr lang="en-US" sz="14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Reflectance of each design</a:t>
                </a:r>
                <a:endParaRPr lang="en-GB" sz="14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5959306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B79AE628-8A3B-49A7-8A3F-6471DB656315}"/>
              </a:ext>
            </a:extLst>
          </p:cNvPr>
          <p:cNvGrpSpPr/>
          <p:nvPr/>
        </p:nvGrpSpPr>
        <p:grpSpPr>
          <a:xfrm>
            <a:off x="4176244" y="-447811"/>
            <a:ext cx="3168000" cy="7162935"/>
            <a:chOff x="4176244" y="-447811"/>
            <a:chExt cx="3168000" cy="7162935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B6285CA7-4AC3-A58C-69AC-E25884367C5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76244" y="3144837"/>
              <a:ext cx="3168000" cy="3570287"/>
              <a:chOff x="5760244" y="415666"/>
              <a:chExt cx="5760244" cy="649170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B8638B5A-75A1-7531-3D48-1FCED3A177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738" r="4323" b="126"/>
              <a:stretch>
                <a:fillRect/>
              </a:stretch>
            </p:blipFill>
            <p:spPr>
              <a:xfrm>
                <a:off x="5760244" y="415666"/>
                <a:ext cx="5760244" cy="6240583"/>
              </a:xfrm>
              <a:prstGeom prst="rect">
                <a:avLst/>
              </a:prstGeom>
            </p:spPr>
          </p:pic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2537214B-EE9F-30E0-CAAC-EB753F9E984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760244" y="6452620"/>
                <a:ext cx="5760244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(b) Reflectance of different three-layer designs</a:t>
                </a:r>
              </a:p>
            </p:txBody>
          </p:sp>
        </p:grpSp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9EE11742-0357-82E8-6919-358F3B516E55}"/>
                </a:ext>
              </a:extLst>
            </p:cNvPr>
            <p:cNvGrpSpPr>
              <a:grpSpLocks/>
            </p:cNvGrpSpPr>
            <p:nvPr/>
          </p:nvGrpSpPr>
          <p:grpSpPr>
            <a:xfrm>
              <a:off x="4176244" y="-447811"/>
              <a:ext cx="3168000" cy="3486286"/>
              <a:chOff x="0" y="-225380"/>
              <a:chExt cx="5760244" cy="6338972"/>
            </a:xfrm>
          </p:grpSpPr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DA21D516-35C3-CA97-F398-C2E11130475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0020" r="4323" b="2847"/>
              <a:stretch>
                <a:fillRect/>
              </a:stretch>
            </p:blipFill>
            <p:spPr>
              <a:xfrm>
                <a:off x="0" y="-225380"/>
                <a:ext cx="5760244" cy="5901539"/>
              </a:xfrm>
              <a:prstGeom prst="rect">
                <a:avLst/>
              </a:prstGeom>
            </p:spPr>
          </p:pic>
          <p:sp>
            <p:nvSpPr>
              <p:cNvPr id="5" name="Text Box 2">
                <a:extLst>
                  <a:ext uri="{FF2B5EF4-FFF2-40B4-BE49-F238E27FC236}">
                    <a16:creationId xmlns:a16="http://schemas.microsoft.com/office/drawing/2014/main" id="{CBE952BF-9C72-F766-8F80-1ED2C0B7D780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0" y="5658840"/>
                <a:ext cx="5760244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(a) Reflectance of single and two-layer designs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6688656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>
            <a:extLst>
              <a:ext uri="{FF2B5EF4-FFF2-40B4-BE49-F238E27FC236}">
                <a16:creationId xmlns:a16="http://schemas.microsoft.com/office/drawing/2014/main" id="{E4F0D1DE-F63B-A1F2-E04A-156B9242A536}"/>
              </a:ext>
            </a:extLst>
          </p:cNvPr>
          <p:cNvGrpSpPr/>
          <p:nvPr/>
        </p:nvGrpSpPr>
        <p:grpSpPr>
          <a:xfrm>
            <a:off x="4176244" y="-349401"/>
            <a:ext cx="3168000" cy="7110412"/>
            <a:chOff x="4176244" y="-349401"/>
            <a:chExt cx="3168000" cy="7110412"/>
          </a:xfrm>
        </p:grpSpPr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32EC9AFE-5407-7513-6622-EF2A950D2583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76244" y="3240087"/>
              <a:ext cx="3168000" cy="3520924"/>
              <a:chOff x="5760243" y="340756"/>
              <a:chExt cx="5760243" cy="6401950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5948513-0800-0003-5D05-5B703C6BF2D9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5760243" y="340756"/>
                <a:ext cx="5760243" cy="5999750"/>
                <a:chOff x="5760243" y="340756"/>
                <a:chExt cx="5760243" cy="5999750"/>
              </a:xfrm>
            </p:grpSpPr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E050EA16-7875-6D24-2319-49D884871325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9661" r="4754" b="2155"/>
                <a:stretch>
                  <a:fillRect/>
                </a:stretch>
              </p:blipFill>
              <p:spPr>
                <a:xfrm>
                  <a:off x="5760243" y="340756"/>
                  <a:ext cx="5760243" cy="5999750"/>
                </a:xfrm>
                <a:prstGeom prst="rect">
                  <a:avLst/>
                </a:prstGeom>
              </p:spPr>
            </p:pic>
            <p:sp>
              <p:nvSpPr>
                <p:cNvPr id="7" name="Rectangle 6">
                  <a:extLst>
                    <a:ext uri="{FF2B5EF4-FFF2-40B4-BE49-F238E27FC236}">
                      <a16:creationId xmlns:a16="http://schemas.microsoft.com/office/drawing/2014/main" id="{82E5DCC5-5DF3-343B-4FDA-4106B1CAAF7C}"/>
                    </a:ext>
                  </a:extLst>
                </p:cNvPr>
                <p:cNvSpPr/>
                <p:nvPr/>
              </p:nvSpPr>
              <p:spPr>
                <a:xfrm>
                  <a:off x="9971775" y="527534"/>
                  <a:ext cx="1194487" cy="1301952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GB"/>
                </a:p>
              </p:txBody>
            </p:sp>
            <p:pic>
              <p:nvPicPr>
                <p:cNvPr id="9" name="Picture 8">
                  <a:extLst>
                    <a:ext uri="{FF2B5EF4-FFF2-40B4-BE49-F238E27FC236}">
                      <a16:creationId xmlns:a16="http://schemas.microsoft.com/office/drawing/2014/main" id="{3DD7B74C-D017-BEC0-013D-3BA6DD552FE0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69640" t="12946" r="10882" b="68893"/>
                <a:stretch>
                  <a:fillRect/>
                </a:stretch>
              </p:blipFill>
              <p:spPr>
                <a:xfrm>
                  <a:off x="9971773" y="575364"/>
                  <a:ext cx="1178012" cy="1235676"/>
                </a:xfrm>
                <a:prstGeom prst="rect">
                  <a:avLst/>
                </a:prstGeom>
              </p:spPr>
            </p:pic>
          </p:grp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445EA54B-734C-B654-26A7-41C0893D4FA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165790" y="6287954"/>
                <a:ext cx="2949146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(b) Crystalline phase</a:t>
                </a:r>
              </a:p>
            </p:txBody>
          </p: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3D4A43B-267E-CAE3-4FD2-037BFF0B4D8C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4176244" y="-349401"/>
              <a:ext cx="3168000" cy="3504648"/>
              <a:chOff x="0" y="135108"/>
              <a:chExt cx="5760244" cy="6372359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08873641-B206-551D-2AE3-9D1AC30156F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9661" r="4754" b="2155"/>
              <a:stretch>
                <a:fillRect/>
              </a:stretch>
            </p:blipFill>
            <p:spPr>
              <a:xfrm>
                <a:off x="0" y="135108"/>
                <a:ext cx="5760244" cy="5999750"/>
              </a:xfrm>
              <a:prstGeom prst="rect">
                <a:avLst/>
              </a:prstGeom>
            </p:spPr>
          </p:pic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FB621060-5120-CEFF-AF6E-47BF9E7FDCEB}"/>
                  </a:ext>
                </a:extLst>
              </p:cNvPr>
              <p:cNvSpPr/>
              <p:nvPr/>
            </p:nvSpPr>
            <p:spPr>
              <a:xfrm>
                <a:off x="4193059" y="527534"/>
                <a:ext cx="1194487" cy="1301952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78B4A0B3-66D8-C284-6271-1409C9A1C6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69638" t="13007" r="10780" b="68831"/>
              <a:stretch>
                <a:fillRect/>
              </a:stretch>
            </p:blipFill>
            <p:spPr>
              <a:xfrm>
                <a:off x="4211531" y="350679"/>
                <a:ext cx="1184254" cy="1235673"/>
              </a:xfrm>
              <a:prstGeom prst="rect">
                <a:avLst/>
              </a:prstGeom>
            </p:spPr>
          </p:pic>
          <p:sp>
            <p:nvSpPr>
              <p:cNvPr id="10" name="Text Box 2">
                <a:extLst>
                  <a:ext uri="{FF2B5EF4-FFF2-40B4-BE49-F238E27FC236}">
                    <a16:creationId xmlns:a16="http://schemas.microsoft.com/office/drawing/2014/main" id="{165326FA-3220-3A1E-4806-D23AC3A1984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337784" y="6052715"/>
                <a:ext cx="3084674" cy="4547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200" dirty="0">
                    <a:latin typeface="Times New Roman" panose="02020603050405020304" pitchFamily="18" charset="0"/>
                    <a:ea typeface="TH Sarabun PSK"/>
                    <a:cs typeface="Times New Roman" panose="02020603050405020304" pitchFamily="18" charset="0"/>
                  </a:rPr>
                  <a:t>(a) Amorphous phase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152905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>
            <a:extLst>
              <a:ext uri="{FF2B5EF4-FFF2-40B4-BE49-F238E27FC236}">
                <a16:creationId xmlns:a16="http://schemas.microsoft.com/office/drawing/2014/main" id="{9D6613CF-EA94-B35A-7723-6C034783E22F}"/>
              </a:ext>
            </a:extLst>
          </p:cNvPr>
          <p:cNvGrpSpPr>
            <a:grpSpLocks noChangeAspect="1"/>
          </p:cNvGrpSpPr>
          <p:nvPr/>
        </p:nvGrpSpPr>
        <p:grpSpPr>
          <a:xfrm>
            <a:off x="2413687" y="-36932"/>
            <a:ext cx="6718917" cy="3715168"/>
            <a:chOff x="88" y="158032"/>
            <a:chExt cx="11278908" cy="6236576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5FC8BB-1D02-1EEF-DCE1-1623574FE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644"/>
            <a:stretch>
              <a:fillRect/>
            </a:stretch>
          </p:blipFill>
          <p:spPr>
            <a:xfrm>
              <a:off x="88" y="158032"/>
              <a:ext cx="5760156" cy="5920002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655CB5-5686-063C-B918-AD37F75C2E6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644" r="4193"/>
            <a:stretch>
              <a:fillRect/>
            </a:stretch>
          </p:blipFill>
          <p:spPr>
            <a:xfrm>
              <a:off x="5760334" y="158032"/>
              <a:ext cx="5518662" cy="5920002"/>
            </a:xfrm>
            <a:prstGeom prst="rect">
              <a:avLst/>
            </a:prstGeom>
          </p:spPr>
        </p:pic>
        <p:sp>
          <p:nvSpPr>
            <p:cNvPr id="9" name="Text Box 2">
              <a:extLst>
                <a:ext uri="{FF2B5EF4-FFF2-40B4-BE49-F238E27FC236}">
                  <a16:creationId xmlns:a16="http://schemas.microsoft.com/office/drawing/2014/main" id="{30AB8EFA-262A-66FA-4DB0-35640858787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35970" y="5948932"/>
              <a:ext cx="4488480" cy="4456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b="1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  <a:r>
                <a:rPr lang="th-TH" sz="1300" b="1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US" sz="1300" dirty="0">
                  <a:latin typeface="Arial" panose="020B0604020202020204" pitchFamily="34" charset="0"/>
                  <a:ea typeface="TH Sarabun PSK"/>
                  <a:cs typeface="TH Sarabun PSK"/>
                </a:rPr>
                <a:t>Reflectance of N=4 designs</a:t>
              </a:r>
              <a:endParaRPr lang="en-GB" sz="13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1" name="Text Box 2">
              <a:extLst>
                <a:ext uri="{FF2B5EF4-FFF2-40B4-BE49-F238E27FC236}">
                  <a16:creationId xmlns:a16="http://schemas.microsoft.com/office/drawing/2014/main" id="{26FF2C3C-8DF0-AE8B-0F45-F3FE16C111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001740" y="5948932"/>
              <a:ext cx="5277255" cy="445676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b="1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  <a:r>
                <a:rPr lang="th-TH" sz="1300" b="1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US" sz="1300" dirty="0">
                  <a:latin typeface="Arial" panose="020B0604020202020204" pitchFamily="34" charset="0"/>
                  <a:ea typeface="TH Sarabun PSK"/>
                  <a:cs typeface="TH Sarabun PSK"/>
                </a:rPr>
                <a:t>Reflectance contrast of N=4 designs</a:t>
              </a:r>
              <a:endParaRPr lang="en-GB" sz="13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</p:grpSp>
      <p:grpSp>
        <p:nvGrpSpPr>
          <p:cNvPr id="135" name="Group 134">
            <a:extLst>
              <a:ext uri="{FF2B5EF4-FFF2-40B4-BE49-F238E27FC236}">
                <a16:creationId xmlns:a16="http://schemas.microsoft.com/office/drawing/2014/main" id="{D87AD1B7-B3EA-D834-5DA0-5B9141BACDCA}"/>
              </a:ext>
            </a:extLst>
          </p:cNvPr>
          <p:cNvGrpSpPr/>
          <p:nvPr/>
        </p:nvGrpSpPr>
        <p:grpSpPr>
          <a:xfrm>
            <a:off x="2628169" y="3973677"/>
            <a:ext cx="6721479" cy="2506498"/>
            <a:chOff x="2712081" y="3958288"/>
            <a:chExt cx="6721479" cy="2506498"/>
          </a:xfrm>
        </p:grpSpPr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900D3E0-0C26-4B00-9E3A-AE9720757A29}"/>
                </a:ext>
              </a:extLst>
            </p:cNvPr>
            <p:cNvSpPr/>
            <p:nvPr/>
          </p:nvSpPr>
          <p:spPr>
            <a:xfrm>
              <a:off x="3328606" y="4208522"/>
              <a:ext cx="1432560" cy="1888718"/>
            </a:xfrm>
            <a:prstGeom prst="rect">
              <a:avLst/>
            </a:prstGeom>
            <a:solidFill>
              <a:srgbClr val="DCEA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894EDEA-C35D-BCB3-935B-5CD12C848F41}"/>
                </a:ext>
              </a:extLst>
            </p:cNvPr>
            <p:cNvSpPr/>
            <p:nvPr/>
          </p:nvSpPr>
          <p:spPr>
            <a:xfrm>
              <a:off x="3435286" y="5471521"/>
              <a:ext cx="1234440" cy="551105"/>
            </a:xfrm>
            <a:prstGeom prst="rect">
              <a:avLst/>
            </a:prstGeom>
            <a:solidFill>
              <a:srgbClr val="46B1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4C72911B-3CBE-62AB-3447-C50B4628C8E6}"/>
                </a:ext>
              </a:extLst>
            </p:cNvPr>
            <p:cNvSpPr txBox="1"/>
            <p:nvPr/>
          </p:nvSpPr>
          <p:spPr>
            <a:xfrm>
              <a:off x="2881313" y="6172398"/>
              <a:ext cx="5762624" cy="292388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GB" sz="1300" b="1" dirty="0"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  <a:r>
                <a:rPr lang="th-TH" sz="1300" b="1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US" sz="1300" dirty="0">
                  <a:latin typeface="Arial" panose="020B0604020202020204" pitchFamily="34" charset="0"/>
                  <a:ea typeface="TH Sarabun PSK"/>
                  <a:cs typeface="TH Sarabun PSK"/>
                </a:rPr>
                <a:t>Thickness of long-pass and short-pass edge-filter design (</a:t>
              </a:r>
              <a:r>
                <a:rPr lang="el-GR" sz="1300" dirty="0">
                  <a:latin typeface="Arial" panose="020B0604020202020204" pitchFamily="34" charset="0"/>
                  <a:ea typeface="TH Sarabun PSK"/>
                  <a:cs typeface="TH Sarabun PSK"/>
                </a:rPr>
                <a:t>λ0 = 740 </a:t>
              </a:r>
              <a:r>
                <a:rPr lang="en-US" sz="1300" dirty="0">
                  <a:latin typeface="Arial" panose="020B0604020202020204" pitchFamily="34" charset="0"/>
                  <a:ea typeface="TH Sarabun PSK"/>
                  <a:cs typeface="TH Sarabun PSK"/>
                </a:rPr>
                <a:t>nm)</a:t>
              </a:r>
              <a:endParaRPr lang="en-GB" sz="13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48DEE61E-951D-A2FA-033A-8F8B267D2327}"/>
                </a:ext>
              </a:extLst>
            </p:cNvPr>
            <p:cNvSpPr txBox="1"/>
            <p:nvPr/>
          </p:nvSpPr>
          <p:spPr>
            <a:xfrm>
              <a:off x="3336226" y="3962301"/>
              <a:ext cx="143256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ea typeface="TH Sarabun PSK"/>
                  <a:cs typeface="TH Sarabun PSK"/>
                </a:rPr>
                <a:t>Long-pass edge filter</a:t>
              </a:r>
              <a:endParaRPr lang="en-GB" sz="10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469151AC-E37C-2ACD-D75E-2281BB364992}"/>
                </a:ext>
              </a:extLst>
            </p:cNvPr>
            <p:cNvSpPr txBox="1"/>
            <p:nvPr/>
          </p:nvSpPr>
          <p:spPr>
            <a:xfrm>
              <a:off x="3442906" y="5579626"/>
              <a:ext cx="12344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>
                  <a:latin typeface="Arial" panose="020B0604020202020204" pitchFamily="34" charset="0"/>
                  <a:ea typeface="TH Sarabun PSK"/>
                  <a:cs typeface="TH Sarabun PSK"/>
                </a:rPr>
                <a:t>Substrate</a:t>
              </a:r>
              <a:endParaRPr lang="en-GB" sz="9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grpSp>
          <p:nvGrpSpPr>
            <p:cNvPr id="86" name="Group 85">
              <a:extLst>
                <a:ext uri="{FF2B5EF4-FFF2-40B4-BE49-F238E27FC236}">
                  <a16:creationId xmlns:a16="http://schemas.microsoft.com/office/drawing/2014/main" id="{3118C47C-8764-8F85-55AD-40E2F17F3295}"/>
                </a:ext>
              </a:extLst>
            </p:cNvPr>
            <p:cNvGrpSpPr/>
            <p:nvPr/>
          </p:nvGrpSpPr>
          <p:grpSpPr>
            <a:xfrm>
              <a:off x="3435286" y="4853900"/>
              <a:ext cx="1234758" cy="653431"/>
              <a:chOff x="3435286" y="4853900"/>
              <a:chExt cx="1234758" cy="653431"/>
            </a:xfrm>
          </p:grpSpPr>
          <p:sp>
            <p:nvSpPr>
              <p:cNvPr id="64" name="Rectangle 63">
                <a:extLst>
                  <a:ext uri="{FF2B5EF4-FFF2-40B4-BE49-F238E27FC236}">
                    <a16:creationId xmlns:a16="http://schemas.microsoft.com/office/drawing/2014/main" id="{F9BB84EA-27EB-EE47-6277-DDF1D6EBE69A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1AE17C58-15CB-A9D0-5F25-4AB1C2C7F1A2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46" name="TextBox 45">
                <a:extLst>
                  <a:ext uri="{FF2B5EF4-FFF2-40B4-BE49-F238E27FC236}">
                    <a16:creationId xmlns:a16="http://schemas.microsoft.com/office/drawing/2014/main" id="{D83CF8F6-D980-CAF6-29F3-213FDB707F63}"/>
                  </a:ext>
                </a:extLst>
              </p:cNvPr>
              <p:cNvSpPr txBox="1"/>
              <p:nvPr/>
            </p:nvSpPr>
            <p:spPr>
              <a:xfrm>
                <a:off x="4038599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95644B7A-7B72-0D02-F321-D61F4AA60BF7}"/>
                  </a:ext>
                </a:extLst>
              </p:cNvPr>
              <p:cNvSpPr txBox="1"/>
              <p:nvPr/>
            </p:nvSpPr>
            <p:spPr>
              <a:xfrm>
                <a:off x="4038599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71" name="Rectangle 70">
                <a:extLst>
                  <a:ext uri="{FF2B5EF4-FFF2-40B4-BE49-F238E27FC236}">
                    <a16:creationId xmlns:a16="http://schemas.microsoft.com/office/drawing/2014/main" id="{E59EB59D-1AE4-6A80-CB5E-7F28C8525C4F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46621D0A-8DEE-5067-5BFD-4EEC6A79BBAF}"/>
                  </a:ext>
                </a:extLst>
              </p:cNvPr>
              <p:cNvSpPr txBox="1"/>
              <p:nvPr/>
            </p:nvSpPr>
            <p:spPr>
              <a:xfrm>
                <a:off x="4038599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grpSp>
          <p:nvGrpSpPr>
            <p:cNvPr id="87" name="Group 86">
              <a:extLst>
                <a:ext uri="{FF2B5EF4-FFF2-40B4-BE49-F238E27FC236}">
                  <a16:creationId xmlns:a16="http://schemas.microsoft.com/office/drawing/2014/main" id="{49F72654-A1E8-F7CD-4FC9-1E37C2D17048}"/>
                </a:ext>
              </a:extLst>
            </p:cNvPr>
            <p:cNvGrpSpPr/>
            <p:nvPr/>
          </p:nvGrpSpPr>
          <p:grpSpPr>
            <a:xfrm>
              <a:off x="3435126" y="4275164"/>
              <a:ext cx="1234756" cy="653431"/>
              <a:chOff x="3435286" y="4853900"/>
              <a:chExt cx="1234756" cy="653431"/>
            </a:xfrm>
          </p:grpSpPr>
          <p:sp>
            <p:nvSpPr>
              <p:cNvPr id="88" name="Rectangle 87">
                <a:extLst>
                  <a:ext uri="{FF2B5EF4-FFF2-40B4-BE49-F238E27FC236}">
                    <a16:creationId xmlns:a16="http://schemas.microsoft.com/office/drawing/2014/main" id="{43CBD0A0-7885-4941-8A8F-3A3A19E76E02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89" name="Rectangle 88">
                <a:extLst>
                  <a:ext uri="{FF2B5EF4-FFF2-40B4-BE49-F238E27FC236}">
                    <a16:creationId xmlns:a16="http://schemas.microsoft.com/office/drawing/2014/main" id="{9F499CB2-C5BE-57A0-3B19-EA6F078B752E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chemeClr val="accent6">
                  <a:lumMod val="20000"/>
                  <a:lumOff val="8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0" name="TextBox 89">
                <a:extLst>
                  <a:ext uri="{FF2B5EF4-FFF2-40B4-BE49-F238E27FC236}">
                    <a16:creationId xmlns:a16="http://schemas.microsoft.com/office/drawing/2014/main" id="{F65F1B4F-5096-CDB3-376A-9B4F5F4745F4}"/>
                  </a:ext>
                </a:extLst>
              </p:cNvPr>
              <p:cNvSpPr txBox="1"/>
              <p:nvPr/>
            </p:nvSpPr>
            <p:spPr>
              <a:xfrm>
                <a:off x="3438524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91" name="TextBox 90">
                <a:extLst>
                  <a:ext uri="{FF2B5EF4-FFF2-40B4-BE49-F238E27FC236}">
                    <a16:creationId xmlns:a16="http://schemas.microsoft.com/office/drawing/2014/main" id="{DDAEF36B-B6C2-6ABC-461E-180C745D8719}"/>
                  </a:ext>
                </a:extLst>
              </p:cNvPr>
              <p:cNvSpPr txBox="1"/>
              <p:nvPr/>
            </p:nvSpPr>
            <p:spPr>
              <a:xfrm>
                <a:off x="3438524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92" name="Rectangle 91">
                <a:extLst>
                  <a:ext uri="{FF2B5EF4-FFF2-40B4-BE49-F238E27FC236}">
                    <a16:creationId xmlns:a16="http://schemas.microsoft.com/office/drawing/2014/main" id="{41031E94-4778-1656-E7D5-9FF7FDB9D60A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chemeClr val="accent4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93" name="TextBox 92">
                <a:extLst>
                  <a:ext uri="{FF2B5EF4-FFF2-40B4-BE49-F238E27FC236}">
                    <a16:creationId xmlns:a16="http://schemas.microsoft.com/office/drawing/2014/main" id="{B8AE1F8A-2F1C-A268-3757-D143F9B2C8C1}"/>
                  </a:ext>
                </a:extLst>
              </p:cNvPr>
              <p:cNvSpPr txBox="1"/>
              <p:nvPr/>
            </p:nvSpPr>
            <p:spPr>
              <a:xfrm>
                <a:off x="3438524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sp>
          <p:nvSpPr>
            <p:cNvPr id="97" name="Left Brace 96">
              <a:extLst>
                <a:ext uri="{FF2B5EF4-FFF2-40B4-BE49-F238E27FC236}">
                  <a16:creationId xmlns:a16="http://schemas.microsoft.com/office/drawing/2014/main" id="{4A3142FB-7B02-A660-C52B-180AB6C21434}"/>
                </a:ext>
              </a:extLst>
            </p:cNvPr>
            <p:cNvSpPr/>
            <p:nvPr/>
          </p:nvSpPr>
          <p:spPr>
            <a:xfrm>
              <a:off x="3387026" y="4319608"/>
              <a:ext cx="45719" cy="139898"/>
            </a:xfrm>
            <a:prstGeom prst="leftBrace">
              <a:avLst/>
            </a:prstGeom>
            <a:noFill/>
            <a:ln>
              <a:solidFill>
                <a:schemeClr val="accent4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7F459A49-37F4-B695-4CE8-9F8C0C7B7520}"/>
                </a:ext>
              </a:extLst>
            </p:cNvPr>
            <p:cNvSpPr txBox="1"/>
            <p:nvPr/>
          </p:nvSpPr>
          <p:spPr>
            <a:xfrm>
              <a:off x="2737796" y="4274453"/>
              <a:ext cx="605730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/>
              <a:r>
                <a:rPr lang="en-US" sz="800" dirty="0">
                  <a:solidFill>
                    <a:srgbClr val="0F9ED5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24.3 nm</a:t>
              </a:r>
              <a:endParaRPr lang="en-GB" sz="800" baseline="-25000" dirty="0">
                <a:solidFill>
                  <a:srgbClr val="0F9ED5"/>
                </a:solidFill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01" name="Left Brace 100">
              <a:extLst>
                <a:ext uri="{FF2B5EF4-FFF2-40B4-BE49-F238E27FC236}">
                  <a16:creationId xmlns:a16="http://schemas.microsoft.com/office/drawing/2014/main" id="{CB8E3ACB-E28F-0F83-E010-813046E3C3E1}"/>
                </a:ext>
              </a:extLst>
            </p:cNvPr>
            <p:cNvSpPr/>
            <p:nvPr/>
          </p:nvSpPr>
          <p:spPr>
            <a:xfrm>
              <a:off x="3386550" y="4464947"/>
              <a:ext cx="45719" cy="288000"/>
            </a:xfrm>
            <a:prstGeom prst="leftBrace">
              <a:avLst/>
            </a:prstGeom>
            <a:noFill/>
            <a:ln>
              <a:solidFill>
                <a:schemeClr val="accent6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D3D39031-923F-4283-5BAA-4B99CD7A241D}"/>
                </a:ext>
              </a:extLst>
            </p:cNvPr>
            <p:cNvSpPr txBox="1"/>
            <p:nvPr/>
          </p:nvSpPr>
          <p:spPr>
            <a:xfrm>
              <a:off x="2712081" y="4503044"/>
              <a:ext cx="631445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/>
              <a:r>
                <a:rPr lang="en-US" sz="800" dirty="0">
                  <a:solidFill>
                    <a:srgbClr val="4EA72E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134.0 nm</a:t>
              </a:r>
              <a:endParaRPr lang="en-GB" sz="800" baseline="-25000" dirty="0">
                <a:solidFill>
                  <a:srgbClr val="4EA72E"/>
                </a:solidFill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05" name="Left Brace 104">
              <a:extLst>
                <a:ext uri="{FF2B5EF4-FFF2-40B4-BE49-F238E27FC236}">
                  <a16:creationId xmlns:a16="http://schemas.microsoft.com/office/drawing/2014/main" id="{F0C97B9E-D4E8-59F4-A339-94BB61BDB8B5}"/>
                </a:ext>
              </a:extLst>
            </p:cNvPr>
            <p:cNvSpPr/>
            <p:nvPr/>
          </p:nvSpPr>
          <p:spPr>
            <a:xfrm flipH="1">
              <a:off x="4677346" y="4319961"/>
              <a:ext cx="45719" cy="576000"/>
            </a:xfrm>
            <a:prstGeom prst="leftBrac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7" name="TextBox 106">
              <a:extLst>
                <a:ext uri="{FF2B5EF4-FFF2-40B4-BE49-F238E27FC236}">
                  <a16:creationId xmlns:a16="http://schemas.microsoft.com/office/drawing/2014/main" id="{E3CE870F-9D25-CB35-CE34-996B1B6DEF6C}"/>
                </a:ext>
              </a:extLst>
            </p:cNvPr>
            <p:cNvSpPr txBox="1"/>
            <p:nvPr/>
          </p:nvSpPr>
          <p:spPr>
            <a:xfrm>
              <a:off x="4700205" y="4496491"/>
              <a:ext cx="1267362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ea typeface="TH Sarabun PSK"/>
                  <a:cs typeface="TH Sarabun PSK"/>
                </a:rPr>
                <a:t>A single unit cell</a:t>
              </a:r>
              <a:r>
                <a: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GB" sz="800" dirty="0">
                  <a:latin typeface="Arial" panose="020B0604020202020204" pitchFamily="34" charset="0"/>
                  <a:ea typeface="TH Sarabun PSK"/>
                  <a:cs typeface="TH Sarabun PSK"/>
                </a:rPr>
                <a:t>(N= 1)</a:t>
              </a:r>
              <a:endParaRPr lang="en-US" sz="8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08" name="Rectangle 107">
              <a:extLst>
                <a:ext uri="{FF2B5EF4-FFF2-40B4-BE49-F238E27FC236}">
                  <a16:creationId xmlns:a16="http://schemas.microsoft.com/office/drawing/2014/main" id="{DA92F120-7FCB-2FB8-7EED-876142C21818}"/>
                </a:ext>
              </a:extLst>
            </p:cNvPr>
            <p:cNvSpPr/>
            <p:nvPr/>
          </p:nvSpPr>
          <p:spPr>
            <a:xfrm>
              <a:off x="6833805" y="4204509"/>
              <a:ext cx="1432560" cy="1888718"/>
            </a:xfrm>
            <a:prstGeom prst="rect">
              <a:avLst/>
            </a:prstGeom>
            <a:solidFill>
              <a:srgbClr val="DCEAF7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09" name="Rectangle 108">
              <a:extLst>
                <a:ext uri="{FF2B5EF4-FFF2-40B4-BE49-F238E27FC236}">
                  <a16:creationId xmlns:a16="http://schemas.microsoft.com/office/drawing/2014/main" id="{FDFBE47B-E790-5C70-08A6-FD85033BE9C3}"/>
                </a:ext>
              </a:extLst>
            </p:cNvPr>
            <p:cNvSpPr/>
            <p:nvPr/>
          </p:nvSpPr>
          <p:spPr>
            <a:xfrm>
              <a:off x="6940485" y="5467508"/>
              <a:ext cx="1234440" cy="551105"/>
            </a:xfrm>
            <a:prstGeom prst="rect">
              <a:avLst/>
            </a:prstGeom>
            <a:solidFill>
              <a:srgbClr val="46B1E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10" name="TextBox 109">
              <a:extLst>
                <a:ext uri="{FF2B5EF4-FFF2-40B4-BE49-F238E27FC236}">
                  <a16:creationId xmlns:a16="http://schemas.microsoft.com/office/drawing/2014/main" id="{94E386DC-E2D2-71E9-E082-1D9F1C993D6C}"/>
                </a:ext>
              </a:extLst>
            </p:cNvPr>
            <p:cNvSpPr txBox="1"/>
            <p:nvPr/>
          </p:nvSpPr>
          <p:spPr>
            <a:xfrm>
              <a:off x="6841425" y="3958288"/>
              <a:ext cx="1432560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1000" dirty="0">
                  <a:latin typeface="Arial" panose="020B0604020202020204" pitchFamily="34" charset="0"/>
                  <a:ea typeface="TH Sarabun PSK"/>
                  <a:cs typeface="TH Sarabun PSK"/>
                </a:rPr>
                <a:t>Short-pass edge filter</a:t>
              </a:r>
              <a:endParaRPr lang="en-GB" sz="10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11" name="TextBox 110">
              <a:extLst>
                <a:ext uri="{FF2B5EF4-FFF2-40B4-BE49-F238E27FC236}">
                  <a16:creationId xmlns:a16="http://schemas.microsoft.com/office/drawing/2014/main" id="{CC6C5F32-98C0-9C47-53A3-8DB246059C2F}"/>
                </a:ext>
              </a:extLst>
            </p:cNvPr>
            <p:cNvSpPr txBox="1"/>
            <p:nvPr/>
          </p:nvSpPr>
          <p:spPr>
            <a:xfrm>
              <a:off x="6948105" y="5575613"/>
              <a:ext cx="1234440" cy="2308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ctr"/>
              <a:r>
                <a:rPr lang="en-US" sz="900" dirty="0">
                  <a:latin typeface="Arial" panose="020B0604020202020204" pitchFamily="34" charset="0"/>
                  <a:ea typeface="TH Sarabun PSK"/>
                  <a:cs typeface="TH Sarabun PSK"/>
                </a:rPr>
                <a:t>Substrate</a:t>
              </a:r>
              <a:endParaRPr lang="en-GB" sz="9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grpSp>
          <p:nvGrpSpPr>
            <p:cNvPr id="112" name="Group 111">
              <a:extLst>
                <a:ext uri="{FF2B5EF4-FFF2-40B4-BE49-F238E27FC236}">
                  <a16:creationId xmlns:a16="http://schemas.microsoft.com/office/drawing/2014/main" id="{57B581FF-DAC2-8B88-C6B1-A527D12635EB}"/>
                </a:ext>
              </a:extLst>
            </p:cNvPr>
            <p:cNvGrpSpPr/>
            <p:nvPr/>
          </p:nvGrpSpPr>
          <p:grpSpPr>
            <a:xfrm>
              <a:off x="6940485" y="4849887"/>
              <a:ext cx="1234758" cy="653431"/>
              <a:chOff x="3435286" y="4853900"/>
              <a:chExt cx="1234758" cy="653431"/>
            </a:xfrm>
          </p:grpSpPr>
          <p:sp>
            <p:nvSpPr>
              <p:cNvPr id="113" name="Rectangle 112">
                <a:extLst>
                  <a:ext uri="{FF2B5EF4-FFF2-40B4-BE49-F238E27FC236}">
                    <a16:creationId xmlns:a16="http://schemas.microsoft.com/office/drawing/2014/main" id="{8E1D43FD-59CD-B915-0026-883F8605D2D4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4" name="Rectangle 113">
                <a:extLst>
                  <a:ext uri="{FF2B5EF4-FFF2-40B4-BE49-F238E27FC236}">
                    <a16:creationId xmlns:a16="http://schemas.microsoft.com/office/drawing/2014/main" id="{DAF256E4-3AE3-8753-4900-72CD7CCE81DF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rgbClr val="96DCF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5" name="TextBox 114">
                <a:extLst>
                  <a:ext uri="{FF2B5EF4-FFF2-40B4-BE49-F238E27FC236}">
                    <a16:creationId xmlns:a16="http://schemas.microsoft.com/office/drawing/2014/main" id="{FDB349BB-F661-4E4B-E77B-025C87DE4D65}"/>
                  </a:ext>
                </a:extLst>
              </p:cNvPr>
              <p:cNvSpPr txBox="1"/>
              <p:nvPr/>
            </p:nvSpPr>
            <p:spPr>
              <a:xfrm>
                <a:off x="4038599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16" name="TextBox 115">
                <a:extLst>
                  <a:ext uri="{FF2B5EF4-FFF2-40B4-BE49-F238E27FC236}">
                    <a16:creationId xmlns:a16="http://schemas.microsoft.com/office/drawing/2014/main" id="{1B3B1558-76D6-2DF6-340F-97894E39EB25}"/>
                  </a:ext>
                </a:extLst>
              </p:cNvPr>
              <p:cNvSpPr txBox="1"/>
              <p:nvPr/>
            </p:nvSpPr>
            <p:spPr>
              <a:xfrm>
                <a:off x="4038599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17" name="Rectangle 116">
                <a:extLst>
                  <a:ext uri="{FF2B5EF4-FFF2-40B4-BE49-F238E27FC236}">
                    <a16:creationId xmlns:a16="http://schemas.microsoft.com/office/drawing/2014/main" id="{389D6A97-E569-D902-3234-5B093880BBB0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18" name="TextBox 117">
                <a:extLst>
                  <a:ext uri="{FF2B5EF4-FFF2-40B4-BE49-F238E27FC236}">
                    <a16:creationId xmlns:a16="http://schemas.microsoft.com/office/drawing/2014/main" id="{90C1FA02-8C84-F08E-B2C5-725BCABCDCE0}"/>
                  </a:ext>
                </a:extLst>
              </p:cNvPr>
              <p:cNvSpPr txBox="1"/>
              <p:nvPr/>
            </p:nvSpPr>
            <p:spPr>
              <a:xfrm>
                <a:off x="4038599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pPr algn="r"/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grpSp>
          <p:nvGrpSpPr>
            <p:cNvPr id="119" name="Group 118">
              <a:extLst>
                <a:ext uri="{FF2B5EF4-FFF2-40B4-BE49-F238E27FC236}">
                  <a16:creationId xmlns:a16="http://schemas.microsoft.com/office/drawing/2014/main" id="{4A99EED2-BF09-0459-7460-AB7411730524}"/>
                </a:ext>
              </a:extLst>
            </p:cNvPr>
            <p:cNvGrpSpPr/>
            <p:nvPr/>
          </p:nvGrpSpPr>
          <p:grpSpPr>
            <a:xfrm>
              <a:off x="6940325" y="4271151"/>
              <a:ext cx="1234756" cy="653431"/>
              <a:chOff x="3435286" y="4853900"/>
              <a:chExt cx="1234756" cy="653431"/>
            </a:xfrm>
          </p:grpSpPr>
          <p:sp>
            <p:nvSpPr>
              <p:cNvPr id="120" name="Rectangle 119">
                <a:extLst>
                  <a:ext uri="{FF2B5EF4-FFF2-40B4-BE49-F238E27FC236}">
                    <a16:creationId xmlns:a16="http://schemas.microsoft.com/office/drawing/2014/main" id="{98790B91-8B38-DB44-8A6E-81D2AB002EAE}"/>
                  </a:ext>
                </a:extLst>
              </p:cNvPr>
              <p:cNvSpPr/>
              <p:nvPr/>
            </p:nvSpPr>
            <p:spPr>
              <a:xfrm>
                <a:off x="3435286" y="5329106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21" name="Rectangle 120">
                <a:extLst>
                  <a:ext uri="{FF2B5EF4-FFF2-40B4-BE49-F238E27FC236}">
                    <a16:creationId xmlns:a16="http://schemas.microsoft.com/office/drawing/2014/main" id="{5C2C98B4-9F07-8E43-C4B8-227DF32E2F7E}"/>
                  </a:ext>
                </a:extLst>
              </p:cNvPr>
              <p:cNvSpPr/>
              <p:nvPr/>
            </p:nvSpPr>
            <p:spPr>
              <a:xfrm>
                <a:off x="3435602" y="5040739"/>
                <a:ext cx="1234440" cy="288000"/>
              </a:xfrm>
              <a:prstGeom prst="rect">
                <a:avLst/>
              </a:prstGeom>
              <a:solidFill>
                <a:srgbClr val="96DCF8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22" name="TextBox 121">
                <a:extLst>
                  <a:ext uri="{FF2B5EF4-FFF2-40B4-BE49-F238E27FC236}">
                    <a16:creationId xmlns:a16="http://schemas.microsoft.com/office/drawing/2014/main" id="{42E6DE0B-4710-B706-FF91-458B9F16A6C3}"/>
                  </a:ext>
                </a:extLst>
              </p:cNvPr>
              <p:cNvSpPr txBox="1"/>
              <p:nvPr/>
            </p:nvSpPr>
            <p:spPr>
              <a:xfrm>
                <a:off x="3438524" y="5291887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23" name="TextBox 122">
                <a:extLst>
                  <a:ext uri="{FF2B5EF4-FFF2-40B4-BE49-F238E27FC236}">
                    <a16:creationId xmlns:a16="http://schemas.microsoft.com/office/drawing/2014/main" id="{F6D95E49-1E93-9354-081B-BDD20F29A831}"/>
                  </a:ext>
                </a:extLst>
              </p:cNvPr>
              <p:cNvSpPr txBox="1"/>
              <p:nvPr/>
            </p:nvSpPr>
            <p:spPr>
              <a:xfrm>
                <a:off x="3438524" y="5079719"/>
                <a:ext cx="631445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Sb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Se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3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  <p:sp>
            <p:nvSpPr>
              <p:cNvPr id="124" name="Rectangle 123">
                <a:extLst>
                  <a:ext uri="{FF2B5EF4-FFF2-40B4-BE49-F238E27FC236}">
                    <a16:creationId xmlns:a16="http://schemas.microsoft.com/office/drawing/2014/main" id="{0B34CECB-9603-03DE-14D2-337CAC69C37B}"/>
                  </a:ext>
                </a:extLst>
              </p:cNvPr>
              <p:cNvSpPr/>
              <p:nvPr/>
            </p:nvSpPr>
            <p:spPr>
              <a:xfrm>
                <a:off x="3435286" y="4893581"/>
                <a:ext cx="1234440" cy="144000"/>
              </a:xfrm>
              <a:prstGeom prst="rect">
                <a:avLst/>
              </a:prstGeom>
              <a:solidFill>
                <a:srgbClr val="D9F2D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dirty="0"/>
              </a:p>
            </p:txBody>
          </p:sp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95BB09F5-7A65-0EB7-3BA1-E9DD605D2667}"/>
                  </a:ext>
                </a:extLst>
              </p:cNvPr>
              <p:cNvSpPr txBox="1"/>
              <p:nvPr/>
            </p:nvSpPr>
            <p:spPr>
              <a:xfrm>
                <a:off x="3438524" y="4853900"/>
                <a:ext cx="628270" cy="215444"/>
              </a:xfrm>
              <a:prstGeom prst="rect">
                <a:avLst/>
              </a:prstGeom>
              <a:noFill/>
            </p:spPr>
            <p:txBody>
              <a:bodyPr wrap="square" anchor="ctr">
                <a:spAutoFit/>
              </a:bodyPr>
              <a:lstStyle/>
              <a:p>
                <a:r>
                  <a:rPr lang="en-US" sz="8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MgF</a:t>
                </a:r>
                <a:r>
                  <a:rPr lang="en-US" sz="8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2</a:t>
                </a:r>
                <a:endPara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endParaRPr>
              </a:p>
            </p:txBody>
          </p:sp>
        </p:grpSp>
        <p:sp>
          <p:nvSpPr>
            <p:cNvPr id="126" name="Left Brace 125">
              <a:extLst>
                <a:ext uri="{FF2B5EF4-FFF2-40B4-BE49-F238E27FC236}">
                  <a16:creationId xmlns:a16="http://schemas.microsoft.com/office/drawing/2014/main" id="{CA7BC0C8-38B0-B5D4-3C08-7B298776153D}"/>
                </a:ext>
              </a:extLst>
            </p:cNvPr>
            <p:cNvSpPr/>
            <p:nvPr/>
          </p:nvSpPr>
          <p:spPr>
            <a:xfrm>
              <a:off x="6892225" y="4315595"/>
              <a:ext cx="45719" cy="139898"/>
            </a:xfrm>
            <a:prstGeom prst="leftBrace">
              <a:avLst/>
            </a:prstGeom>
            <a:noFill/>
            <a:ln>
              <a:solidFill>
                <a:srgbClr val="4EA72E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7" name="TextBox 126">
              <a:extLst>
                <a:ext uri="{FF2B5EF4-FFF2-40B4-BE49-F238E27FC236}">
                  <a16:creationId xmlns:a16="http://schemas.microsoft.com/office/drawing/2014/main" id="{2C76916E-5F0F-FB02-34A7-CC77F8ADCB8A}"/>
                </a:ext>
              </a:extLst>
            </p:cNvPr>
            <p:cNvSpPr txBox="1"/>
            <p:nvPr/>
          </p:nvSpPr>
          <p:spPr>
            <a:xfrm>
              <a:off x="6242995" y="4270440"/>
              <a:ext cx="605730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/>
              <a:r>
                <a:rPr lang="en-US" sz="800" dirty="0">
                  <a:solidFill>
                    <a:srgbClr val="4EA72E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67.0 nm</a:t>
              </a:r>
              <a:endParaRPr lang="en-GB" sz="800" baseline="-25000" dirty="0">
                <a:solidFill>
                  <a:srgbClr val="4EA72E"/>
                </a:solidFill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28" name="Left Brace 127">
              <a:extLst>
                <a:ext uri="{FF2B5EF4-FFF2-40B4-BE49-F238E27FC236}">
                  <a16:creationId xmlns:a16="http://schemas.microsoft.com/office/drawing/2014/main" id="{CDA0CF13-3B2F-73AB-F288-24D6D4FAF884}"/>
                </a:ext>
              </a:extLst>
            </p:cNvPr>
            <p:cNvSpPr/>
            <p:nvPr/>
          </p:nvSpPr>
          <p:spPr>
            <a:xfrm>
              <a:off x="6891749" y="4460934"/>
              <a:ext cx="45719" cy="288000"/>
            </a:xfrm>
            <a:prstGeom prst="leftBrace">
              <a:avLst/>
            </a:prstGeom>
            <a:noFill/>
            <a:ln>
              <a:solidFill>
                <a:srgbClr val="0F9ED5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C9EBF92C-BD3E-74A0-7DF8-6BAF3F9E48EC}"/>
                </a:ext>
              </a:extLst>
            </p:cNvPr>
            <p:cNvSpPr txBox="1"/>
            <p:nvPr/>
          </p:nvSpPr>
          <p:spPr>
            <a:xfrm>
              <a:off x="6217280" y="4499031"/>
              <a:ext cx="631445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pPr algn="r"/>
              <a:r>
                <a:rPr lang="en-US" sz="800" dirty="0">
                  <a:solidFill>
                    <a:srgbClr val="0F9ED5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48.5 nm</a:t>
              </a:r>
              <a:endParaRPr lang="en-GB" sz="800" baseline="-25000" dirty="0">
                <a:solidFill>
                  <a:srgbClr val="0F9ED5"/>
                </a:solidFill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30" name="Left Brace 129">
              <a:extLst>
                <a:ext uri="{FF2B5EF4-FFF2-40B4-BE49-F238E27FC236}">
                  <a16:creationId xmlns:a16="http://schemas.microsoft.com/office/drawing/2014/main" id="{A71F8F32-38E6-9309-D636-9E2FD5012CC4}"/>
                </a:ext>
              </a:extLst>
            </p:cNvPr>
            <p:cNvSpPr/>
            <p:nvPr/>
          </p:nvSpPr>
          <p:spPr>
            <a:xfrm flipH="1">
              <a:off x="8182545" y="4315948"/>
              <a:ext cx="45719" cy="576000"/>
            </a:xfrm>
            <a:prstGeom prst="leftBrac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4"/>
            </a:lnRef>
            <a:fillRef idx="0">
              <a:schemeClr val="accent4"/>
            </a:fillRef>
            <a:effectRef idx="1">
              <a:schemeClr val="accent4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2D8824CF-6B23-6182-8F7A-FE0DF32312A4}"/>
                </a:ext>
              </a:extLst>
            </p:cNvPr>
            <p:cNvSpPr txBox="1"/>
            <p:nvPr/>
          </p:nvSpPr>
          <p:spPr>
            <a:xfrm>
              <a:off x="8205404" y="4492478"/>
              <a:ext cx="1228156" cy="215444"/>
            </a:xfrm>
            <a:prstGeom prst="rect">
              <a:avLst/>
            </a:prstGeom>
            <a:noFill/>
          </p:spPr>
          <p:txBody>
            <a:bodyPr wrap="square" anchor="ctr">
              <a:spAutoFit/>
            </a:bodyPr>
            <a:lstStyle/>
            <a:p>
              <a:r>
                <a:rPr lang="en-US" sz="800" dirty="0">
                  <a:latin typeface="Arial" panose="020B0604020202020204" pitchFamily="34" charset="0"/>
                  <a:ea typeface="TH Sarabun PSK"/>
                  <a:cs typeface="TH Sarabun PSK"/>
                </a:rPr>
                <a:t>A single unit cell</a:t>
              </a:r>
              <a:r>
                <a:rPr lang="en-GB" sz="8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 </a:t>
              </a:r>
              <a:r>
                <a:rPr lang="en-GB" sz="800" dirty="0">
                  <a:latin typeface="Arial" panose="020B0604020202020204" pitchFamily="34" charset="0"/>
                  <a:ea typeface="TH Sarabun PSK"/>
                  <a:cs typeface="TH Sarabun PSK"/>
                </a:rPr>
                <a:t>(N= 1)</a:t>
              </a:r>
              <a:endParaRPr lang="en-US" sz="800" dirty="0">
                <a:latin typeface="Arial" panose="020B0604020202020204" pitchFamily="34" charset="0"/>
                <a:ea typeface="TH Sarabun PSK"/>
                <a:cs typeface="TH Sarabun PSK"/>
              </a:endParaRPr>
            </a:p>
          </p:txBody>
        </p:sp>
        <p:sp>
          <p:nvSpPr>
            <p:cNvPr id="133" name="TextBox 132">
              <a:extLst>
                <a:ext uri="{FF2B5EF4-FFF2-40B4-BE49-F238E27FC236}">
                  <a16:creationId xmlns:a16="http://schemas.microsoft.com/office/drawing/2014/main" id="{A6A7B18E-1E19-2552-75FE-D1C38643009D}"/>
                </a:ext>
              </a:extLst>
            </p:cNvPr>
            <p:cNvSpPr txBox="1"/>
            <p:nvPr/>
          </p:nvSpPr>
          <p:spPr>
            <a:xfrm>
              <a:off x="4853224" y="5038404"/>
              <a:ext cx="1814040" cy="369332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>
              <a:solidFill>
                <a:schemeClr val="tx1"/>
              </a:solidFill>
            </a:ln>
          </p:spPr>
          <p:txBody>
            <a:bodyPr wrap="square" anchor="ctr">
              <a:spAutoFit/>
            </a:bodyPr>
            <a:lstStyle/>
            <a:p>
              <a:pPr algn="ctr"/>
              <a:r>
                <a:rPr lang="en-US" sz="900" baseline="30000" dirty="0">
                  <a:latin typeface="Arial" panose="020B0604020202020204" pitchFamily="34" charset="0"/>
                  <a:ea typeface="TH Sarabun PSK"/>
                  <a:cs typeface="TH Sarabun PSK"/>
                </a:rPr>
                <a:t>*</a:t>
              </a:r>
              <a:r>
                <a:rPr lang="en-US" sz="900" dirty="0">
                  <a:latin typeface="Arial" panose="020B0604020202020204" pitchFamily="34" charset="0"/>
                  <a:ea typeface="TH Sarabun PSK"/>
                  <a:cs typeface="TH Sarabun PSK"/>
                </a:rPr>
                <a:t> All edge filters shown in (a) and (b) have N = 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60773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51C1356-43EA-F819-BD36-304CB240DB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675" t="10289" r="7454" b="2841"/>
          <a:stretch>
            <a:fillRect/>
          </a:stretch>
        </p:blipFill>
        <p:spPr>
          <a:xfrm>
            <a:off x="2592244" y="1458114"/>
            <a:ext cx="6336000" cy="3563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619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52466C6B-154E-01E2-7FA0-CAB460317C44}"/>
              </a:ext>
            </a:extLst>
          </p:cNvPr>
          <p:cNvGrpSpPr>
            <a:grpSpLocks noChangeAspect="1"/>
          </p:cNvGrpSpPr>
          <p:nvPr/>
        </p:nvGrpSpPr>
        <p:grpSpPr>
          <a:xfrm>
            <a:off x="2708023" y="0"/>
            <a:ext cx="6203747" cy="6418128"/>
            <a:chOff x="2319440" y="-92522"/>
            <a:chExt cx="6426494" cy="6648574"/>
          </a:xfrm>
        </p:grpSpPr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98D07E5A-51E2-71FC-90A6-359E0A7FD312}"/>
                </a:ext>
              </a:extLst>
            </p:cNvPr>
            <p:cNvGrpSpPr/>
            <p:nvPr/>
          </p:nvGrpSpPr>
          <p:grpSpPr>
            <a:xfrm>
              <a:off x="2319440" y="-92522"/>
              <a:ext cx="6426494" cy="6415785"/>
              <a:chOff x="2666789" y="215778"/>
              <a:chExt cx="6080064" cy="6114845"/>
            </a:xfrm>
          </p:grpSpPr>
          <p:sp>
            <p:nvSpPr>
              <p:cNvPr id="10" name="Text Box 2">
                <a:extLst>
                  <a:ext uri="{FF2B5EF4-FFF2-40B4-BE49-F238E27FC236}">
                    <a16:creationId xmlns:a16="http://schemas.microsoft.com/office/drawing/2014/main" id="{1D749B68-9604-C1AA-BC62-DD5711A7D75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6155998" y="215778"/>
                <a:ext cx="1845275" cy="2773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TM</a:t>
                </a:r>
              </a:p>
            </p:txBody>
          </p:sp>
          <p:grpSp>
            <p:nvGrpSpPr>
              <p:cNvPr id="8" name="Group 7">
                <a:extLst>
                  <a:ext uri="{FF2B5EF4-FFF2-40B4-BE49-F238E27FC236}">
                    <a16:creationId xmlns:a16="http://schemas.microsoft.com/office/drawing/2014/main" id="{5DAEDD61-9412-CED2-2591-A8322D8D40BB}"/>
                  </a:ext>
                </a:extLst>
              </p:cNvPr>
              <p:cNvGrpSpPr/>
              <p:nvPr/>
            </p:nvGrpSpPr>
            <p:grpSpPr>
              <a:xfrm>
                <a:off x="2860604" y="469208"/>
                <a:ext cx="5886249" cy="5861415"/>
                <a:chOff x="2880076" y="169576"/>
                <a:chExt cx="5744486" cy="5720252"/>
              </a:xfrm>
            </p:grpSpPr>
            <p:pic>
              <p:nvPicPr>
                <p:cNvPr id="6" name="Picture 5">
                  <a:extLst>
                    <a:ext uri="{FF2B5EF4-FFF2-40B4-BE49-F238E27FC236}">
                      <a16:creationId xmlns:a16="http://schemas.microsoft.com/office/drawing/2014/main" id="{2F8C15C8-B8DA-97F9-A862-AA88B5F5A319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2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 b="3136"/>
                <a:stretch>
                  <a:fillRect/>
                </a:stretch>
              </p:blipFill>
              <p:spPr>
                <a:xfrm>
                  <a:off x="2880076" y="3114840"/>
                  <a:ext cx="2880079" cy="2774987"/>
                </a:xfrm>
                <a:prstGeom prst="rect">
                  <a:avLst/>
                </a:prstGeom>
              </p:spPr>
            </p:pic>
            <p:pic>
              <p:nvPicPr>
                <p:cNvPr id="7" name="Picture 6">
                  <a:extLst>
                    <a:ext uri="{FF2B5EF4-FFF2-40B4-BE49-F238E27FC236}">
                      <a16:creationId xmlns:a16="http://schemas.microsoft.com/office/drawing/2014/main" id="{2C84751B-ABF1-5713-485F-B7C7C5D575FD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77" b="3139"/>
                <a:stretch>
                  <a:fillRect/>
                </a:stretch>
              </p:blipFill>
              <p:spPr>
                <a:xfrm>
                  <a:off x="5744571" y="3114841"/>
                  <a:ext cx="2879989" cy="2774987"/>
                </a:xfrm>
                <a:prstGeom prst="rect">
                  <a:avLst/>
                </a:prstGeom>
              </p:spPr>
            </p:pic>
            <p:pic>
              <p:nvPicPr>
                <p:cNvPr id="3" name="Picture 2">
                  <a:extLst>
                    <a:ext uri="{FF2B5EF4-FFF2-40B4-BE49-F238E27FC236}">
                      <a16:creationId xmlns:a16="http://schemas.microsoft.com/office/drawing/2014/main" id="{7F94868C-DE59-7869-EED0-9F297E5E5823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4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0"/>
                <a:stretch>
                  <a:fillRect/>
                </a:stretch>
              </p:blipFill>
              <p:spPr>
                <a:xfrm>
                  <a:off x="5744485" y="169577"/>
                  <a:ext cx="2880077" cy="2774987"/>
                </a:xfrm>
                <a:prstGeom prst="rect">
                  <a:avLst/>
                </a:prstGeom>
              </p:spPr>
            </p:pic>
            <p:pic>
              <p:nvPicPr>
                <p:cNvPr id="5" name="Picture 4">
                  <a:extLst>
                    <a:ext uri="{FF2B5EF4-FFF2-40B4-BE49-F238E27FC236}">
                      <a16:creationId xmlns:a16="http://schemas.microsoft.com/office/drawing/2014/main" id="{34DA3577-DFBA-BA0F-3AEC-B0C2F17F5369}"/>
                    </a:ext>
                  </a:extLst>
                </p:cNvPr>
                <p:cNvPicPr>
                  <a:picLocks/>
                </p:cNvPicPr>
                <p:nvPr/>
              </p:nvPicPr>
              <p:blipFill>
                <a:blip r:embed="rId5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t="10582" b="-3"/>
                <a:stretch>
                  <a:fillRect/>
                </a:stretch>
              </p:blipFill>
              <p:spPr>
                <a:xfrm>
                  <a:off x="2880078" y="169576"/>
                  <a:ext cx="2880077" cy="2774987"/>
                </a:xfrm>
                <a:prstGeom prst="rect">
                  <a:avLst/>
                </a:prstGeom>
              </p:spPr>
            </p:pic>
          </p:grpSp>
          <p:sp>
            <p:nvSpPr>
              <p:cNvPr id="9" name="Text Box 2">
                <a:extLst>
                  <a:ext uri="{FF2B5EF4-FFF2-40B4-BE49-F238E27FC236}">
                    <a16:creationId xmlns:a16="http://schemas.microsoft.com/office/drawing/2014/main" id="{2E3187BD-FBC3-705D-A67D-DAB08F7C2CD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220995" y="215778"/>
                <a:ext cx="1845275" cy="277317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TE</a:t>
                </a:r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7C4AE1A5-38F9-B793-62EC-7D239CA02EE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608696" y="1701784"/>
                <a:ext cx="2391471" cy="2752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4-unit-cell design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C82AC031-7169-8BB3-CD2E-37B56F4E7D7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528079" y="4708078"/>
                <a:ext cx="2552700" cy="275280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rPr>
                  <a:t>5-unit-cell design</a:t>
                </a:r>
              </a:p>
            </p:txBody>
          </p:sp>
        </p:grpSp>
        <p:sp>
          <p:nvSpPr>
            <p:cNvPr id="14" name="Text Box 2">
              <a:extLst>
                <a:ext uri="{FF2B5EF4-FFF2-40B4-BE49-F238E27FC236}">
                  <a16:creationId xmlns:a16="http://schemas.microsoft.com/office/drawing/2014/main" id="{EF821439-620A-FAF6-E611-FF4B45450AE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59345" y="3014479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(a)</a:t>
              </a:r>
            </a:p>
          </p:txBody>
        </p:sp>
        <p:sp>
          <p:nvSpPr>
            <p:cNvPr id="16" name="Text Box 2">
              <a:extLst>
                <a:ext uri="{FF2B5EF4-FFF2-40B4-BE49-F238E27FC236}">
                  <a16:creationId xmlns:a16="http://schemas.microsoft.com/office/drawing/2014/main" id="{50BA29E1-0E36-D967-177E-2AEB0AE2F0B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1578" y="3014479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(b)</a:t>
              </a:r>
            </a:p>
          </p:txBody>
        </p:sp>
        <p:sp>
          <p:nvSpPr>
            <p:cNvPr id="17" name="Text Box 2">
              <a:extLst>
                <a:ext uri="{FF2B5EF4-FFF2-40B4-BE49-F238E27FC236}">
                  <a16:creationId xmlns:a16="http://schemas.microsoft.com/office/drawing/2014/main" id="{73C8B340-756D-AC6B-5AB3-C360165C7A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761578" y="6281027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(d)</a:t>
              </a:r>
            </a:p>
          </p:txBody>
        </p:sp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8DA5BD1E-D537-CA77-5C7C-D745431ACB7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641778" y="6281027"/>
              <a:ext cx="442172" cy="27502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300" dirty="0">
                  <a:latin typeface="Times New Roman" panose="02020603050405020304" pitchFamily="18" charset="0"/>
                  <a:ea typeface="TH Sarabun PSK"/>
                  <a:cs typeface="Times New Roman" panose="02020603050405020304" pitchFamily="18" charset="0"/>
                </a:rPr>
                <a:t>(c)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6225180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EE706E3-99F7-361D-1436-F0AB8CFFF5DB}"/>
              </a:ext>
            </a:extLst>
          </p:cNvPr>
          <p:cNvGrpSpPr>
            <a:grpSpLocks noChangeAspect="1"/>
          </p:cNvGrpSpPr>
          <p:nvPr/>
        </p:nvGrpSpPr>
        <p:grpSpPr>
          <a:xfrm>
            <a:off x="4176244" y="43746"/>
            <a:ext cx="3168000" cy="6222456"/>
            <a:chOff x="2905781" y="535637"/>
            <a:chExt cx="2854463" cy="5606621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23A9529C-077B-9C9A-A539-62EFBFA0D6B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2905781" y="535637"/>
              <a:ext cx="2854463" cy="5606621"/>
              <a:chOff x="2880076" y="438355"/>
              <a:chExt cx="2730180" cy="5402188"/>
            </a:xfrm>
          </p:grpSpPr>
          <p:pic>
            <p:nvPicPr>
              <p:cNvPr id="16" name="Picture 15">
                <a:extLst>
                  <a:ext uri="{FF2B5EF4-FFF2-40B4-BE49-F238E27FC236}">
                    <a16:creationId xmlns:a16="http://schemas.microsoft.com/office/drawing/2014/main" id="{31CF6B04-6BE3-59B3-59F0-B3B9E59D711E}"/>
                  </a:ext>
                </a:extLst>
              </p:cNvPr>
              <p:cNvPicPr>
                <a:picLocks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0582" r="5204" b="-3"/>
              <a:stretch>
                <a:fillRect/>
              </a:stretch>
            </p:blipFill>
            <p:spPr>
              <a:xfrm>
                <a:off x="2880078" y="438355"/>
                <a:ext cx="2730178" cy="2750382"/>
              </a:xfrm>
              <a:prstGeom prst="rect">
                <a:avLst/>
              </a:prstGeom>
            </p:spPr>
          </p:pic>
          <p:pic>
            <p:nvPicPr>
              <p:cNvPr id="13" name="Picture 12">
                <a:extLst>
                  <a:ext uri="{FF2B5EF4-FFF2-40B4-BE49-F238E27FC236}">
                    <a16:creationId xmlns:a16="http://schemas.microsoft.com/office/drawing/2014/main" id="{22A83823-1A48-A5F4-6B9C-C8431F3AEEDD}"/>
                  </a:ext>
                </a:extLst>
              </p:cNvPr>
              <p:cNvPicPr>
                <a:picLocks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10580" r="5205" b="3136"/>
              <a:stretch>
                <a:fillRect/>
              </a:stretch>
            </p:blipFill>
            <p:spPr>
              <a:xfrm>
                <a:off x="2880076" y="3090161"/>
                <a:ext cx="2730178" cy="2750382"/>
              </a:xfrm>
              <a:prstGeom prst="rect">
                <a:avLst/>
              </a:prstGeom>
            </p:spPr>
          </p:pic>
        </p:grpSp>
        <p:sp>
          <p:nvSpPr>
            <p:cNvPr id="4" name="Text Box 2">
              <a:extLst>
                <a:ext uri="{FF2B5EF4-FFF2-40B4-BE49-F238E27FC236}">
                  <a16:creationId xmlns:a16="http://schemas.microsoft.com/office/drawing/2014/main" id="{1A042B18-29B1-0E3D-4825-A9024BFCB2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8375" y="563830"/>
              <a:ext cx="1947939" cy="2654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3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4-unit-cell design</a:t>
              </a:r>
            </a:p>
          </p:txBody>
        </p:sp>
        <p:sp>
          <p:nvSpPr>
            <p:cNvPr id="7" name="Text Box 2">
              <a:extLst>
                <a:ext uri="{FF2B5EF4-FFF2-40B4-BE49-F238E27FC236}">
                  <a16:creationId xmlns:a16="http://schemas.microsoft.com/office/drawing/2014/main" id="{6236CBCF-D119-EBCC-8804-7412B4FE03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209314" y="3315990"/>
              <a:ext cx="1946999" cy="26549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r"/>
              <a:r>
                <a:rPr lang="en-GB" sz="1300" dirty="0">
                  <a:solidFill>
                    <a:schemeClr val="bg1"/>
                  </a:solidFill>
                  <a:latin typeface="Arial" panose="020B0604020202020204" pitchFamily="34" charset="0"/>
                  <a:ea typeface="TH Sarabun PSK"/>
                  <a:cs typeface="TH Sarabun PSK"/>
                </a:rPr>
                <a:t>5-unit-cell design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27771299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8D6A62-F729-8146-6602-6B9EAA862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9" name="Group 98">
            <a:extLst>
              <a:ext uri="{FF2B5EF4-FFF2-40B4-BE49-F238E27FC236}">
                <a16:creationId xmlns:a16="http://schemas.microsoft.com/office/drawing/2014/main" id="{275D7D68-3AEF-4C7F-4925-E0D6D4A4F0F7}"/>
              </a:ext>
            </a:extLst>
          </p:cNvPr>
          <p:cNvGrpSpPr/>
          <p:nvPr/>
        </p:nvGrpSpPr>
        <p:grpSpPr>
          <a:xfrm>
            <a:off x="1383862" y="-444167"/>
            <a:ext cx="8530325" cy="7330408"/>
            <a:chOff x="1383862" y="-696469"/>
            <a:chExt cx="8530325" cy="7330408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CEFF5BCF-F936-30BC-C5AC-66938C4BCDC6}"/>
                </a:ext>
              </a:extLst>
            </p:cNvPr>
            <p:cNvGrpSpPr/>
            <p:nvPr/>
          </p:nvGrpSpPr>
          <p:grpSpPr>
            <a:xfrm>
              <a:off x="1458499" y="-390884"/>
              <a:ext cx="2821665" cy="2113538"/>
              <a:chOff x="1458499" y="333586"/>
              <a:chExt cx="2821665" cy="2113538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E256747A-9A64-FEEA-48E3-C73ABF4127D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25" b="4228"/>
              <a:stretch>
                <a:fillRect/>
              </a:stretch>
            </p:blipFill>
            <p:spPr>
              <a:xfrm>
                <a:off x="1458499" y="333586"/>
                <a:ext cx="2821665" cy="1901362"/>
              </a:xfrm>
              <a:prstGeom prst="rect">
                <a:avLst/>
              </a:prstGeom>
            </p:spPr>
          </p:pic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7CAE097F-9881-781B-334E-E50AC9B0CF5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1824909" y="2214550"/>
                <a:ext cx="2177422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4" name="Text Box 2">
                <a:extLst>
                  <a:ext uri="{FF2B5EF4-FFF2-40B4-BE49-F238E27FC236}">
                    <a16:creationId xmlns:a16="http://schemas.microsoft.com/office/drawing/2014/main" id="{BFEFB833-1F4B-A0FA-A604-3D435106E1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727359" y="1218242"/>
                <a:ext cx="1703749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</p:grpSp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293A04FD-A3B0-1008-37E5-4C788BFB869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740722" y="-688832"/>
              <a:ext cx="2261610" cy="311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6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7170522" y="-692581"/>
                  <a:ext cx="2663909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FAE060AB-4B8B-934F-6F8D-AE1F35F7BE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7170522" y="-692581"/>
                  <a:ext cx="2663909" cy="308817"/>
                </a:xfrm>
                <a:prstGeom prst="rect">
                  <a:avLst/>
                </a:prstGeom>
                <a:blipFill>
                  <a:blip r:embed="rId3"/>
                  <a:stretch>
                    <a:fillRect l="-1373" t="-10000" r="-229" b="-32000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350262" y="-696469"/>
                  <a:ext cx="2740504" cy="30881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6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𝟒</m:t>
                      </m:r>
                      <m:r>
                        <a:rPr lang="en-US" sz="16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6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8" name="Text Box 2">
                  <a:extLst>
                    <a:ext uri="{FF2B5EF4-FFF2-40B4-BE49-F238E27FC236}">
                      <a16:creationId xmlns:a16="http://schemas.microsoft.com/office/drawing/2014/main" id="{FB75535D-07C1-B43E-CCDA-80768CFCC64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350262" y="-696469"/>
                  <a:ext cx="2740504" cy="308817"/>
                </a:xfrm>
                <a:prstGeom prst="rect">
                  <a:avLst/>
                </a:prstGeom>
                <a:blipFill>
                  <a:blip r:embed="rId4"/>
                  <a:stretch>
                    <a:fillRect t="-9804" b="-29412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9" name="Text Box 2">
              <a:extLst>
                <a:ext uri="{FF2B5EF4-FFF2-40B4-BE49-F238E27FC236}">
                  <a16:creationId xmlns:a16="http://schemas.microsoft.com/office/drawing/2014/main" id="{F03BDA51-720C-3CF6-F73A-520169042D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2613" y="1667132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97963480-9B98-00BE-F422-544F33DD86AB}"/>
                </a:ext>
              </a:extLst>
            </p:cNvPr>
            <p:cNvSpPr/>
            <p:nvPr/>
          </p:nvSpPr>
          <p:spPr>
            <a:xfrm rot="16200000">
              <a:off x="3980642" y="458116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106FE220-7954-3550-3F22-9AB09E685314}"/>
                </a:ext>
              </a:extLst>
            </p:cNvPr>
            <p:cNvSpPr/>
            <p:nvPr/>
          </p:nvSpPr>
          <p:spPr>
            <a:xfrm rot="16200000">
              <a:off x="3983524" y="531161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ABCA8936-3CB9-8BB3-0406-746B50FE1980}"/>
                </a:ext>
              </a:extLst>
            </p:cNvPr>
            <p:cNvSpPr/>
            <p:nvPr/>
          </p:nvSpPr>
          <p:spPr>
            <a:xfrm rot="16200000">
              <a:off x="6792806" y="493409"/>
              <a:ext cx="823008" cy="20078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00952736-745F-6DFA-41E6-6C54C19D5856}"/>
                </a:ext>
              </a:extLst>
            </p:cNvPr>
            <p:cNvGrpSpPr/>
            <p:nvPr/>
          </p:nvGrpSpPr>
          <p:grpSpPr>
            <a:xfrm>
              <a:off x="4270507" y="-390886"/>
              <a:ext cx="2823419" cy="2116572"/>
              <a:chOff x="4270507" y="333584"/>
              <a:chExt cx="2823419" cy="2116572"/>
            </a:xfrm>
          </p:grpSpPr>
          <p:pic>
            <p:nvPicPr>
              <p:cNvPr id="18" name="Picture 17">
                <a:extLst>
                  <a:ext uri="{FF2B5EF4-FFF2-40B4-BE49-F238E27FC236}">
                    <a16:creationId xmlns:a16="http://schemas.microsoft.com/office/drawing/2014/main" id="{55E47CED-0343-6F4D-FA93-5ACEA5B78FFF}"/>
                  </a:ext>
                </a:extLst>
              </p:cNvPr>
              <p:cNvPicPr>
                <a:picLocks/>
              </p:cNvPicPr>
              <p:nvPr/>
            </p:nvPicPr>
            <p:blipFill>
              <a:blip r:embed="rId5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0"/>
              <a:stretch>
                <a:fillRect/>
              </a:stretch>
            </p:blipFill>
            <p:spPr>
              <a:xfrm>
                <a:off x="4270507" y="333584"/>
                <a:ext cx="2823419" cy="1990842"/>
              </a:xfrm>
              <a:prstGeom prst="rect">
                <a:avLst/>
              </a:prstGeom>
            </p:spPr>
          </p:pic>
          <p:sp>
            <p:nvSpPr>
              <p:cNvPr id="22" name="Text Box 2">
                <a:extLst>
                  <a:ext uri="{FF2B5EF4-FFF2-40B4-BE49-F238E27FC236}">
                    <a16:creationId xmlns:a16="http://schemas.microsoft.com/office/drawing/2014/main" id="{AE3B8EAA-42E3-23D9-4F0C-DC4721FDF0A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628692" y="2217582"/>
                <a:ext cx="2177422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57" name="Text Box 2">
                <a:extLst>
                  <a:ext uri="{FF2B5EF4-FFF2-40B4-BE49-F238E27FC236}">
                    <a16:creationId xmlns:a16="http://schemas.microsoft.com/office/drawing/2014/main" id="{3CA44ABE-E1DB-575F-0CE0-50E3E6120A3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3545442" y="1116832"/>
                <a:ext cx="1703749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</p:grp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C377A153-0B83-8752-AC5B-F3819F161FCB}"/>
                </a:ext>
              </a:extLst>
            </p:cNvPr>
            <p:cNvGrpSpPr/>
            <p:nvPr/>
          </p:nvGrpSpPr>
          <p:grpSpPr>
            <a:xfrm>
              <a:off x="7090768" y="-390886"/>
              <a:ext cx="2823419" cy="2121173"/>
              <a:chOff x="7090768" y="333584"/>
              <a:chExt cx="2823419" cy="2121173"/>
            </a:xfrm>
          </p:grpSpPr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84275556-610F-C9DE-AB2E-DA11869E5DE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7090768" y="333584"/>
                <a:ext cx="2823419" cy="1990842"/>
              </a:xfrm>
              <a:prstGeom prst="rect">
                <a:avLst/>
              </a:prstGeom>
            </p:spPr>
          </p:pic>
          <p:sp>
            <p:nvSpPr>
              <p:cNvPr id="23" name="Text Box 2">
                <a:extLst>
                  <a:ext uri="{FF2B5EF4-FFF2-40B4-BE49-F238E27FC236}">
                    <a16:creationId xmlns:a16="http://schemas.microsoft.com/office/drawing/2014/main" id="{EC259A05-E69E-C468-2708-471B303D2EB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7454351" y="2222183"/>
                <a:ext cx="2177422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63" name="Text Box 2">
                <a:extLst>
                  <a:ext uri="{FF2B5EF4-FFF2-40B4-BE49-F238E27FC236}">
                    <a16:creationId xmlns:a16="http://schemas.microsoft.com/office/drawing/2014/main" id="{8ECBF53E-D052-25CC-CEAC-37A53114CFC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6367905" y="1116832"/>
                <a:ext cx="1703749" cy="232574"/>
              </a:xfrm>
              <a:prstGeom prst="rect">
                <a:avLst/>
              </a:prstGeom>
              <a:solidFill>
                <a:schemeClr val="bg1"/>
              </a:solidFill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</p:grpSp>
        <p:sp>
          <p:nvSpPr>
            <p:cNvPr id="65" name="Text Box 2">
              <a:extLst>
                <a:ext uri="{FF2B5EF4-FFF2-40B4-BE49-F238E27FC236}">
                  <a16:creationId xmlns:a16="http://schemas.microsoft.com/office/drawing/2014/main" id="{E1C39705-84BA-BDC7-CAD4-D15E35A98BB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3526" y="1668868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  <p:sp>
          <p:nvSpPr>
            <p:cNvPr id="66" name="Text Box 2">
              <a:extLst>
                <a:ext uri="{FF2B5EF4-FFF2-40B4-BE49-F238E27FC236}">
                  <a16:creationId xmlns:a16="http://schemas.microsoft.com/office/drawing/2014/main" id="{4225793D-DF19-162B-4F95-A33DC95B3E2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58578" y="1674751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(c)</a:t>
              </a:r>
            </a:p>
          </p:txBody>
        </p: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FF13DBE-27C7-C873-C4E9-E1518769EFB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t="6044"/>
            <a:stretch>
              <a:fillRect/>
            </a:stretch>
          </p:blipFill>
          <p:spPr>
            <a:xfrm>
              <a:off x="1456745" y="1963156"/>
              <a:ext cx="2823419" cy="1990843"/>
            </a:xfrm>
            <a:prstGeom prst="rect">
              <a:avLst/>
            </a:prstGeom>
          </p:spPr>
        </p:pic>
        <p:pic>
          <p:nvPicPr>
            <p:cNvPr id="29" name="Picture 28">
              <a:extLst>
                <a:ext uri="{FF2B5EF4-FFF2-40B4-BE49-F238E27FC236}">
                  <a16:creationId xmlns:a16="http://schemas.microsoft.com/office/drawing/2014/main" id="{C101B1AA-11A8-271A-8884-64B7BA2CC5C0}"/>
                </a:ext>
              </a:extLst>
            </p:cNvPr>
            <p:cNvPicPr>
              <a:picLocks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371"/>
            <a:stretch>
              <a:fillRect/>
            </a:stretch>
          </p:blipFill>
          <p:spPr>
            <a:xfrm>
              <a:off x="4270507" y="1963908"/>
              <a:ext cx="2823419" cy="1990091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87762777-619E-27B4-322B-2C2EE2CDD95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87"/>
            <a:stretch>
              <a:fillRect/>
            </a:stretch>
          </p:blipFill>
          <p:spPr>
            <a:xfrm>
              <a:off x="7090768" y="1964941"/>
              <a:ext cx="2823419" cy="1989058"/>
            </a:xfrm>
            <a:prstGeom prst="rect">
              <a:avLst/>
            </a:prstGeom>
          </p:spPr>
        </p:pic>
        <p:sp>
          <p:nvSpPr>
            <p:cNvPr id="42" name="Text Box 2">
              <a:extLst>
                <a:ext uri="{FF2B5EF4-FFF2-40B4-BE49-F238E27FC236}">
                  <a16:creationId xmlns:a16="http://schemas.microsoft.com/office/drawing/2014/main" id="{5652DA98-7B88-80EC-6E7B-54C68F41EE2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3845515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44" name="Text Box 2">
              <a:extLst>
                <a:ext uri="{FF2B5EF4-FFF2-40B4-BE49-F238E27FC236}">
                  <a16:creationId xmlns:a16="http://schemas.microsoft.com/office/drawing/2014/main" id="{8ABAD2B2-1FDF-C197-6E40-29F584C97DB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0097" y="384731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46" name="Text Box 2">
              <a:extLst>
                <a:ext uri="{FF2B5EF4-FFF2-40B4-BE49-F238E27FC236}">
                  <a16:creationId xmlns:a16="http://schemas.microsoft.com/office/drawing/2014/main" id="{0564EEDE-F1D6-CDF6-FD9B-A969BC516D5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5756" y="384731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48" name="Text Box 2">
              <a:extLst>
                <a:ext uri="{FF2B5EF4-FFF2-40B4-BE49-F238E27FC236}">
                  <a16:creationId xmlns:a16="http://schemas.microsoft.com/office/drawing/2014/main" id="{378BEF2F-9ABF-E729-69BA-A117310E940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707955" y="2718169"/>
              <a:ext cx="1703749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64" name="Text Box 2">
              <a:extLst>
                <a:ext uri="{FF2B5EF4-FFF2-40B4-BE49-F238E27FC236}">
                  <a16:creationId xmlns:a16="http://schemas.microsoft.com/office/drawing/2014/main" id="{C4CECF94-DEDB-49C7-0645-7D6AA5C40EA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562868" y="2718170"/>
              <a:ext cx="1703749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68" name="Text Box 2">
              <a:extLst>
                <a:ext uri="{FF2B5EF4-FFF2-40B4-BE49-F238E27FC236}">
                  <a16:creationId xmlns:a16="http://schemas.microsoft.com/office/drawing/2014/main" id="{DCA475A1-3D4A-FFDB-F2D9-B800EAE0F9F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390284" y="2718170"/>
              <a:ext cx="1703749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D</a:t>
              </a:r>
              <a:r>
                <a:rPr lang="en-GB" sz="1100" baseline="-25000" dirty="0">
                  <a:latin typeface="Arial" panose="020B0604020202020204" pitchFamily="34" charset="0"/>
                  <a:ea typeface="TH Sarabun PSK"/>
                  <a:cs typeface="TH Sarabun PSK"/>
                </a:rPr>
                <a:t>pct</a:t>
              </a:r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 (%)</a:t>
              </a:r>
            </a:p>
          </p:txBody>
        </p:sp>
        <p:sp>
          <p:nvSpPr>
            <p:cNvPr id="70" name="Text Box 2">
              <a:extLst>
                <a:ext uri="{FF2B5EF4-FFF2-40B4-BE49-F238E27FC236}">
                  <a16:creationId xmlns:a16="http://schemas.microsoft.com/office/drawing/2014/main" id="{8E68FDE9-BFB8-67BD-3C32-53A9C7D0E93A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3981" y="4025212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(d)</a:t>
              </a:r>
            </a:p>
          </p:txBody>
        </p:sp>
        <p:sp>
          <p:nvSpPr>
            <p:cNvPr id="72" name="Text Box 2">
              <a:extLst>
                <a:ext uri="{FF2B5EF4-FFF2-40B4-BE49-F238E27FC236}">
                  <a16:creationId xmlns:a16="http://schemas.microsoft.com/office/drawing/2014/main" id="{89BC34B4-1445-847A-501D-72141D160DDD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4894" y="4026948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(e)</a:t>
              </a:r>
            </a:p>
          </p:txBody>
        </p:sp>
        <p:sp>
          <p:nvSpPr>
            <p:cNvPr id="74" name="Text Box 2">
              <a:extLst>
                <a:ext uri="{FF2B5EF4-FFF2-40B4-BE49-F238E27FC236}">
                  <a16:creationId xmlns:a16="http://schemas.microsoft.com/office/drawing/2014/main" id="{2D5541A3-F01F-1021-BDDF-5D48DC205B5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59946" y="4032831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(f)</a:t>
              </a:r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1A6ACDD2-8A4F-370E-4DCA-FE0373771453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902"/>
            <a:stretch>
              <a:fillRect/>
            </a:stretch>
          </p:blipFill>
          <p:spPr>
            <a:xfrm>
              <a:off x="7090768" y="4317200"/>
              <a:ext cx="2823419" cy="1990844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D7C2C44D-B922-CB77-58E1-D5E8595A6EB5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095"/>
            <a:stretch>
              <a:fillRect/>
            </a:stretch>
          </p:blipFill>
          <p:spPr>
            <a:xfrm>
              <a:off x="4269103" y="4317200"/>
              <a:ext cx="2823419" cy="1990844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0701FD53-117D-BC7C-94B9-1975DF776C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896"/>
            <a:stretch>
              <a:fillRect/>
            </a:stretch>
          </p:blipFill>
          <p:spPr>
            <a:xfrm>
              <a:off x="1455752" y="4317199"/>
              <a:ext cx="2823007" cy="1990845"/>
            </a:xfrm>
            <a:prstGeom prst="rect">
              <a:avLst/>
            </a:prstGeom>
          </p:spPr>
        </p:pic>
        <p:sp>
          <p:nvSpPr>
            <p:cNvPr id="82" name="Text Box 2">
              <a:extLst>
                <a:ext uri="{FF2B5EF4-FFF2-40B4-BE49-F238E27FC236}">
                  <a16:creationId xmlns:a16="http://schemas.microsoft.com/office/drawing/2014/main" id="{6E3333CA-065E-4558-0E8A-734AC129E5F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24909" y="620130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84" name="Text Box 2">
              <a:extLst>
                <a:ext uri="{FF2B5EF4-FFF2-40B4-BE49-F238E27FC236}">
                  <a16:creationId xmlns:a16="http://schemas.microsoft.com/office/drawing/2014/main" id="{D5F7A840-E898-6D33-CDD1-B0E944F423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631590" y="620130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86" name="Text Box 2">
              <a:extLst>
                <a:ext uri="{FF2B5EF4-FFF2-40B4-BE49-F238E27FC236}">
                  <a16:creationId xmlns:a16="http://schemas.microsoft.com/office/drawing/2014/main" id="{C18EBA50-2E46-4B27-E62A-22E3C67D6A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457249" y="6201309"/>
              <a:ext cx="2177422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Cycle number</a:t>
              </a:r>
            </a:p>
          </p:txBody>
        </p:sp>
        <p:sp>
          <p:nvSpPr>
            <p:cNvPr id="88" name="Text Box 2">
              <a:extLst>
                <a:ext uri="{FF2B5EF4-FFF2-40B4-BE49-F238E27FC236}">
                  <a16:creationId xmlns:a16="http://schemas.microsoft.com/office/drawing/2014/main" id="{87E1F90A-66E0-3A38-EB67-1712B239E5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850709" y="5091375"/>
              <a:ext cx="1298880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90" name="Text Box 2">
              <a:extLst>
                <a:ext uri="{FF2B5EF4-FFF2-40B4-BE49-F238E27FC236}">
                  <a16:creationId xmlns:a16="http://schemas.microsoft.com/office/drawing/2014/main" id="{EC393578-4F02-0C3B-2430-E12A6374849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3668808" y="5091376"/>
              <a:ext cx="1298876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92" name="Text Box 2">
              <a:extLst>
                <a:ext uri="{FF2B5EF4-FFF2-40B4-BE49-F238E27FC236}">
                  <a16:creationId xmlns:a16="http://schemas.microsoft.com/office/drawing/2014/main" id="{D91A00AD-864B-AFE0-4999-9BA72E26C7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 rot="16200000">
              <a:off x="6491605" y="5091376"/>
              <a:ext cx="1298876" cy="232574"/>
            </a:xfrm>
            <a:prstGeom prst="rect">
              <a:avLst/>
            </a:prstGeom>
            <a:solidFill>
              <a:schemeClr val="bg1"/>
            </a:solidFill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100" dirty="0">
                  <a:latin typeface="Arial" panose="020B0604020202020204" pitchFamily="34" charset="0"/>
                  <a:ea typeface="TH Sarabun PSK"/>
                  <a:cs typeface="TH Sarabun PSK"/>
                </a:rPr>
                <a:t>IL (dB)</a:t>
              </a:r>
            </a:p>
          </p:txBody>
        </p:sp>
        <p:sp>
          <p:nvSpPr>
            <p:cNvPr id="94" name="Text Box 2">
              <a:extLst>
                <a:ext uri="{FF2B5EF4-FFF2-40B4-BE49-F238E27FC236}">
                  <a16:creationId xmlns:a16="http://schemas.microsoft.com/office/drawing/2014/main" id="{20039B84-81ED-7AE0-8BD5-F8C3C77558D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582613" y="6376217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(g)</a:t>
              </a:r>
            </a:p>
          </p:txBody>
        </p:sp>
        <p:sp>
          <p:nvSpPr>
            <p:cNvPr id="96" name="Text Box 2">
              <a:extLst>
                <a:ext uri="{FF2B5EF4-FFF2-40B4-BE49-F238E27FC236}">
                  <a16:creationId xmlns:a16="http://schemas.microsoft.com/office/drawing/2014/main" id="{DD7609E3-1709-EB7C-2038-67EB724F66F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473526" y="6377953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(h)</a:t>
              </a:r>
            </a:p>
          </p:txBody>
        </p:sp>
        <p:sp>
          <p:nvSpPr>
            <p:cNvPr id="98" name="Text Box 2">
              <a:extLst>
                <a:ext uri="{FF2B5EF4-FFF2-40B4-BE49-F238E27FC236}">
                  <a16:creationId xmlns:a16="http://schemas.microsoft.com/office/drawing/2014/main" id="{5A8A3F9E-0F71-0206-741D-1286377DFB3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8258578" y="6383836"/>
              <a:ext cx="573435" cy="25010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200" dirty="0">
                  <a:latin typeface="Arial" panose="020B0604020202020204" pitchFamily="34" charset="0"/>
                  <a:ea typeface="TH Sarabun PSK"/>
                  <a:cs typeface="TH Sarabun PSK"/>
                </a:rPr>
                <a:t>(i)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821135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5C65264-BDBB-2071-1025-EAF4A4BD8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3" name="Group 122">
            <a:extLst>
              <a:ext uri="{FF2B5EF4-FFF2-40B4-BE49-F238E27FC236}">
                <a16:creationId xmlns:a16="http://schemas.microsoft.com/office/drawing/2014/main" id="{CB7461DE-24BF-0799-0FCA-DFB643F2E241}"/>
              </a:ext>
            </a:extLst>
          </p:cNvPr>
          <p:cNvGrpSpPr/>
          <p:nvPr/>
        </p:nvGrpSpPr>
        <p:grpSpPr>
          <a:xfrm>
            <a:off x="2659264" y="41812"/>
            <a:ext cx="5800980" cy="6474998"/>
            <a:chOff x="2659264" y="41812"/>
            <a:chExt cx="5800980" cy="6474998"/>
          </a:xfrm>
        </p:grpSpPr>
        <p:sp>
          <p:nvSpPr>
            <p:cNvPr id="36" name="Text Box 2">
              <a:extLst>
                <a:ext uri="{FF2B5EF4-FFF2-40B4-BE49-F238E27FC236}">
                  <a16:creationId xmlns:a16="http://schemas.microsoft.com/office/drawing/2014/main" id="{8AB6E43D-1B78-F7B3-9FFB-25800C047DB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98022" y="45561"/>
              <a:ext cx="2261610" cy="28088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ctr"/>
              <a:r>
                <a:rPr lang="en-GB" sz="1400" b="1" dirty="0">
                  <a:latin typeface="Arial" panose="020B0604020202020204" pitchFamily="34" charset="0"/>
                  <a:ea typeface="TH Sarabun PSK"/>
                  <a:cs typeface="TH Sarabun PSK"/>
                </a:rPr>
                <a:t>Single-layer design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spAutoFit/>
                </a:bodyPr>
                <a:lstStyle/>
                <a:p>
                  <a:pPr algn="ctr"/>
                  <a:r>
                    <a:rPr lang="en-GB" sz="1400" b="1" dirty="0">
                      <a:latin typeface="Arial" panose="020B0604020202020204" pitchFamily="34" charset="0"/>
                      <a:ea typeface="TH Sarabun PSK"/>
                      <a:cs typeface="TH Sarabun PSK"/>
                    </a:rPr>
                    <a:t>Edge-filter design </a:t>
                  </a:r>
                  <a14:m>
                    <m:oMath xmlns:m="http://schemas.openxmlformats.org/officeDocument/2006/math"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(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𝑵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=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𝟓</m:t>
                      </m:r>
                      <m:r>
                        <a:rPr lang="en-US" sz="1400" b="1" i="1">
                          <a:latin typeface="Cambria Math" panose="02040503050406030204" pitchFamily="18" charset="0"/>
                          <a:ea typeface="TH Sarabun PSK"/>
                          <a:cs typeface="TH Sarabun PSK"/>
                        </a:rPr>
                        <m:t>)</m:t>
                      </m:r>
                    </m:oMath>
                  </a14:m>
                  <a:endParaRPr lang="en-GB" sz="1400" b="1" dirty="0">
                    <a:latin typeface="Arial" panose="020B0604020202020204" pitchFamily="34" charset="0"/>
                    <a:ea typeface="TH Sarabun PSK"/>
                    <a:cs typeface="TH Sarabun PSK"/>
                  </a:endParaRPr>
                </a:p>
              </p:txBody>
            </p:sp>
          </mc:Choice>
          <mc:Fallback xmlns="">
            <p:sp>
              <p:nvSpPr>
                <p:cNvPr id="37" name="Text Box 2">
                  <a:extLst>
                    <a:ext uri="{FF2B5EF4-FFF2-40B4-BE49-F238E27FC236}">
                      <a16:creationId xmlns:a16="http://schemas.microsoft.com/office/drawing/2014/main" id="{944201E8-B4B0-28F0-87B6-E88A58221CF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5669083" y="41812"/>
                  <a:ext cx="2663909" cy="280880"/>
                </a:xfrm>
                <a:prstGeom prst="rect">
                  <a:avLst/>
                </a:prstGeom>
                <a:blipFill>
                  <a:blip r:embed="rId2"/>
                  <a:stretch>
                    <a:fillRect t="-8696" b="-26087"/>
                  </a:stretch>
                </a:blipFill>
                <a:ln w="9525">
                  <a:noFill/>
                  <a:miter lim="800000"/>
                  <a:headEnd/>
                  <a:tailEnd/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22" name="Group 121">
              <a:extLst>
                <a:ext uri="{FF2B5EF4-FFF2-40B4-BE49-F238E27FC236}">
                  <a16:creationId xmlns:a16="http://schemas.microsoft.com/office/drawing/2014/main" id="{C8A78E32-04A7-E64B-E267-143E4CBF70B0}"/>
                </a:ext>
              </a:extLst>
            </p:cNvPr>
            <p:cNvGrpSpPr/>
            <p:nvPr/>
          </p:nvGrpSpPr>
          <p:grpSpPr>
            <a:xfrm>
              <a:off x="2659264" y="333174"/>
              <a:ext cx="5800980" cy="6183636"/>
              <a:chOff x="2659264" y="333174"/>
              <a:chExt cx="5800980" cy="6183636"/>
            </a:xfrm>
          </p:grpSpPr>
          <p:pic>
            <p:nvPicPr>
              <p:cNvPr id="10" name="Picture 9">
                <a:extLst>
                  <a:ext uri="{FF2B5EF4-FFF2-40B4-BE49-F238E27FC236}">
                    <a16:creationId xmlns:a16="http://schemas.microsoft.com/office/drawing/2014/main" id="{724FB06D-7E62-768A-0952-E41CB5A098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25"/>
              <a:stretch>
                <a:fillRect/>
              </a:stretch>
            </p:blipFill>
            <p:spPr>
              <a:xfrm>
                <a:off x="2715799" y="333585"/>
                <a:ext cx="2821665" cy="1990841"/>
              </a:xfrm>
              <a:prstGeom prst="rect">
                <a:avLst/>
              </a:prstGeom>
            </p:spPr>
          </p:pic>
          <p:pic>
            <p:nvPicPr>
              <p:cNvPr id="19" name="Picture 18">
                <a:extLst>
                  <a:ext uri="{FF2B5EF4-FFF2-40B4-BE49-F238E27FC236}">
                    <a16:creationId xmlns:a16="http://schemas.microsoft.com/office/drawing/2014/main" id="{EAED6F3C-75D3-F18B-2A8D-C4B99523B91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333584"/>
                <a:ext cx="2823419" cy="1990842"/>
              </a:xfrm>
              <a:prstGeom prst="rect">
                <a:avLst/>
              </a:prstGeom>
            </p:spPr>
          </p:pic>
          <p:pic>
            <p:nvPicPr>
              <p:cNvPr id="20" name="Picture 19">
                <a:extLst>
                  <a:ext uri="{FF2B5EF4-FFF2-40B4-BE49-F238E27FC236}">
                    <a16:creationId xmlns:a16="http://schemas.microsoft.com/office/drawing/2014/main" id="{F1A501BD-4305-CE30-D04C-3AB1B54AFF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t="6044"/>
              <a:stretch>
                <a:fillRect/>
              </a:stretch>
            </p:blipFill>
            <p:spPr>
              <a:xfrm>
                <a:off x="2714045" y="2402557"/>
                <a:ext cx="2823419" cy="1990843"/>
              </a:xfrm>
              <a:prstGeom prst="rect">
                <a:avLst/>
              </a:prstGeom>
            </p:spPr>
          </p:pic>
          <p:pic>
            <p:nvPicPr>
              <p:cNvPr id="26" name="Picture 25">
                <a:extLst>
                  <a:ext uri="{FF2B5EF4-FFF2-40B4-BE49-F238E27FC236}">
                    <a16:creationId xmlns:a16="http://schemas.microsoft.com/office/drawing/2014/main" id="{A3C86BD2-3262-9374-099E-3B688EB15BB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87"/>
              <a:stretch>
                <a:fillRect/>
              </a:stretch>
            </p:blipFill>
            <p:spPr>
              <a:xfrm>
                <a:off x="5589329" y="2404342"/>
                <a:ext cx="2823419" cy="1989058"/>
              </a:xfrm>
              <a:prstGeom prst="rect">
                <a:avLst/>
              </a:prstGeom>
            </p:spPr>
          </p:pic>
          <p:pic>
            <p:nvPicPr>
              <p:cNvPr id="27" name="Picture 26">
                <a:extLst>
                  <a:ext uri="{FF2B5EF4-FFF2-40B4-BE49-F238E27FC236}">
                    <a16:creationId xmlns:a16="http://schemas.microsoft.com/office/drawing/2014/main" id="{8E771361-BEAD-5AF4-922A-96E408933C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902"/>
              <a:stretch>
                <a:fillRect/>
              </a:stretch>
            </p:blipFill>
            <p:spPr>
              <a:xfrm>
                <a:off x="5589329" y="4471533"/>
                <a:ext cx="2823419" cy="1990844"/>
              </a:xfrm>
              <a:prstGeom prst="rect">
                <a:avLst/>
              </a:prstGeom>
            </p:spPr>
          </p:pic>
          <p:pic>
            <p:nvPicPr>
              <p:cNvPr id="35" name="Picture 34">
                <a:extLst>
                  <a:ext uri="{FF2B5EF4-FFF2-40B4-BE49-F238E27FC236}">
                    <a16:creationId xmlns:a16="http://schemas.microsoft.com/office/drawing/2014/main" id="{CF80EBF0-1D33-E466-7E60-B11A02B228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5896"/>
              <a:stretch>
                <a:fillRect/>
              </a:stretch>
            </p:blipFill>
            <p:spPr>
              <a:xfrm>
                <a:off x="2713052" y="4471532"/>
                <a:ext cx="2823007" cy="1990845"/>
              </a:xfrm>
              <a:prstGeom prst="rect">
                <a:avLst/>
              </a:prstGeom>
            </p:spPr>
          </p:pic>
          <p:sp>
            <p:nvSpPr>
              <p:cNvPr id="39" name="Text Box 2">
                <a:extLst>
                  <a:ext uri="{FF2B5EF4-FFF2-40B4-BE49-F238E27FC236}">
                    <a16:creationId xmlns:a16="http://schemas.microsoft.com/office/drawing/2014/main" id="{A875E46C-B5B9-498F-7902-44346FA2EE9A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335566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(a)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CA8147D-A081-CD7F-B250-BF9C7098027F}"/>
                  </a:ext>
                </a:extLst>
              </p:cNvPr>
              <p:cNvSpPr/>
              <p:nvPr/>
            </p:nvSpPr>
            <p:spPr>
              <a:xfrm>
                <a:off x="2836059" y="2221379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4E94AED0-8AA9-17D2-0280-AD39E981946F}"/>
                  </a:ext>
                </a:extLst>
              </p:cNvPr>
              <p:cNvSpPr/>
              <p:nvPr/>
            </p:nvSpPr>
            <p:spPr>
              <a:xfrm>
                <a:off x="3060244" y="4310270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6DD1C58C-94B1-3DE5-C22C-A0F02575C1EB}"/>
                  </a:ext>
                </a:extLst>
              </p:cNvPr>
              <p:cNvSpPr/>
              <p:nvPr/>
            </p:nvSpPr>
            <p:spPr>
              <a:xfrm>
                <a:off x="3060244" y="6379245"/>
                <a:ext cx="5400000" cy="103046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11" name="Text Box 2">
                <a:extLst>
                  <a:ext uri="{FF2B5EF4-FFF2-40B4-BE49-F238E27FC236}">
                    <a16:creationId xmlns:a16="http://schemas.microsoft.com/office/drawing/2014/main" id="{47A7EF5D-DCFD-553F-BB4C-0A712C5CD47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2162003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2" name="Text Box 2">
                <a:extLst>
                  <a:ext uri="{FF2B5EF4-FFF2-40B4-BE49-F238E27FC236}">
                    <a16:creationId xmlns:a16="http://schemas.microsoft.com/office/drawing/2014/main" id="{65623F47-A8D3-A29F-F565-FE2C0A32FC9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4232514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3" name="Text Box 2">
                <a:extLst>
                  <a:ext uri="{FF2B5EF4-FFF2-40B4-BE49-F238E27FC236}">
                    <a16:creationId xmlns:a16="http://schemas.microsoft.com/office/drawing/2014/main" id="{C21BBE95-1A01-3E25-D39E-AE36E75AE02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82209" y="628423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15" name="Text Box 2">
                <a:extLst>
                  <a:ext uri="{FF2B5EF4-FFF2-40B4-BE49-F238E27FC236}">
                    <a16:creationId xmlns:a16="http://schemas.microsoft.com/office/drawing/2014/main" id="{2E8DF09B-3A29-B7F2-BF6E-0EF1895CEF6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5810" y="6280646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1" name="Text Box 2">
                <a:extLst>
                  <a:ext uri="{FF2B5EF4-FFF2-40B4-BE49-F238E27FC236}">
                    <a16:creationId xmlns:a16="http://schemas.microsoft.com/office/drawing/2014/main" id="{BC6CEAC4-0A63-5015-9812-2360877D31D3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4317" y="4226698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3" name="Text Box 2">
                <a:extLst>
                  <a:ext uri="{FF2B5EF4-FFF2-40B4-BE49-F238E27FC236}">
                    <a16:creationId xmlns:a16="http://schemas.microsoft.com/office/drawing/2014/main" id="{904FCF01-4AE5-EBD6-F862-0DC7AF6C8202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52912" y="2156172"/>
                <a:ext cx="2177422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Cycle number</a:t>
                </a:r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1CACB493-D04E-A4F8-9DF8-AEED30BD7B6C}"/>
                  </a:ext>
                </a:extLst>
              </p:cNvPr>
              <p:cNvSpPr/>
              <p:nvPr/>
            </p:nvSpPr>
            <p:spPr>
              <a:xfrm rot="16200000">
                <a:off x="2418116" y="989666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41904269-9795-4D78-ED89-0BC3987472B5}"/>
                  </a:ext>
                </a:extLst>
              </p:cNvPr>
              <p:cNvSpPr/>
              <p:nvPr/>
            </p:nvSpPr>
            <p:spPr>
              <a:xfrm rot="16200000">
                <a:off x="2564971" y="3208906"/>
                <a:ext cx="502256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33" name="Rectangle 32">
                <a:extLst>
                  <a:ext uri="{FF2B5EF4-FFF2-40B4-BE49-F238E27FC236}">
                    <a16:creationId xmlns:a16="http://schemas.microsoft.com/office/drawing/2014/main" id="{305EEFE5-6A4E-AB9A-E237-EB8452960D52}"/>
                  </a:ext>
                </a:extLst>
              </p:cNvPr>
              <p:cNvSpPr/>
              <p:nvPr/>
            </p:nvSpPr>
            <p:spPr>
              <a:xfrm rot="16200000">
                <a:off x="2561481" y="5213250"/>
                <a:ext cx="396345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1" name="Rectangle 50">
                <a:extLst>
                  <a:ext uri="{FF2B5EF4-FFF2-40B4-BE49-F238E27FC236}">
                    <a16:creationId xmlns:a16="http://schemas.microsoft.com/office/drawing/2014/main" id="{E0D1B2D8-D30A-C67E-40ED-B41AD462018A}"/>
                  </a:ext>
                </a:extLst>
              </p:cNvPr>
              <p:cNvSpPr/>
              <p:nvPr/>
            </p:nvSpPr>
            <p:spPr>
              <a:xfrm rot="16200000">
                <a:off x="5402301" y="5216567"/>
                <a:ext cx="32747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7F1B7DAE-1512-295C-59D1-4E7BC56E5EE1}"/>
                  </a:ext>
                </a:extLst>
              </p:cNvPr>
              <p:cNvSpPr/>
              <p:nvPr/>
            </p:nvSpPr>
            <p:spPr>
              <a:xfrm rot="16200000">
                <a:off x="5291367" y="1102925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EB08C357-EF1B-F1B9-9323-6F825B0FBEA4}"/>
                  </a:ext>
                </a:extLst>
              </p:cNvPr>
              <p:cNvSpPr/>
              <p:nvPr/>
            </p:nvSpPr>
            <p:spPr>
              <a:xfrm rot="16200000">
                <a:off x="5320532" y="3369284"/>
                <a:ext cx="823008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54" name="Rectangle 53">
                <a:extLst>
                  <a:ext uri="{FF2B5EF4-FFF2-40B4-BE49-F238E27FC236}">
                    <a16:creationId xmlns:a16="http://schemas.microsoft.com/office/drawing/2014/main" id="{5E646473-771A-DC53-A2CB-9E8EE0C8EB57}"/>
                  </a:ext>
                </a:extLst>
              </p:cNvPr>
              <p:cNvSpPr/>
              <p:nvPr/>
            </p:nvSpPr>
            <p:spPr>
              <a:xfrm rot="16200000">
                <a:off x="5401406" y="5264774"/>
                <a:ext cx="499391" cy="20078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sp>
            <p:nvSpPr>
              <p:cNvPr id="24" name="Text Box 2">
                <a:extLst>
                  <a:ext uri="{FF2B5EF4-FFF2-40B4-BE49-F238E27FC236}">
                    <a16:creationId xmlns:a16="http://schemas.microsoft.com/office/drawing/2014/main" id="{84D64FCC-E4A7-95CA-6A94-C75DC6B357F9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1116831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55" name="Text Box 2">
                <a:extLst>
                  <a:ext uri="{FF2B5EF4-FFF2-40B4-BE49-F238E27FC236}">
                    <a16:creationId xmlns:a16="http://schemas.microsoft.com/office/drawing/2014/main" id="{34880A58-5117-23E8-93C5-AE01993D0BF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71959" y="317449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56" name="Text Box 2">
                <a:extLst>
                  <a:ext uri="{FF2B5EF4-FFF2-40B4-BE49-F238E27FC236}">
                    <a16:creationId xmlns:a16="http://schemas.microsoft.com/office/drawing/2014/main" id="{A619CAAF-0065-8636-2213-424C0DA8A21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1963240" y="5245708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1" name="Text Box 2">
                <a:extLst>
                  <a:ext uri="{FF2B5EF4-FFF2-40B4-BE49-F238E27FC236}">
                    <a16:creationId xmlns:a16="http://schemas.microsoft.com/office/drawing/2014/main" id="{DB6243F5-505A-604C-BEE1-B891AB18729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87929" y="317449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D</a:t>
                </a:r>
                <a:r>
                  <a:rPr lang="en-GB" sz="1100" baseline="-250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pct</a:t>
                </a:r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 (%)</a:t>
                </a:r>
              </a:p>
            </p:txBody>
          </p:sp>
          <p:sp>
            <p:nvSpPr>
              <p:cNvPr id="62" name="Text Box 2">
                <a:extLst>
                  <a:ext uri="{FF2B5EF4-FFF2-40B4-BE49-F238E27FC236}">
                    <a16:creationId xmlns:a16="http://schemas.microsoft.com/office/drawing/2014/main" id="{A1F961E9-352D-4D64-B317-59B52B132666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79211" y="5245709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IL (dB)</a:t>
                </a:r>
              </a:p>
            </p:txBody>
          </p:sp>
          <p:sp>
            <p:nvSpPr>
              <p:cNvPr id="63" name="Text Box 2">
                <a:extLst>
                  <a:ext uri="{FF2B5EF4-FFF2-40B4-BE49-F238E27FC236}">
                    <a16:creationId xmlns:a16="http://schemas.microsoft.com/office/drawing/2014/main" id="{D7C3BD7F-9EB1-37C8-F50D-78A3E5ABCE5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 rot="16200000">
                <a:off x="4897455" y="1116832"/>
                <a:ext cx="1703749" cy="2325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ctr"/>
                <a:r>
                  <a:rPr lang="en-GB" sz="11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Transmittance</a:t>
                </a:r>
              </a:p>
            </p:txBody>
          </p:sp>
          <p:sp>
            <p:nvSpPr>
              <p:cNvPr id="66" name="Text Box 2">
                <a:extLst>
                  <a:ext uri="{FF2B5EF4-FFF2-40B4-BE49-F238E27FC236}">
                    <a16:creationId xmlns:a16="http://schemas.microsoft.com/office/drawing/2014/main" id="{78FB7405-0026-F4AC-A042-E9AF5ED1D2B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333174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(b)</a:t>
                </a:r>
              </a:p>
            </p:txBody>
          </p:sp>
          <p:sp>
            <p:nvSpPr>
              <p:cNvPr id="114" name="Text Box 2">
                <a:extLst>
                  <a:ext uri="{FF2B5EF4-FFF2-40B4-BE49-F238E27FC236}">
                    <a16:creationId xmlns:a16="http://schemas.microsoft.com/office/drawing/2014/main" id="{00DEFCA7-B487-367B-A0DE-5CE9222A062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43742" y="2411450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(c)</a:t>
                </a:r>
              </a:p>
            </p:txBody>
          </p:sp>
          <p:sp>
            <p:nvSpPr>
              <p:cNvPr id="116" name="Text Box 2">
                <a:extLst>
                  <a:ext uri="{FF2B5EF4-FFF2-40B4-BE49-F238E27FC236}">
                    <a16:creationId xmlns:a16="http://schemas.microsoft.com/office/drawing/2014/main" id="{5E2A3004-D094-FC17-B539-602F8ED850F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8911" y="2409058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(d)</a:t>
                </a:r>
              </a:p>
            </p:txBody>
          </p:sp>
          <p:sp>
            <p:nvSpPr>
              <p:cNvPr id="117" name="Text Box 2">
                <a:extLst>
                  <a:ext uri="{FF2B5EF4-FFF2-40B4-BE49-F238E27FC236}">
                    <a16:creationId xmlns:a16="http://schemas.microsoft.com/office/drawing/2014/main" id="{50218870-2094-A98E-733B-EF59816B58B8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035436" y="4488037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(e)</a:t>
                </a:r>
              </a:p>
            </p:txBody>
          </p:sp>
          <p:sp>
            <p:nvSpPr>
              <p:cNvPr id="119" name="Text Box 2">
                <a:extLst>
                  <a:ext uri="{FF2B5EF4-FFF2-40B4-BE49-F238E27FC236}">
                    <a16:creationId xmlns:a16="http://schemas.microsoft.com/office/drawing/2014/main" id="{F3BC6548-65E4-9E38-4302-C416CA37B68F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910605" y="4485645"/>
                <a:ext cx="573435" cy="25010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spAutoFit/>
              </a:bodyPr>
              <a:lstStyle/>
              <a:p>
                <a:pPr algn="just"/>
                <a:r>
                  <a:rPr lang="en-GB" sz="1200" dirty="0">
                    <a:latin typeface="Arial" panose="020B0604020202020204" pitchFamily="34" charset="0"/>
                    <a:ea typeface="TH Sarabun PSK"/>
                    <a:cs typeface="TH Sarabun PSK"/>
                  </a:rPr>
                  <a:t>(f)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159915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B7E11F2-F6F8-EC33-1463-A6570F3E136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38" t="10142" r="8060" b="2402"/>
          <a:stretch>
            <a:fillRect/>
          </a:stretch>
        </p:blipFill>
        <p:spPr>
          <a:xfrm>
            <a:off x="2592244" y="1410917"/>
            <a:ext cx="6336000" cy="36583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7793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6D7C3D3F-355D-8F06-AD0A-752E8562CEF6}"/>
              </a:ext>
            </a:extLst>
          </p:cNvPr>
          <p:cNvGrpSpPr>
            <a:grpSpLocks noChangeAspect="1"/>
          </p:cNvGrpSpPr>
          <p:nvPr/>
        </p:nvGrpSpPr>
        <p:grpSpPr>
          <a:xfrm>
            <a:off x="0" y="350597"/>
            <a:ext cx="11520488" cy="5967826"/>
            <a:chOff x="0" y="350597"/>
            <a:chExt cx="11520488" cy="5967826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F012783E-2DD0-AB4D-183E-567015E7944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0" y="350597"/>
              <a:ext cx="5760157" cy="596782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FB1A7895-8690-896A-94DB-8F1C0383959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788" r="4754" b="2496"/>
            <a:stretch>
              <a:fillRect/>
            </a:stretch>
          </p:blipFill>
          <p:spPr>
            <a:xfrm>
              <a:off x="5760332" y="350598"/>
              <a:ext cx="5760156" cy="5967825"/>
            </a:xfrm>
            <a:prstGeom prst="rect">
              <a:avLst/>
            </a:prstGeom>
          </p:spPr>
        </p:pic>
        <p:sp>
          <p:nvSpPr>
            <p:cNvPr id="6" name="Text Box 2">
              <a:extLst>
                <a:ext uri="{FF2B5EF4-FFF2-40B4-BE49-F238E27FC236}">
                  <a16:creationId xmlns:a16="http://schemas.microsoft.com/office/drawing/2014/main" id="{232E6D09-CCE3-547C-6D21-C1F79E10BB2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55428" y="507134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7" name="Text Box 2">
              <a:extLst>
                <a:ext uri="{FF2B5EF4-FFF2-40B4-BE49-F238E27FC236}">
                  <a16:creationId xmlns:a16="http://schemas.microsoft.com/office/drawing/2014/main" id="{3D24B2A9-4A32-BDD4-D30D-A59B67EF8A31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515584" y="507134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613655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10">
            <a:extLst>
              <a:ext uri="{FF2B5EF4-FFF2-40B4-BE49-F238E27FC236}">
                <a16:creationId xmlns:a16="http://schemas.microsoft.com/office/drawing/2014/main" id="{789F9198-E4E4-F2C0-5E26-BF8FE82FB924}"/>
              </a:ext>
            </a:extLst>
          </p:cNvPr>
          <p:cNvGrpSpPr/>
          <p:nvPr/>
        </p:nvGrpSpPr>
        <p:grpSpPr>
          <a:xfrm>
            <a:off x="0" y="477795"/>
            <a:ext cx="11520400" cy="5873578"/>
            <a:chOff x="0" y="477795"/>
            <a:chExt cx="11520400" cy="5873578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34485ED-4F31-62DF-1F19-734EC9DA6CE7}"/>
                </a:ext>
              </a:extLst>
            </p:cNvPr>
            <p:cNvGrpSpPr/>
            <p:nvPr/>
          </p:nvGrpSpPr>
          <p:grpSpPr>
            <a:xfrm>
              <a:off x="0" y="477795"/>
              <a:ext cx="11520400" cy="5873578"/>
              <a:chOff x="0" y="477795"/>
              <a:chExt cx="11520400" cy="5873578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72867825-1437-0F2A-1EBF-3ADEAE478A8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373" b="1987"/>
              <a:stretch>
                <a:fillRect/>
              </a:stretch>
            </p:blipFill>
            <p:spPr>
              <a:xfrm>
                <a:off x="0" y="477795"/>
                <a:ext cx="5760156" cy="5873578"/>
              </a:xfrm>
              <a:prstGeom prst="rect">
                <a:avLst/>
              </a:prstGeom>
            </p:spPr>
          </p:pic>
          <p:pic>
            <p:nvPicPr>
              <p:cNvPr id="3" name="Picture 2">
                <a:extLst>
                  <a:ext uri="{FF2B5EF4-FFF2-40B4-BE49-F238E27FC236}">
                    <a16:creationId xmlns:a16="http://schemas.microsoft.com/office/drawing/2014/main" id="{261A9501-37F9-C70E-9BBA-CC889818909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373" b="1987"/>
              <a:stretch>
                <a:fillRect/>
              </a:stretch>
            </p:blipFill>
            <p:spPr>
              <a:xfrm>
                <a:off x="5760244" y="477795"/>
                <a:ext cx="5760156" cy="5873578"/>
              </a:xfrm>
              <a:prstGeom prst="rect">
                <a:avLst/>
              </a:prstGeom>
            </p:spPr>
          </p:pic>
        </p:grpSp>
        <p:sp>
          <p:nvSpPr>
            <p:cNvPr id="8" name="Text Box 2">
              <a:extLst>
                <a:ext uri="{FF2B5EF4-FFF2-40B4-BE49-F238E27FC236}">
                  <a16:creationId xmlns:a16="http://schemas.microsoft.com/office/drawing/2014/main" id="{70149702-97ED-E98E-14EE-DFD5B12AEF0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2476" y="770745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(a)</a:t>
              </a:r>
            </a:p>
          </p:txBody>
        </p:sp>
        <p:sp>
          <p:nvSpPr>
            <p:cNvPr id="10" name="Text Box 2">
              <a:extLst>
                <a:ext uri="{FF2B5EF4-FFF2-40B4-BE49-F238E27FC236}">
                  <a16:creationId xmlns:a16="http://schemas.microsoft.com/office/drawing/2014/main" id="{65010F39-637B-260B-C87B-B62431759EB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6482632" y="770745"/>
              <a:ext cx="579100" cy="373213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spAutoFit/>
            </a:bodyPr>
            <a:lstStyle/>
            <a:p>
              <a:pPr algn="just"/>
              <a:r>
                <a:rPr lang="en-GB" sz="2000" dirty="0">
                  <a:latin typeface="Arial" panose="020B0604020202020204" pitchFamily="34" charset="0"/>
                  <a:ea typeface="TH Sarabun PSK"/>
                  <a:cs typeface="TH Sarabun PSK"/>
                </a:rPr>
                <a:t>(b)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919309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FB42C72-C724-387C-7232-EDC5BC6BFD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27" t="6737" r="6827" b="2242"/>
          <a:stretch>
            <a:fillRect/>
          </a:stretch>
        </p:blipFill>
        <p:spPr>
          <a:xfrm>
            <a:off x="295918" y="0"/>
            <a:ext cx="10928651" cy="6480175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4A7CCB5-C84D-A601-450B-F12993D6396C}"/>
              </a:ext>
            </a:extLst>
          </p:cNvPr>
          <p:cNvCxnSpPr>
            <a:cxnSpLocks/>
          </p:cNvCxnSpPr>
          <p:nvPr/>
        </p:nvCxnSpPr>
        <p:spPr>
          <a:xfrm>
            <a:off x="5107459" y="2339550"/>
            <a:ext cx="2479590" cy="0"/>
          </a:xfrm>
          <a:prstGeom prst="straightConnector1">
            <a:avLst/>
          </a:prstGeom>
          <a:ln w="38100"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BE7C5D5-DCB4-D26A-F237-80C8449E3B05}"/>
              </a:ext>
            </a:extLst>
          </p:cNvPr>
          <p:cNvSpPr txBox="1"/>
          <p:nvPr/>
        </p:nvSpPr>
        <p:spPr>
          <a:xfrm>
            <a:off x="5172161" y="1961980"/>
            <a:ext cx="2300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High reflection region</a:t>
            </a:r>
            <a:endParaRPr lang="en-GB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8888CE41-AA6E-7058-05B4-F2116C543D0A}"/>
              </a:ext>
            </a:extLst>
          </p:cNvPr>
          <p:cNvCxnSpPr>
            <a:cxnSpLocks/>
          </p:cNvCxnSpPr>
          <p:nvPr/>
        </p:nvCxnSpPr>
        <p:spPr>
          <a:xfrm>
            <a:off x="7681783" y="5840863"/>
            <a:ext cx="3101547" cy="0"/>
          </a:xfrm>
          <a:prstGeom prst="straightConnector1">
            <a:avLst/>
          </a:prstGeom>
          <a:ln w="38100">
            <a:solidFill>
              <a:srgbClr val="77037A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6E1CF54C-DE11-1E8D-A31E-BBF0A46D2D53}"/>
              </a:ext>
            </a:extLst>
          </p:cNvPr>
          <p:cNvCxnSpPr>
            <a:cxnSpLocks/>
          </p:cNvCxnSpPr>
          <p:nvPr/>
        </p:nvCxnSpPr>
        <p:spPr>
          <a:xfrm>
            <a:off x="1029730" y="5845279"/>
            <a:ext cx="4011825" cy="0"/>
          </a:xfrm>
          <a:prstGeom prst="straightConnector1">
            <a:avLst/>
          </a:prstGeom>
          <a:ln w="38100">
            <a:solidFill>
              <a:srgbClr val="00FBFB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070E0D36-057B-2719-14B1-A6C7697893BF}"/>
              </a:ext>
            </a:extLst>
          </p:cNvPr>
          <p:cNvSpPr txBox="1"/>
          <p:nvPr/>
        </p:nvSpPr>
        <p:spPr>
          <a:xfrm>
            <a:off x="3267725" y="5535756"/>
            <a:ext cx="183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00FBFB"/>
                </a:solidFill>
              </a:rPr>
              <a:t>Stable AR-region</a:t>
            </a:r>
            <a:endParaRPr lang="en-GB" dirty="0">
              <a:solidFill>
                <a:srgbClr val="00FBFB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3DB8F35-CE45-505E-96D4-48AAC57ACD2C}"/>
              </a:ext>
            </a:extLst>
          </p:cNvPr>
          <p:cNvSpPr txBox="1"/>
          <p:nvPr/>
        </p:nvSpPr>
        <p:spPr>
          <a:xfrm>
            <a:off x="8079266" y="5535756"/>
            <a:ext cx="18397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77037A"/>
                </a:solidFill>
              </a:rPr>
              <a:t>Stable AR-region</a:t>
            </a:r>
            <a:endParaRPr lang="en-GB" dirty="0">
              <a:solidFill>
                <a:srgbClr val="77037A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537405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14543072-3757-233B-84BE-B32C2482F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2" t="6666" b="2516"/>
          <a:stretch>
            <a:fillRect/>
          </a:stretch>
        </p:blipFill>
        <p:spPr>
          <a:xfrm>
            <a:off x="1789275" y="808241"/>
            <a:ext cx="4105465" cy="48619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CEFE170-57FA-DADE-C41D-0522204CB9C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666" r="4529" b="2516"/>
          <a:stretch>
            <a:fillRect/>
          </a:stretch>
        </p:blipFill>
        <p:spPr>
          <a:xfrm>
            <a:off x="5497373" y="812525"/>
            <a:ext cx="3971772" cy="4857629"/>
          </a:xfrm>
          <a:prstGeom prst="rect">
            <a:avLst/>
          </a:prstGeom>
        </p:spPr>
      </p:pic>
      <p:sp>
        <p:nvSpPr>
          <p:cNvPr id="13" name="Text Box 2">
            <a:extLst>
              <a:ext uri="{FF2B5EF4-FFF2-40B4-BE49-F238E27FC236}">
                <a16:creationId xmlns:a16="http://schemas.microsoft.com/office/drawing/2014/main" id="{CB3E3DF2-12B4-3697-D3AC-8E30BBCCCF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26343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5" name="Text Box 2">
            <a:extLst>
              <a:ext uri="{FF2B5EF4-FFF2-40B4-BE49-F238E27FC236}">
                <a16:creationId xmlns:a16="http://schemas.microsoft.com/office/drawing/2014/main" id="{CF2AFB40-0253-886C-03D1-C9E3B1D444E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022484" y="1109960"/>
            <a:ext cx="384473" cy="2399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1134" dirty="0">
                <a:latin typeface="Arial" panose="020B0604020202020204" pitchFamily="34" charset="0"/>
                <a:ea typeface="Tahoma" panose="020B0604030504040204" pitchFamily="34" charset="0"/>
                <a:cs typeface="Arial" panose="020B0604020202020204" pitchFamily="34" charset="0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57936515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CA97C23-393C-ED27-FE0F-ECAF5A02B3A7}"/>
              </a:ext>
            </a:extLst>
          </p:cNvPr>
          <p:cNvGrpSpPr>
            <a:grpSpLocks noChangeAspect="1"/>
          </p:cNvGrpSpPr>
          <p:nvPr/>
        </p:nvGrpSpPr>
        <p:grpSpPr>
          <a:xfrm>
            <a:off x="3247154" y="2334439"/>
            <a:ext cx="5026185" cy="1749156"/>
            <a:chOff x="0" y="0"/>
            <a:chExt cx="5276215" cy="1892300"/>
          </a:xfrm>
        </p:grpSpPr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9B1974AE-5221-AF23-B014-D6A57EE34ED6}"/>
                </a:ext>
              </a:extLst>
            </p:cNvPr>
            <p:cNvGrpSpPr/>
            <p:nvPr/>
          </p:nvGrpSpPr>
          <p:grpSpPr>
            <a:xfrm>
              <a:off x="0" y="0"/>
              <a:ext cx="5276215" cy="1892300"/>
              <a:chOff x="0" y="0"/>
              <a:chExt cx="5335797" cy="1913890"/>
            </a:xfrm>
          </p:grpSpPr>
          <p:pic>
            <p:nvPicPr>
              <p:cNvPr id="11" name="Picture 10" descr="A graph with a blue line&#10;&#10;Description automatically generated">
                <a:extLst>
                  <a:ext uri="{FF2B5EF4-FFF2-40B4-BE49-F238E27FC236}">
                    <a16:creationId xmlns:a16="http://schemas.microsoft.com/office/drawing/2014/main" id="{36FFE555-41B6-DF2D-46C4-686DCA25C7D4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2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4500"/>
              <a:stretch/>
            </p:blipFill>
            <p:spPr bwMode="auto">
              <a:xfrm>
                <a:off x="0" y="8626"/>
                <a:ext cx="2609850" cy="1898015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  <p:pic>
            <p:nvPicPr>
              <p:cNvPr id="12" name="Picture 11" descr="A graph with a curved line&#10;&#10;Description automatically generated">
                <a:extLst>
                  <a:ext uri="{FF2B5EF4-FFF2-40B4-BE49-F238E27FC236}">
                    <a16:creationId xmlns:a16="http://schemas.microsoft.com/office/drawing/2014/main" id="{49788106-C9A1-1EDE-E443-0C438C42BFC1}"/>
                  </a:ext>
                </a:extLst>
              </p:cNvPr>
              <p:cNvPicPr>
                <a:picLocks noChangeAspect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t="7424" r="5325"/>
              <a:stretch/>
            </p:blipFill>
            <p:spPr bwMode="auto">
              <a:xfrm>
                <a:off x="2725947" y="0"/>
                <a:ext cx="2609850" cy="1913890"/>
              </a:xfrm>
              <a:prstGeom prst="rect">
                <a:avLst/>
              </a:prstGeom>
              <a:ln>
                <a:noFill/>
              </a:ln>
              <a:extLst>
                <a:ext uri="{53640926-AAD7-44D8-BBD7-CCE9431645EC}">
                  <a14:shadowObscured xmlns:a14="http://schemas.microsoft.com/office/drawing/2010/main"/>
                </a:ext>
              </a:extLst>
            </p:spPr>
          </p:pic>
        </p:grpSp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EF7888A4-5193-05FE-6035-C86F786A1E88}"/>
                </a:ext>
              </a:extLst>
            </p:cNvPr>
            <p:cNvCxnSpPr/>
            <p:nvPr/>
          </p:nvCxnSpPr>
          <p:spPr>
            <a:xfrm>
              <a:off x="2250057" y="640151"/>
              <a:ext cx="0" cy="6286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8FDB12C-F998-C65E-2B99-A8CB85191B46}"/>
                </a:ext>
              </a:extLst>
            </p:cNvPr>
            <p:cNvCxnSpPr/>
            <p:nvPr/>
          </p:nvCxnSpPr>
          <p:spPr>
            <a:xfrm>
              <a:off x="4967377" y="640151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7C77A9CB-BECD-5A96-C102-99D2F2D46DF5}"/>
                </a:ext>
              </a:extLst>
            </p:cNvPr>
            <p:cNvCxnSpPr/>
            <p:nvPr/>
          </p:nvCxnSpPr>
          <p:spPr>
            <a:xfrm flipV="1">
              <a:off x="3224842" y="676454"/>
              <a:ext cx="0" cy="62923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</p:grpSp>
      <p:sp>
        <p:nvSpPr>
          <p:cNvPr id="13" name="Text Box 2">
            <a:extLst>
              <a:ext uri="{FF2B5EF4-FFF2-40B4-BE49-F238E27FC236}">
                <a16:creationId xmlns:a16="http://schemas.microsoft.com/office/drawing/2014/main" id="{AEB96D17-0AC3-16C2-363E-8AB38E9C366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82853" y="2444797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14" name="Text Box 2">
            <a:extLst>
              <a:ext uri="{FF2B5EF4-FFF2-40B4-BE49-F238E27FC236}">
                <a16:creationId xmlns:a16="http://schemas.microsoft.com/office/drawing/2014/main" id="{FCBBE230-C788-549E-373E-7511200C9D1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65861" y="2431709"/>
            <a:ext cx="292958" cy="185470"/>
          </a:xfrm>
          <a:prstGeom prst="rect">
            <a:avLst/>
          </a:prstGeom>
          <a:solidFill>
            <a:srgbClr val="FFFFFF"/>
          </a:solidFill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  <p:sp>
        <p:nvSpPr>
          <p:cNvPr id="16" name="Text Box 2">
            <a:extLst>
              <a:ext uri="{FF2B5EF4-FFF2-40B4-BE49-F238E27FC236}">
                <a16:creationId xmlns:a16="http://schemas.microsoft.com/office/drawing/2014/main" id="{81A7B36C-D5AD-2A5A-2293-0E579DD1D53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140662" y="2780896"/>
            <a:ext cx="636317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r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=n</a:t>
            </a:r>
            <a:r>
              <a:rPr lang="en-GB" sz="780" baseline="-2500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a</a:t>
            </a:r>
            <a:r>
              <a:rPr lang="en-GB" sz="780" dirty="0">
                <a:solidFill>
                  <a:srgbClr val="196B24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=1.0</a:t>
            </a:r>
          </a:p>
        </p:txBody>
      </p:sp>
      <p:sp>
        <p:nvSpPr>
          <p:cNvPr id="17" name="Text Box 2">
            <a:extLst>
              <a:ext uri="{FF2B5EF4-FFF2-40B4-BE49-F238E27FC236}">
                <a16:creationId xmlns:a16="http://schemas.microsoft.com/office/drawing/2014/main" id="{333B60FF-DBC5-34C3-F44B-354F029BE0E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428359" y="2951178"/>
            <a:ext cx="461713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n</a:t>
            </a:r>
            <a:r>
              <a:rPr lang="en-GB" sz="780" baseline="-2500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s</a:t>
            </a:r>
            <a:r>
              <a:rPr lang="en-GB" sz="780" dirty="0">
                <a:solidFill>
                  <a:srgbClr val="1515FF"/>
                </a:solidFill>
                <a:latin typeface="Arial" panose="020B0604020202020204" pitchFamily="34" charset="0"/>
                <a:ea typeface="TH Sarabun PSK"/>
                <a:cs typeface="TH Sarabun PSK"/>
              </a:rPr>
              <a:t>=1.5</a:t>
            </a:r>
          </a:p>
        </p:txBody>
      </p:sp>
    </p:spTree>
    <p:extLst>
      <p:ext uri="{BB962C8B-B14F-4D97-AF65-F5344CB8AC3E}">
        <p14:creationId xmlns:p14="http://schemas.microsoft.com/office/powerpoint/2010/main" val="34040992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graph&#10;&#10;Description automatically generated">
            <a:extLst>
              <a:ext uri="{FF2B5EF4-FFF2-40B4-BE49-F238E27FC236}">
                <a16:creationId xmlns:a16="http://schemas.microsoft.com/office/drawing/2014/main" id="{972D6D58-2774-2DF0-7C4C-E4BCF614144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690" r="7099"/>
          <a:stretch/>
        </p:blipFill>
        <p:spPr bwMode="auto">
          <a:xfrm>
            <a:off x="4171368" y="1908531"/>
            <a:ext cx="2905256" cy="1862413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</p:spTree>
    <p:extLst>
      <p:ext uri="{BB962C8B-B14F-4D97-AF65-F5344CB8AC3E}">
        <p14:creationId xmlns:p14="http://schemas.microsoft.com/office/powerpoint/2010/main" val="38351155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0D8ACBB4-61B2-962A-7526-43176ABF5743}"/>
              </a:ext>
            </a:extLst>
          </p:cNvPr>
          <p:cNvGrpSpPr/>
          <p:nvPr/>
        </p:nvGrpSpPr>
        <p:grpSpPr>
          <a:xfrm>
            <a:off x="3473382" y="1673716"/>
            <a:ext cx="5119440" cy="1913715"/>
            <a:chOff x="4507370" y="411014"/>
            <a:chExt cx="7223905" cy="2700391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0DB89C2E-D261-4FBD-7B0E-36D1FF73EC75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6013"/>
            <a:stretch/>
          </p:blipFill>
          <p:spPr bwMode="auto">
            <a:xfrm>
              <a:off x="4507370" y="411014"/>
              <a:ext cx="3602933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pic>
          <p:nvPicPr>
            <p:cNvPr id="22" name="Picture 21" descr="A graph with red and green arrows&#10;&#10;Description automatically generated">
              <a:extLst>
                <a:ext uri="{FF2B5EF4-FFF2-40B4-BE49-F238E27FC236}">
                  <a16:creationId xmlns:a16="http://schemas.microsoft.com/office/drawing/2014/main" id="{88EA67B4-BCCD-14A3-9822-8E96E32AD56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053" r="5552"/>
            <a:stretch/>
          </p:blipFill>
          <p:spPr bwMode="auto">
            <a:xfrm>
              <a:off x="8110303" y="411014"/>
              <a:ext cx="3620972" cy="2700391"/>
            </a:xfrm>
            <a:prstGeom prst="rect">
              <a:avLst/>
            </a:prstGeom>
            <a:ln>
              <a:noFill/>
            </a:ln>
            <a:extLst>
              <a:ext uri="{53640926-AAD7-44D8-BBD7-CCE9431645EC}">
                <a14:shadowObscured xmlns:a14="http://schemas.microsoft.com/office/drawing/2010/main"/>
              </a:ext>
            </a:extLst>
          </p:spPr>
        </p:pic>
        <p:sp>
          <p:nvSpPr>
            <p:cNvPr id="18" name="Text Box 2">
              <a:extLst>
                <a:ext uri="{FF2B5EF4-FFF2-40B4-BE49-F238E27FC236}">
                  <a16:creationId xmlns:a16="http://schemas.microsoft.com/office/drawing/2014/main" id="{648CED21-64BB-F935-25F9-728CB216A88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914193" y="1364565"/>
              <a:ext cx="1267532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</a:t>
              </a:r>
              <a:r>
                <a:rPr lang="ar-SA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 </a:t>
              </a:r>
              <a:r>
                <a:rPr lang="en-GB" sz="780" dirty="0">
                  <a:solidFill>
                    <a:srgbClr val="12512A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1.18 QWOT</a:t>
              </a:r>
            </a:p>
          </p:txBody>
        </p:sp>
        <p:sp>
          <p:nvSpPr>
            <p:cNvPr id="19" name="Text Box 2">
              <a:extLst>
                <a:ext uri="{FF2B5EF4-FFF2-40B4-BE49-F238E27FC236}">
                  <a16:creationId xmlns:a16="http://schemas.microsoft.com/office/drawing/2014/main" id="{98398C8C-7CF4-7DF6-C758-242A61F2ADC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9877425" y="2077724"/>
              <a:ext cx="1277043" cy="31250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64802" tIns="32402" rIns="64802" bIns="32402" anchor="t" anchorCtr="0">
              <a:noAutofit/>
            </a:bodyPr>
            <a:lstStyle/>
            <a:p>
              <a:pPr algn="ctr"/>
              <a:r>
                <a:rPr lang="en-GB" sz="780" dirty="0">
                  <a:solidFill>
                    <a:srgbClr val="86313B"/>
                  </a:solidFill>
                  <a:latin typeface="Arial" panose="020B0604020202020204" pitchFamily="34" charset="0"/>
                  <a:ea typeface="Times New Roman" panose="02020603050405020304" pitchFamily="18" charset="0"/>
                  <a:cs typeface="Arial" panose="020B0604020202020204" pitchFamily="34" charset="0"/>
                </a:rPr>
                <a:t>θ = 1.47 QWOT</a:t>
              </a:r>
            </a:p>
          </p:txBody>
        </p:sp>
      </p:grpSp>
      <p:sp>
        <p:nvSpPr>
          <p:cNvPr id="5" name="Text Box 2">
            <a:extLst>
              <a:ext uri="{FF2B5EF4-FFF2-40B4-BE49-F238E27FC236}">
                <a16:creationId xmlns:a16="http://schemas.microsoft.com/office/drawing/2014/main" id="{AF027207-819D-A914-A6E7-739BC7C6FB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50048" y="1847235"/>
            <a:ext cx="90501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86313B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 0.53 QWOT</a:t>
            </a:r>
          </a:p>
        </p:txBody>
      </p:sp>
      <p:sp>
        <p:nvSpPr>
          <p:cNvPr id="6" name="Text Box 2">
            <a:extLst>
              <a:ext uri="{FF2B5EF4-FFF2-40B4-BE49-F238E27FC236}">
                <a16:creationId xmlns:a16="http://schemas.microsoft.com/office/drawing/2014/main" id="{2C4F75EB-F234-5CBF-0BBC-A13E8865A8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25144" y="2349479"/>
            <a:ext cx="898276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θ =</a:t>
            </a:r>
            <a:r>
              <a:rPr lang="ar-SA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n-GB" sz="780" dirty="0">
                <a:solidFill>
                  <a:srgbClr val="12512A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0.82 QWOT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F3801EE3-1CAB-EA23-DEE4-9A03017748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18757" y="174103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8" name="Text Box 2">
            <a:extLst>
              <a:ext uri="{FF2B5EF4-FFF2-40B4-BE49-F238E27FC236}">
                <a16:creationId xmlns:a16="http://schemas.microsoft.com/office/drawing/2014/main" id="{6AA382DE-E6E6-82B8-E565-399AF630E87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371738" y="1737665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61931079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E2ADBCA-D6A6-9910-70D4-17FFA99EF7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532" r="1532"/>
          <a:stretch/>
        </p:blipFill>
        <p:spPr bwMode="auto">
          <a:xfrm>
            <a:off x="3445606" y="2653495"/>
            <a:ext cx="2473450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B0EBC14-0BB4-6E8C-6D00-93F2177952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17" r="2117"/>
          <a:stretch/>
        </p:blipFill>
        <p:spPr bwMode="auto">
          <a:xfrm>
            <a:off x="5809969" y="2653495"/>
            <a:ext cx="2443358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6" name="Text Box 2">
            <a:extLst>
              <a:ext uri="{FF2B5EF4-FFF2-40B4-BE49-F238E27FC236}">
                <a16:creationId xmlns:a16="http://schemas.microsoft.com/office/drawing/2014/main" id="{40D0B4EA-A818-9516-959C-15117063DA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70842" y="2853464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7" name="Text Box 2">
            <a:extLst>
              <a:ext uri="{FF2B5EF4-FFF2-40B4-BE49-F238E27FC236}">
                <a16:creationId xmlns:a16="http://schemas.microsoft.com/office/drawing/2014/main" id="{B09B790E-0D83-AF87-B9EA-AC895D36F18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835206" y="2854358"/>
            <a:ext cx="292958" cy="18547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just"/>
            <a:r>
              <a:rPr lang="en-GB" sz="780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174956222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53DF7E74-E12F-4C21-2D04-5494F0B17351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029" r="5325"/>
          <a:stretch/>
        </p:blipFill>
        <p:spPr bwMode="auto">
          <a:xfrm>
            <a:off x="4924573" y="1870024"/>
            <a:ext cx="2542523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E9521E1-27DC-81BE-6008-49DB65147BC5}"/>
              </a:ext>
            </a:extLst>
          </p:cNvPr>
          <p:cNvSpPr/>
          <p:nvPr/>
        </p:nvSpPr>
        <p:spPr>
          <a:xfrm>
            <a:off x="5657643" y="1870025"/>
            <a:ext cx="1269035" cy="128030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501"/>
          </a:p>
        </p:txBody>
      </p:sp>
    </p:spTree>
    <p:extLst>
      <p:ext uri="{BB962C8B-B14F-4D97-AF65-F5344CB8AC3E}">
        <p14:creationId xmlns:p14="http://schemas.microsoft.com/office/powerpoint/2010/main" val="37716764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aph of a graph with lines and dots&#10;&#10;AI-generated content may be incorrect.">
            <a:extLst>
              <a:ext uri="{FF2B5EF4-FFF2-40B4-BE49-F238E27FC236}">
                <a16:creationId xmlns:a16="http://schemas.microsoft.com/office/drawing/2014/main" id="{4DCFF097-E25A-9434-D9E5-91C00A53FFE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44" r="7982"/>
          <a:stretch/>
        </p:blipFill>
        <p:spPr bwMode="auto">
          <a:xfrm>
            <a:off x="4950225" y="2615243"/>
            <a:ext cx="2480509" cy="1913438"/>
          </a:xfrm>
          <a:prstGeom prst="rect">
            <a:avLst/>
          </a:prstGeom>
          <a:ln>
            <a:noFill/>
          </a:ln>
          <a:extLst>
            <a:ext uri="{53640926-AAD7-44D8-BBD7-CCE9431645EC}">
              <a14:shadowObscured xmlns:a14="http://schemas.microsoft.com/office/drawing/2010/main"/>
            </a:ext>
          </a:extLst>
        </p:spPr>
      </p:pic>
      <p:sp>
        <p:nvSpPr>
          <p:cNvPr id="3" name="Text Box 2">
            <a:extLst>
              <a:ext uri="{FF2B5EF4-FFF2-40B4-BE49-F238E27FC236}">
                <a16:creationId xmlns:a16="http://schemas.microsoft.com/office/drawing/2014/main" id="{2F5C5EC3-0CCF-B58D-5422-1BFC3BD2749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99239" y="3877271"/>
            <a:ext cx="1058029" cy="22146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noAutofit/>
          </a:bodyPr>
          <a:lstStyle/>
          <a:p>
            <a:pPr algn="ctr"/>
            <a:r>
              <a:rPr lang="en-GB" sz="780" dirty="0"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Compensator layer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75AA919B-DDC1-FED6-A8BC-37A2DDE69700}"/>
              </a:ext>
            </a:extLst>
          </p:cNvPr>
          <p:cNvCxnSpPr>
            <a:cxnSpLocks/>
          </p:cNvCxnSpPr>
          <p:nvPr/>
        </p:nvCxnSpPr>
        <p:spPr>
          <a:xfrm flipH="1" flipV="1">
            <a:off x="5499238" y="3917358"/>
            <a:ext cx="81003" cy="49502"/>
          </a:xfrm>
          <a:prstGeom prst="straightConnector1">
            <a:avLst/>
          </a:prstGeom>
          <a:ln>
            <a:solidFill>
              <a:srgbClr val="BBBB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138972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12354664-4D6D-CF56-363E-216E97D13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161442" y="1266036"/>
            <a:ext cx="3509428" cy="394810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141238A-1BAD-3EAF-5FEA-2315E5C703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670870" y="1266036"/>
            <a:ext cx="3509428" cy="3948105"/>
          </a:xfrm>
          <a:prstGeom prst="rect">
            <a:avLst/>
          </a:prstGeom>
        </p:spPr>
      </p:pic>
      <p:sp>
        <p:nvSpPr>
          <p:cNvPr id="2" name="Text Box 2">
            <a:extLst>
              <a:ext uri="{FF2B5EF4-FFF2-40B4-BE49-F238E27FC236}">
                <a16:creationId xmlns:a16="http://schemas.microsoft.com/office/drawing/2014/main" id="{6AB05161-78B6-0F36-FDCF-34AD20B5670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963426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3" name="Text Box 2">
            <a:extLst>
              <a:ext uri="{FF2B5EF4-FFF2-40B4-BE49-F238E27FC236}">
                <a16:creationId xmlns:a16="http://schemas.microsoft.com/office/drawing/2014/main" id="{42D66ADB-11E7-4E11-124E-0E64D40C54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472853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698321971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79CC76B-1FCF-4E55-8AB9-C5CB0D3E979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6431" y="1266036"/>
            <a:ext cx="3513813" cy="394810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2FB05B-2C12-341A-6065-2B8054A0D6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762438" y="1266036"/>
            <a:ext cx="3509428" cy="3948105"/>
          </a:xfrm>
          <a:prstGeom prst="rect">
            <a:avLst/>
          </a:prstGeom>
        </p:spPr>
      </p:pic>
      <p:sp>
        <p:nvSpPr>
          <p:cNvPr id="8" name="Text Box 2">
            <a:extLst>
              <a:ext uri="{FF2B5EF4-FFF2-40B4-BE49-F238E27FC236}">
                <a16:creationId xmlns:a16="http://schemas.microsoft.com/office/drawing/2014/main" id="{648562E1-ABE5-C0E2-815D-B98765E0800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047948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(a)</a:t>
            </a:r>
          </a:p>
        </p:txBody>
      </p:sp>
      <p:sp>
        <p:nvSpPr>
          <p:cNvPr id="9" name="Text Box 2">
            <a:extLst>
              <a:ext uri="{FF2B5EF4-FFF2-40B4-BE49-F238E27FC236}">
                <a16:creationId xmlns:a16="http://schemas.microsoft.com/office/drawing/2014/main" id="{B734F301-707A-C5FD-6707-3C118FE400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4421" y="1745748"/>
            <a:ext cx="358086" cy="52735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rot="0" vert="horz" wrap="square" lIns="64802" tIns="32402" rIns="64802" bIns="32402" anchor="t" anchorCtr="0">
            <a:spAutoFit/>
          </a:bodyPr>
          <a:lstStyle/>
          <a:p>
            <a:pPr algn="ctr"/>
            <a:r>
              <a:rPr lang="en-GB" sz="1501" b="1" dirty="0">
                <a:latin typeface="Arial" panose="020B0604020202020204" pitchFamily="34" charset="0"/>
                <a:ea typeface="TH Sarabun PSK"/>
                <a:cs typeface="TH Sarabun PSK"/>
              </a:rPr>
              <a:t>(b)</a:t>
            </a:r>
          </a:p>
        </p:txBody>
      </p:sp>
    </p:spTree>
    <p:extLst>
      <p:ext uri="{BB962C8B-B14F-4D97-AF65-F5344CB8AC3E}">
        <p14:creationId xmlns:p14="http://schemas.microsoft.com/office/powerpoint/2010/main" val="2240614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CCF18D20-C83F-4801-5C29-02FDF1BDF7C1}"/>
              </a:ext>
            </a:extLst>
          </p:cNvPr>
          <p:cNvGrpSpPr/>
          <p:nvPr/>
        </p:nvGrpSpPr>
        <p:grpSpPr>
          <a:xfrm>
            <a:off x="3816870" y="2122257"/>
            <a:ext cx="3886754" cy="1198833"/>
            <a:chOff x="0" y="7952"/>
            <a:chExt cx="5762979" cy="1792427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97C559DF-8EB1-3519-7A99-DFC9F64AF8BF}"/>
                </a:ext>
              </a:extLst>
            </p:cNvPr>
            <p:cNvGrpSpPr/>
            <p:nvPr/>
          </p:nvGrpSpPr>
          <p:grpSpPr>
            <a:xfrm>
              <a:off x="0" y="7952"/>
              <a:ext cx="5762979" cy="1792427"/>
              <a:chOff x="0" y="7952"/>
              <a:chExt cx="5762979" cy="1792427"/>
            </a:xfrm>
          </p:grpSpPr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F149770E-4A82-8C47-6743-5D9F07B64CAA}"/>
                  </a:ext>
                </a:extLst>
              </p:cNvPr>
              <p:cNvGrpSpPr/>
              <p:nvPr/>
            </p:nvGrpSpPr>
            <p:grpSpPr>
              <a:xfrm>
                <a:off x="0" y="7952"/>
                <a:ext cx="5762979" cy="1792427"/>
                <a:chOff x="0" y="7952"/>
                <a:chExt cx="5762979" cy="1792427"/>
              </a:xfrm>
            </p:grpSpPr>
            <p:grpSp>
              <p:nvGrpSpPr>
                <p:cNvPr id="8" name="Group 7">
                  <a:extLst>
                    <a:ext uri="{FF2B5EF4-FFF2-40B4-BE49-F238E27FC236}">
                      <a16:creationId xmlns:a16="http://schemas.microsoft.com/office/drawing/2014/main" id="{FF272D9A-AA6C-AC95-2A8A-ABDAEB7D7802}"/>
                    </a:ext>
                  </a:extLst>
                </p:cNvPr>
                <p:cNvGrpSpPr/>
                <p:nvPr/>
              </p:nvGrpSpPr>
              <p:grpSpPr>
                <a:xfrm>
                  <a:off x="0" y="7952"/>
                  <a:ext cx="5762979" cy="1792427"/>
                  <a:chOff x="0" y="211782"/>
                  <a:chExt cx="6797630" cy="2309254"/>
                </a:xfrm>
              </p:grpSpPr>
              <p:pic>
                <p:nvPicPr>
                  <p:cNvPr id="13" name="Picture 12" descr="A graph of a function&#10;&#10;Description automatically generated">
                    <a:extLst>
                      <a:ext uri="{FF2B5EF4-FFF2-40B4-BE49-F238E27FC236}">
                        <a16:creationId xmlns:a16="http://schemas.microsoft.com/office/drawing/2014/main" id="{AC58C6B8-E75D-379D-F763-0DF313246EFA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2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0" r="3"/>
                  <a:stretch/>
                </p:blipFill>
                <p:spPr>
                  <a:xfrm>
                    <a:off x="0" y="211782"/>
                    <a:ext cx="3359668" cy="2307029"/>
                  </a:xfrm>
                  <a:prstGeom prst="rect">
                    <a:avLst/>
                  </a:prstGeom>
                </p:spPr>
              </p:pic>
              <p:pic>
                <p:nvPicPr>
                  <p:cNvPr id="14" name="Picture 13" descr="A green line on a white background&#10;&#10;Description automatically generated">
                    <a:extLst>
                      <a:ext uri="{FF2B5EF4-FFF2-40B4-BE49-F238E27FC236}">
                        <a16:creationId xmlns:a16="http://schemas.microsoft.com/office/drawing/2014/main" id="{30B66BF1-D097-DECC-F1FF-71190AA46E81}"/>
                      </a:ext>
                    </a:extLst>
                  </p:cNvPr>
                  <p:cNvPicPr>
                    <a:picLocks noChangeAspect="1"/>
                  </p:cNvPicPr>
                  <p:nvPr/>
                </p:nvPicPr>
                <p:blipFill rotWithShape="1">
                  <a:blip r:embed="rId3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8442"/>
                  <a:stretch/>
                </p:blipFill>
                <p:spPr bwMode="auto">
                  <a:xfrm>
                    <a:off x="3434317" y="211782"/>
                    <a:ext cx="3363313" cy="2309254"/>
                  </a:xfrm>
                  <a:prstGeom prst="rect">
                    <a:avLst/>
                  </a:prstGeom>
                  <a:ln>
                    <a:noFill/>
                  </a:ln>
                  <a:extLst>
                    <a:ext uri="{53640926-AAD7-44D8-BBD7-CCE9431645EC}">
                      <a14:shadowObscured xmlns:a14="http://schemas.microsoft.com/office/drawing/2010/main"/>
                    </a:ext>
                  </a:extLst>
                </p:spPr>
              </p:pic>
            </p:grpSp>
            <p:sp>
              <p:nvSpPr>
                <p:cNvPr id="9" name="Text Box 2">
                  <a:extLst>
                    <a:ext uri="{FF2B5EF4-FFF2-40B4-BE49-F238E27FC236}">
                      <a16:creationId xmlns:a16="http://schemas.microsoft.com/office/drawing/2014/main" id="{D0ADAEE1-2210-6DFD-455B-ADF0FBC147D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2012610" y="115290"/>
                  <a:ext cx="523898" cy="42036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 </a:t>
                  </a:r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1.5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0" name="Text Box 2">
                  <a:extLst>
                    <a:ext uri="{FF2B5EF4-FFF2-40B4-BE49-F238E27FC236}">
                      <a16:creationId xmlns:a16="http://schemas.microsoft.com/office/drawing/2014/main" id="{D06898F4-2B1D-9A43-7583-83A28CC041CE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4913046" y="55397"/>
                  <a:ext cx="530876" cy="38707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1.5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1" name="Text Box 2">
                  <a:extLst>
                    <a:ext uri="{FF2B5EF4-FFF2-40B4-BE49-F238E27FC236}">
                      <a16:creationId xmlns:a16="http://schemas.microsoft.com/office/drawing/2014/main" id="{FF5C3CEE-482A-BD80-CF39-20EADA25DE1F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563088" y="89978"/>
                  <a:ext cx="679943" cy="34780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ar-SA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0.96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  <p:sp>
              <p:nvSpPr>
                <p:cNvPr id="12" name="Text Box 2">
                  <a:extLst>
                    <a:ext uri="{FF2B5EF4-FFF2-40B4-BE49-F238E27FC236}">
                      <a16:creationId xmlns:a16="http://schemas.microsoft.com/office/drawing/2014/main" id="{1A845EEA-765B-D6AD-5F42-F7DCA40697BA}"/>
                    </a:ext>
                  </a:extLst>
                </p:cNvPr>
                <p:cNvSpPr txBox="1">
                  <a:spLocks noChangeArrowheads="1"/>
                </p:cNvSpPr>
                <p:nvPr/>
              </p:nvSpPr>
              <p:spPr bwMode="auto">
                <a:xfrm>
                  <a:off x="3615048" y="72551"/>
                  <a:ext cx="639862" cy="42037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</p:spPr>
              <p:txBody>
                <a:bodyPr rot="0" vert="horz" wrap="square" lIns="64802" tIns="32402" rIns="64802" bIns="32402" anchor="t" anchorCtr="0">
                  <a:noAutofit/>
                </a:bodyPr>
                <a:lstStyle/>
                <a:p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θ 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= </a:t>
                  </a:r>
                  <a:r>
                    <a:rPr lang="en-US" sz="567" dirty="0">
                      <a:latin typeface="Calibri" panose="020F0502020204030204" pitchFamily="34" charset="0"/>
                      <a:ea typeface="Times New Roman" panose="02020603050405020304" pitchFamily="18" charset="0"/>
                    </a:rPr>
                    <a:t>π</a:t>
                  </a:r>
                  <a:r>
                    <a:rPr lang="en-GB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/2</a:t>
                  </a:r>
                </a:p>
                <a:p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n</a:t>
                  </a:r>
                  <a:r>
                    <a:rPr lang="en-US" sz="567" baseline="-25000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r</a:t>
                  </a:r>
                  <a:r>
                    <a:rPr lang="en-US" sz="567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 = 1.00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  <a:p>
                  <a:r>
                    <a:rPr lang="en-US" sz="567" b="1" dirty="0">
                      <a:latin typeface="Times New Roman" panose="02020603050405020304" pitchFamily="18" charset="0"/>
                      <a:ea typeface="Times New Roman" panose="02020603050405020304" pitchFamily="18" charset="0"/>
                    </a:rPr>
                    <a:t> </a:t>
                  </a:r>
                  <a:endParaRPr lang="en-GB" sz="708" dirty="0">
                    <a:latin typeface="Times New Roman" panose="02020603050405020304" pitchFamily="18" charset="0"/>
                    <a:ea typeface="Times New Roman" panose="02020603050405020304" pitchFamily="18" charset="0"/>
                  </a:endParaRPr>
                </a:p>
              </p:txBody>
            </p:sp>
          </p:grpSp>
          <p:sp>
            <p:nvSpPr>
              <p:cNvPr id="7" name="Text Box 2">
                <a:extLst>
                  <a:ext uri="{FF2B5EF4-FFF2-40B4-BE49-F238E27FC236}">
                    <a16:creationId xmlns:a16="http://schemas.microsoft.com/office/drawing/2014/main" id="{EA5E015F-6F0F-4D6F-77EF-1C4357684C4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292371" y="1323877"/>
                <a:ext cx="3962539" cy="35539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</p:spPr>
            <p:txBody>
              <a:bodyPr rot="0" vert="horz" wrap="square" lIns="64802" tIns="32402" rIns="64802" bIns="32402" anchor="t" anchorCtr="0">
                <a:noAutofit/>
              </a:bodyPr>
              <a:lstStyle/>
              <a:p>
                <a:r>
                  <a:rPr lang="en-US" sz="708" b="1" dirty="0">
                    <a:latin typeface="Times New Roman" panose="02020603050405020304" pitchFamily="18" charset="0"/>
                    <a:ea typeface="Times New Roman" panose="02020603050405020304" pitchFamily="18" charset="0"/>
                  </a:rPr>
                  <a:t>(a)			 (b)</a:t>
                </a:r>
                <a:endParaRPr lang="en-GB" sz="708" dirty="0">
                  <a:latin typeface="Times New Roman" panose="02020603050405020304" pitchFamily="18" charset="0"/>
                  <a:ea typeface="Times New Roman" panose="02020603050405020304" pitchFamily="18" charset="0"/>
                </a:endParaRPr>
              </a:p>
            </p:txBody>
          </p:sp>
        </p:grpSp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CB621B26-390A-DCCF-B11F-F19A8B4C4440}"/>
                </a:ext>
              </a:extLst>
            </p:cNvPr>
            <p:cNvCxnSpPr/>
            <p:nvPr/>
          </p:nvCxnSpPr>
          <p:spPr>
            <a:xfrm flipV="1">
              <a:off x="563088" y="121227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B6CA4C0-7DC6-0D13-B039-B3D486CD468B}"/>
                </a:ext>
              </a:extLst>
            </p:cNvPr>
            <p:cNvCxnSpPr/>
            <p:nvPr/>
          </p:nvCxnSpPr>
          <p:spPr>
            <a:xfrm flipV="1">
              <a:off x="3615047" y="115290"/>
              <a:ext cx="0" cy="69215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6"/>
            </a:lnRef>
            <a:fillRef idx="0">
              <a:schemeClr val="accent6"/>
            </a:fillRef>
            <a:effectRef idx="0">
              <a:schemeClr val="accent6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400501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5869</TotalTime>
  <Words>480</Words>
  <Application>Microsoft Office PowerPoint</Application>
  <PresentationFormat>Custom</PresentationFormat>
  <Paragraphs>153</Paragraphs>
  <Slides>25</Slides>
  <Notes>1</Notes>
  <HiddenSlides>12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2" baseType="lpstr">
      <vt:lpstr>Aptos</vt:lpstr>
      <vt:lpstr>Aptos Display</vt:lpstr>
      <vt:lpstr>Arial</vt:lpstr>
      <vt:lpstr>Calibri</vt:lpstr>
      <vt:lpstr>Cambria Math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Chettant Padungatthakij</dc:creator>
  <cp:lastModifiedBy>Chettanat Padungatthakij</cp:lastModifiedBy>
  <cp:revision>50</cp:revision>
  <dcterms:created xsi:type="dcterms:W3CDTF">2026-01-12T00:22:11Z</dcterms:created>
  <dcterms:modified xsi:type="dcterms:W3CDTF">2026-08-06T16:40:04Z</dcterms:modified>
</cp:coreProperties>
</file>