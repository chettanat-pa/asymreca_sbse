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handoutMasterIdLst>
    <p:handoutMasterId r:id="rId26"/>
  </p:handoutMasterIdLst>
  <p:sldIdLst>
    <p:sldId id="298" r:id="rId2"/>
    <p:sldId id="299" r:id="rId3"/>
    <p:sldId id="287" r:id="rId4"/>
    <p:sldId id="300" r:id="rId5"/>
    <p:sldId id="289" r:id="rId6"/>
    <p:sldId id="290" r:id="rId7"/>
    <p:sldId id="293" r:id="rId8"/>
    <p:sldId id="301" r:id="rId9"/>
    <p:sldId id="294" r:id="rId10"/>
    <p:sldId id="284" r:id="rId11"/>
    <p:sldId id="295" r:id="rId12"/>
    <p:sldId id="296" r:id="rId13"/>
    <p:sldId id="297" r:id="rId14"/>
    <p:sldId id="273" r:id="rId15"/>
    <p:sldId id="256" r:id="rId16"/>
    <p:sldId id="257" r:id="rId17"/>
    <p:sldId id="258" r:id="rId18"/>
    <p:sldId id="260" r:id="rId19"/>
    <p:sldId id="261" r:id="rId20"/>
    <p:sldId id="262" r:id="rId21"/>
    <p:sldId id="264" r:id="rId22"/>
    <p:sldId id="265" r:id="rId23"/>
    <p:sldId id="259" r:id="rId24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037A"/>
    <a:srgbClr val="EEE2EF"/>
    <a:srgbClr val="00FBFB"/>
    <a:srgbClr val="FFFFFF"/>
    <a:srgbClr val="F50000"/>
    <a:srgbClr val="0000F7"/>
    <a:srgbClr val="1212FF"/>
    <a:srgbClr val="FFAF24"/>
    <a:srgbClr val="6A6AFF"/>
    <a:srgbClr val="BBB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4044" autoAdjust="0"/>
  </p:normalViewPr>
  <p:slideViewPr>
    <p:cSldViewPr snapToGrid="0">
      <p:cViewPr>
        <p:scale>
          <a:sx n="100" d="100"/>
          <a:sy n="100" d="100"/>
        </p:scale>
        <p:origin x="1026" y="426"/>
      </p:cViewPr>
      <p:guideLst>
        <p:guide orient="horz" pos="2041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63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9345C-020D-ABD5-27C2-44264CAF8B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4975B-624B-BFE2-BEE9-76A217D45D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B2F41-9719-4AEE-BEDF-5036ADBCF7E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FAA64-9A0D-C70F-B287-FC42EC55AB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3FC8A-0031-6229-3DBE-4B54C788E0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036D3-6882-4411-8C69-A7F4647929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5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6ECBE-534E-4AEE-8ADA-897E2D67A90F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90B90-D4C3-44FA-A94E-B53CE27CF9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94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1910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3821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5732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7644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59554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1464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3374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5286" algn="l" defTabSz="863821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90B90-D4C3-44FA-A94E-B53CE27CF91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92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22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4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42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36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44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66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65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05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62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38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190FC-D844-4E0A-A0A2-219D558319DC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39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3.jpg"/><Relationship Id="rId7" Type="http://schemas.openxmlformats.org/officeDocument/2006/relationships/image" Target="../media/image21.jp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E25F28-08A0-0533-3FF0-1425898B28F1}"/>
              </a:ext>
            </a:extLst>
          </p:cNvPr>
          <p:cNvGrpSpPr/>
          <p:nvPr/>
        </p:nvGrpSpPr>
        <p:grpSpPr>
          <a:xfrm>
            <a:off x="4352243" y="72088"/>
            <a:ext cx="3168000" cy="6120000"/>
            <a:chOff x="4352244" y="72088"/>
            <a:chExt cx="2865427" cy="6335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3289A8-A92F-A46F-57BC-26B37AAD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4352244" y="72088"/>
              <a:ext cx="2816000" cy="316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DC6853A-E572-BCDE-3BD4-61FF04378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>
              <a:fillRect/>
            </a:stretch>
          </p:blipFill>
          <p:spPr bwMode="auto">
            <a:xfrm>
              <a:off x="4401671" y="3240087"/>
              <a:ext cx="2816000" cy="316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E0A820-A6E1-904B-6DA6-668B487FED7B}"/>
                </a:ext>
              </a:extLst>
            </p:cNvPr>
            <p:cNvSpPr txBox="1"/>
            <p:nvPr/>
          </p:nvSpPr>
          <p:spPr bwMode="auto">
            <a:xfrm>
              <a:off x="5926004" y="177794"/>
              <a:ext cx="1157311" cy="254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Amorphous Sb</a:t>
              </a:r>
              <a:r>
                <a:rPr lang="en-US" sz="1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1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GB" sz="1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6D5DC3-C4D8-A800-CFE9-B0E050E70319}"/>
                </a:ext>
              </a:extLst>
            </p:cNvPr>
            <p:cNvSpPr txBox="1"/>
            <p:nvPr/>
          </p:nvSpPr>
          <p:spPr bwMode="auto">
            <a:xfrm>
              <a:off x="5987397" y="3346257"/>
              <a:ext cx="1108014" cy="2549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Crystalline Sb</a:t>
              </a:r>
              <a:r>
                <a:rPr lang="en-US" sz="1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1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GB" sz="1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F098F3-51A9-DC5C-A8C1-A13943BF9DD0}"/>
                </a:ext>
              </a:extLst>
            </p:cNvPr>
            <p:cNvSpPr txBox="1"/>
            <p:nvPr/>
          </p:nvSpPr>
          <p:spPr bwMode="auto">
            <a:xfrm>
              <a:off x="4585145" y="901257"/>
              <a:ext cx="918077" cy="223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0000F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Refractive index </a:t>
              </a:r>
              <a:r>
                <a:rPr lang="en-US" sz="800" b="1" i="1" dirty="0">
                  <a:solidFill>
                    <a:srgbClr val="0000F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GB" sz="800" b="1" i="1" dirty="0">
                <a:solidFill>
                  <a:srgbClr val="0000F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918525-0CF3-C175-25DA-D144B70361DE}"/>
                </a:ext>
              </a:extLst>
            </p:cNvPr>
            <p:cNvSpPr txBox="1"/>
            <p:nvPr/>
          </p:nvSpPr>
          <p:spPr bwMode="auto">
            <a:xfrm>
              <a:off x="4691979" y="3568435"/>
              <a:ext cx="2315792" cy="223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F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Refractive index </a:t>
              </a:r>
              <a:r>
                <a:rPr lang="en-US" sz="800" b="1" i="1" dirty="0">
                  <a:solidFill>
                    <a:srgbClr val="0000F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GB" sz="800" b="1" i="1" dirty="0">
                <a:solidFill>
                  <a:srgbClr val="0000F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04B99A-A866-4098-B7D1-0EB0C58A0120}"/>
                </a:ext>
              </a:extLst>
            </p:cNvPr>
            <p:cNvSpPr txBox="1"/>
            <p:nvPr/>
          </p:nvSpPr>
          <p:spPr bwMode="auto">
            <a:xfrm>
              <a:off x="4985855" y="2468862"/>
              <a:ext cx="1096416" cy="223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5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Extinction coefficient </a:t>
              </a:r>
              <a:r>
                <a:rPr lang="en-US" sz="800" b="1" i="1" dirty="0">
                  <a:solidFill>
                    <a:srgbClr val="F5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en-GB" sz="800" b="1" i="1" dirty="0">
                <a:solidFill>
                  <a:srgbClr val="F5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813FEC-3D1D-6F3D-0607-B2237B19EF68}"/>
                </a:ext>
              </a:extLst>
            </p:cNvPr>
            <p:cNvSpPr txBox="1"/>
            <p:nvPr/>
          </p:nvSpPr>
          <p:spPr bwMode="auto">
            <a:xfrm>
              <a:off x="5062443" y="5376600"/>
              <a:ext cx="1096416" cy="223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5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Extinction coefficient </a:t>
              </a:r>
              <a:r>
                <a:rPr lang="en-US" sz="800" b="1" i="1" dirty="0">
                  <a:solidFill>
                    <a:srgbClr val="F5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en-GB" sz="800" b="1" i="1" dirty="0">
                <a:solidFill>
                  <a:srgbClr val="F5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03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041E1-689E-6056-3FF9-7C50E6E18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244" y="650789"/>
            <a:ext cx="6336000" cy="36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7168DC-234E-7740-6BA9-BC8CD64F0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0" t="9788" r="7828" b="2751"/>
          <a:stretch>
            <a:fillRect/>
          </a:stretch>
        </p:blipFill>
        <p:spPr>
          <a:xfrm>
            <a:off x="2592244" y="1410834"/>
            <a:ext cx="6336000" cy="36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30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9AE628-8A3B-49A7-8A3F-6471DB656315}"/>
              </a:ext>
            </a:extLst>
          </p:cNvPr>
          <p:cNvGrpSpPr/>
          <p:nvPr/>
        </p:nvGrpSpPr>
        <p:grpSpPr>
          <a:xfrm>
            <a:off x="4176244" y="-447811"/>
            <a:ext cx="3168000" cy="7162935"/>
            <a:chOff x="4176244" y="-447811"/>
            <a:chExt cx="3168000" cy="716293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285CA7-4AC3-A58C-69AC-E25884367C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76244" y="3144837"/>
              <a:ext cx="3168000" cy="3570287"/>
              <a:chOff x="5760244" y="415666"/>
              <a:chExt cx="5760244" cy="649170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8638B5A-75A1-7531-3D48-1FCED3A17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738" r="4323" b="126"/>
              <a:stretch>
                <a:fillRect/>
              </a:stretch>
            </p:blipFill>
            <p:spPr>
              <a:xfrm>
                <a:off x="5760244" y="415666"/>
                <a:ext cx="5760244" cy="6240583"/>
              </a:xfrm>
              <a:prstGeom prst="rect">
                <a:avLst/>
              </a:prstGeom>
            </p:spPr>
          </p:pic>
          <p:sp>
            <p:nvSpPr>
              <p:cNvPr id="12" name="Text Box 2">
                <a:extLst>
                  <a:ext uri="{FF2B5EF4-FFF2-40B4-BE49-F238E27FC236}">
                    <a16:creationId xmlns:a16="http://schemas.microsoft.com/office/drawing/2014/main" id="{2537214B-EE9F-30E0-CAAC-EB753F9E9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0244" y="6452620"/>
                <a:ext cx="5760244" cy="454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200" dirty="0">
                    <a:latin typeface="Times New Roman" panose="02020603050405020304" pitchFamily="18" charset="0"/>
                    <a:ea typeface="TH Sarabun PSK"/>
                    <a:cs typeface="Times New Roman" panose="02020603050405020304" pitchFamily="18" charset="0"/>
                  </a:rPr>
                  <a:t>(b) Reflectance of different three-layer designs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EE11742-0357-82E8-6919-358F3B516E5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176244" y="-447811"/>
              <a:ext cx="3168000" cy="3486286"/>
              <a:chOff x="0" y="-225380"/>
              <a:chExt cx="5760244" cy="633897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A21D516-35C3-CA97-F398-C2E111304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020" r="4323" b="2847"/>
              <a:stretch>
                <a:fillRect/>
              </a:stretch>
            </p:blipFill>
            <p:spPr>
              <a:xfrm>
                <a:off x="0" y="-225380"/>
                <a:ext cx="5760244" cy="5901539"/>
              </a:xfrm>
              <a:prstGeom prst="rect">
                <a:avLst/>
              </a:prstGeom>
            </p:spPr>
          </p:pic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CBE952BF-9C72-F766-8F80-1ED2C0B7D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658840"/>
                <a:ext cx="5760244" cy="454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200" dirty="0">
                    <a:latin typeface="Times New Roman" panose="02020603050405020304" pitchFamily="18" charset="0"/>
                    <a:ea typeface="TH Sarabun PSK"/>
                    <a:cs typeface="Times New Roman" panose="02020603050405020304" pitchFamily="18" charset="0"/>
                  </a:rPr>
                  <a:t>(a) Reflectance of single and two-layer designs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886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4F0D1DE-F63B-A1F2-E04A-156B9242A536}"/>
              </a:ext>
            </a:extLst>
          </p:cNvPr>
          <p:cNvGrpSpPr/>
          <p:nvPr/>
        </p:nvGrpSpPr>
        <p:grpSpPr>
          <a:xfrm>
            <a:off x="4176244" y="-349401"/>
            <a:ext cx="3168000" cy="7110412"/>
            <a:chOff x="4176244" y="-349401"/>
            <a:chExt cx="3168000" cy="711041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EC9AFE-5407-7513-6622-EF2A950D25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76244" y="3240087"/>
              <a:ext cx="3168000" cy="3520924"/>
              <a:chOff x="5760243" y="340756"/>
              <a:chExt cx="5760243" cy="640195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5948513-0800-0003-5D05-5B703C6BF2D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60243" y="340756"/>
                <a:ext cx="5760243" cy="5999750"/>
                <a:chOff x="5760243" y="340756"/>
                <a:chExt cx="5760243" cy="5999750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E050EA16-7875-6D24-2319-49D8848713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661" r="4754" b="2155"/>
                <a:stretch>
                  <a:fillRect/>
                </a:stretch>
              </p:blipFill>
              <p:spPr>
                <a:xfrm>
                  <a:off x="5760243" y="340756"/>
                  <a:ext cx="5760243" cy="5999750"/>
                </a:xfrm>
                <a:prstGeom prst="rect">
                  <a:avLst/>
                </a:prstGeom>
              </p:spPr>
            </p:pic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2E5DCC5-5DF3-343B-4FDA-4106B1CAAF7C}"/>
                    </a:ext>
                  </a:extLst>
                </p:cNvPr>
                <p:cNvSpPr/>
                <p:nvPr/>
              </p:nvSpPr>
              <p:spPr>
                <a:xfrm>
                  <a:off x="9971775" y="527534"/>
                  <a:ext cx="1194487" cy="13019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3DD7B74C-D017-BEC0-013D-3BA6DD552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9640" t="12946" r="10882" b="68893"/>
                <a:stretch>
                  <a:fillRect/>
                </a:stretch>
              </p:blipFill>
              <p:spPr>
                <a:xfrm>
                  <a:off x="9971773" y="575364"/>
                  <a:ext cx="1178012" cy="1235676"/>
                </a:xfrm>
                <a:prstGeom prst="rect">
                  <a:avLst/>
                </a:prstGeom>
              </p:spPr>
            </p:pic>
          </p:grpSp>
          <p:sp>
            <p:nvSpPr>
              <p:cNvPr id="12" name="Text Box 2">
                <a:extLst>
                  <a:ext uri="{FF2B5EF4-FFF2-40B4-BE49-F238E27FC236}">
                    <a16:creationId xmlns:a16="http://schemas.microsoft.com/office/drawing/2014/main" id="{445EA54B-734C-B654-26A7-41C0893D4F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5790" y="6287954"/>
                <a:ext cx="2949146" cy="454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200" dirty="0">
                    <a:latin typeface="Times New Roman" panose="02020603050405020304" pitchFamily="18" charset="0"/>
                    <a:ea typeface="TH Sarabun PSK"/>
                    <a:cs typeface="Times New Roman" panose="02020603050405020304" pitchFamily="18" charset="0"/>
                  </a:rPr>
                  <a:t>(b) Crystalline phase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D4A43B-267E-CAE3-4FD2-037BFF0B4D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76244" y="-349401"/>
              <a:ext cx="3168000" cy="3504648"/>
              <a:chOff x="0" y="135108"/>
              <a:chExt cx="5760244" cy="637235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8873641-B206-551D-2AE3-9D1AC3015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661" r="4754" b="2155"/>
              <a:stretch>
                <a:fillRect/>
              </a:stretch>
            </p:blipFill>
            <p:spPr>
              <a:xfrm>
                <a:off x="0" y="135108"/>
                <a:ext cx="5760244" cy="5999750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B621060-5120-CEFF-AF6E-47BF9E7FDCEB}"/>
                  </a:ext>
                </a:extLst>
              </p:cNvPr>
              <p:cNvSpPr/>
              <p:nvPr/>
            </p:nvSpPr>
            <p:spPr>
              <a:xfrm>
                <a:off x="4193059" y="527534"/>
                <a:ext cx="1194487" cy="130195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8B4A0B3-66D8-C284-6271-1409C9A1C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9638" t="13007" r="10780" b="68831"/>
              <a:stretch>
                <a:fillRect/>
              </a:stretch>
            </p:blipFill>
            <p:spPr>
              <a:xfrm>
                <a:off x="4211531" y="350679"/>
                <a:ext cx="1184254" cy="1235673"/>
              </a:xfrm>
              <a:prstGeom prst="rect">
                <a:avLst/>
              </a:prstGeom>
            </p:spPr>
          </p:pic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165326FA-3220-3A1E-4806-D23AC3A19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7784" y="6052715"/>
                <a:ext cx="3084674" cy="4547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200" dirty="0">
                    <a:latin typeface="Times New Roman" panose="02020603050405020304" pitchFamily="18" charset="0"/>
                    <a:ea typeface="TH Sarabun PSK"/>
                    <a:cs typeface="Times New Roman" panose="02020603050405020304" pitchFamily="18" charset="0"/>
                  </a:rPr>
                  <a:t>(a) Amorphous phase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90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C1356-43EA-F819-BD36-304CB240D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5" t="10289" r="7454" b="2841"/>
          <a:stretch>
            <a:fillRect/>
          </a:stretch>
        </p:blipFill>
        <p:spPr>
          <a:xfrm>
            <a:off x="2592244" y="1458114"/>
            <a:ext cx="6336000" cy="356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66C6B-154E-01E2-7FA0-CAB460317C44}"/>
              </a:ext>
            </a:extLst>
          </p:cNvPr>
          <p:cNvGrpSpPr>
            <a:grpSpLocks noChangeAspect="1"/>
          </p:cNvGrpSpPr>
          <p:nvPr/>
        </p:nvGrpSpPr>
        <p:grpSpPr>
          <a:xfrm>
            <a:off x="2708023" y="0"/>
            <a:ext cx="6203747" cy="6418128"/>
            <a:chOff x="2319440" y="-92522"/>
            <a:chExt cx="6426494" cy="664857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8D07E5A-51E2-71FC-90A6-359E0A7FD312}"/>
                </a:ext>
              </a:extLst>
            </p:cNvPr>
            <p:cNvGrpSpPr/>
            <p:nvPr/>
          </p:nvGrpSpPr>
          <p:grpSpPr>
            <a:xfrm>
              <a:off x="2319440" y="-92522"/>
              <a:ext cx="6426494" cy="6415785"/>
              <a:chOff x="2666789" y="215778"/>
              <a:chExt cx="6080064" cy="6114845"/>
            </a:xfrm>
          </p:grpSpPr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1D749B68-9604-C1AA-BC62-DD5711A7D7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5998" y="215778"/>
                <a:ext cx="1845275" cy="2773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TM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DAEDD61-9412-CED2-2591-A8322D8D40BB}"/>
                  </a:ext>
                </a:extLst>
              </p:cNvPr>
              <p:cNvGrpSpPr/>
              <p:nvPr/>
            </p:nvGrpSpPr>
            <p:grpSpPr>
              <a:xfrm>
                <a:off x="2860604" y="469208"/>
                <a:ext cx="5886249" cy="5861415"/>
                <a:chOff x="2880076" y="169576"/>
                <a:chExt cx="5744486" cy="5720252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2F8C15C8-B8DA-97F9-A862-AA88B5F5A31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0580" b="3136"/>
                <a:stretch>
                  <a:fillRect/>
                </a:stretch>
              </p:blipFill>
              <p:spPr>
                <a:xfrm>
                  <a:off x="2880076" y="3114840"/>
                  <a:ext cx="2880079" cy="2774987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2C84751B-ABF1-5713-485F-B7C7C5D575F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0577" b="3139"/>
                <a:stretch>
                  <a:fillRect/>
                </a:stretch>
              </p:blipFill>
              <p:spPr>
                <a:xfrm>
                  <a:off x="5744571" y="3114841"/>
                  <a:ext cx="2879989" cy="2774987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7F94868C-DE59-7869-EED0-9F297E5E582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0580"/>
                <a:stretch>
                  <a:fillRect/>
                </a:stretch>
              </p:blipFill>
              <p:spPr>
                <a:xfrm>
                  <a:off x="5744485" y="169577"/>
                  <a:ext cx="2880077" cy="2774987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34DA3577-DFBA-BA0F-3AEC-B0C2F17F536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0582" b="-3"/>
                <a:stretch>
                  <a:fillRect/>
                </a:stretch>
              </p:blipFill>
              <p:spPr>
                <a:xfrm>
                  <a:off x="2880078" y="169576"/>
                  <a:ext cx="2880077" cy="2774987"/>
                </a:xfrm>
                <a:prstGeom prst="rect">
                  <a:avLst/>
                </a:prstGeom>
              </p:spPr>
            </p:pic>
          </p:grpSp>
          <p:sp>
            <p:nvSpPr>
              <p:cNvPr id="9" name="Text Box 2">
                <a:extLst>
                  <a:ext uri="{FF2B5EF4-FFF2-40B4-BE49-F238E27FC236}">
                    <a16:creationId xmlns:a16="http://schemas.microsoft.com/office/drawing/2014/main" id="{2E3187BD-FBC3-705D-A67D-DAB08F7C2C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995" y="215778"/>
                <a:ext cx="1845275" cy="2773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TE</a:t>
                </a:r>
              </a:p>
            </p:txBody>
          </p:sp>
          <p:sp>
            <p:nvSpPr>
              <p:cNvPr id="11" name="Text Box 2">
                <a:extLst>
                  <a:ext uri="{FF2B5EF4-FFF2-40B4-BE49-F238E27FC236}">
                    <a16:creationId xmlns:a16="http://schemas.microsoft.com/office/drawing/2014/main" id="{7C4AE1A5-38F9-B793-62EC-7D239CA02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608696" y="1701784"/>
                <a:ext cx="2391471" cy="275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4-unit-cell design</a:t>
                </a:r>
              </a:p>
            </p:txBody>
          </p:sp>
          <p:sp>
            <p:nvSpPr>
              <p:cNvPr id="12" name="Text Box 2">
                <a:extLst>
                  <a:ext uri="{FF2B5EF4-FFF2-40B4-BE49-F238E27FC236}">
                    <a16:creationId xmlns:a16="http://schemas.microsoft.com/office/drawing/2014/main" id="{C82AC031-7169-8BB3-CD2E-37B56F4E7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528079" y="4708078"/>
                <a:ext cx="2552700" cy="275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ea typeface="TH Sarabun PSK"/>
                    <a:cs typeface="TH Sarabun PSK"/>
                  </a:rPr>
                  <a:t>5-unit-cell design</a:t>
                </a:r>
              </a:p>
            </p:txBody>
          </p:sp>
        </p:grpSp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EF821439-620A-FAF6-E611-FF4B45450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345" y="3014479"/>
              <a:ext cx="442172" cy="27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300" dirty="0">
                  <a:latin typeface="Times New Roman" panose="02020603050405020304" pitchFamily="18" charset="0"/>
                  <a:ea typeface="TH Sarabun PSK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16" name="Text Box 2">
              <a:extLst>
                <a:ext uri="{FF2B5EF4-FFF2-40B4-BE49-F238E27FC236}">
                  <a16:creationId xmlns:a16="http://schemas.microsoft.com/office/drawing/2014/main" id="{50BA29E1-0E36-D967-177E-2AEB0AE2F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1578" y="3014479"/>
              <a:ext cx="442172" cy="27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300" dirty="0">
                  <a:latin typeface="Times New Roman" panose="02020603050405020304" pitchFamily="18" charset="0"/>
                  <a:ea typeface="TH Sarabun PSK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73C8B340-756D-AC6B-5AB3-C360165C7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1578" y="6281027"/>
              <a:ext cx="442172" cy="27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300" dirty="0">
                  <a:latin typeface="Times New Roman" panose="02020603050405020304" pitchFamily="18" charset="0"/>
                  <a:ea typeface="TH Sarabun PSK"/>
                  <a:cs typeface="Times New Roman" panose="02020603050405020304" pitchFamily="18" charset="0"/>
                </a:rPr>
                <a:t>(d)</a:t>
              </a:r>
            </a:p>
          </p:txBody>
        </p:sp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8DA5BD1E-D537-CA77-5C7C-D745431AC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778" y="6281027"/>
              <a:ext cx="442172" cy="27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300" dirty="0">
                  <a:latin typeface="Times New Roman" panose="02020603050405020304" pitchFamily="18" charset="0"/>
                  <a:ea typeface="TH Sarabun PSK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225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EE706E3-99F7-361D-1436-F0AB8CFFF5DB}"/>
              </a:ext>
            </a:extLst>
          </p:cNvPr>
          <p:cNvGrpSpPr>
            <a:grpSpLocks noChangeAspect="1"/>
          </p:cNvGrpSpPr>
          <p:nvPr/>
        </p:nvGrpSpPr>
        <p:grpSpPr>
          <a:xfrm>
            <a:off x="4176244" y="43746"/>
            <a:ext cx="3168000" cy="6222456"/>
            <a:chOff x="2905781" y="535637"/>
            <a:chExt cx="2854463" cy="560662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A9529C-077B-9C9A-A539-62EFBFA0D6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05781" y="535637"/>
              <a:ext cx="2854463" cy="5606621"/>
              <a:chOff x="2880076" y="438355"/>
              <a:chExt cx="2730180" cy="540218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1CF6B04-6BE3-59B3-59F0-B3B9E59D711E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582" r="5204" b="-3"/>
              <a:stretch>
                <a:fillRect/>
              </a:stretch>
            </p:blipFill>
            <p:spPr>
              <a:xfrm>
                <a:off x="2880078" y="438355"/>
                <a:ext cx="2730178" cy="2750382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2A83823-1A48-A5F4-6B9C-C8431F3AEEDD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580" r="5205" b="3136"/>
              <a:stretch>
                <a:fillRect/>
              </a:stretch>
            </p:blipFill>
            <p:spPr>
              <a:xfrm>
                <a:off x="2880076" y="3090161"/>
                <a:ext cx="2730178" cy="2750382"/>
              </a:xfrm>
              <a:prstGeom prst="rect">
                <a:avLst/>
              </a:prstGeom>
            </p:spPr>
          </p:pic>
        </p:grpSp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1A042B18-29B1-0E3D-4825-A9024BFCB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8375" y="563830"/>
              <a:ext cx="1947939" cy="265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r"/>
              <a:r>
                <a:rPr lang="en-GB" sz="1300" dirty="0">
                  <a:solidFill>
                    <a:schemeClr val="bg1"/>
                  </a:solidFill>
                  <a:latin typeface="Arial" panose="020B0604020202020204" pitchFamily="34" charset="0"/>
                  <a:ea typeface="TH Sarabun PSK"/>
                  <a:cs typeface="TH Sarabun PSK"/>
                </a:rPr>
                <a:t>4-unit-cell design</a:t>
              </a:r>
            </a:p>
          </p:txBody>
        </p:sp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6236CBCF-D119-EBCC-8804-7412B4FE0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314" y="3315990"/>
              <a:ext cx="1946999" cy="265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r"/>
              <a:r>
                <a:rPr lang="en-GB" sz="1300" dirty="0">
                  <a:solidFill>
                    <a:schemeClr val="bg1"/>
                  </a:solidFill>
                  <a:latin typeface="Arial" panose="020B0604020202020204" pitchFamily="34" charset="0"/>
                  <a:ea typeface="TH Sarabun PSK"/>
                  <a:cs typeface="TH Sarabun PSK"/>
                </a:rPr>
                <a:t>5-unit-cell 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71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6A62-F729-8146-6602-6B9EAA86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275D7D68-3AEF-4C7F-4925-E0D6D4A4F0F7}"/>
              </a:ext>
            </a:extLst>
          </p:cNvPr>
          <p:cNvGrpSpPr/>
          <p:nvPr/>
        </p:nvGrpSpPr>
        <p:grpSpPr>
          <a:xfrm>
            <a:off x="1383862" y="-444167"/>
            <a:ext cx="8530325" cy="7330408"/>
            <a:chOff x="1383862" y="-696469"/>
            <a:chExt cx="8530325" cy="73304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FF5BCF-F936-30BC-C5AC-66938C4BCDC6}"/>
                </a:ext>
              </a:extLst>
            </p:cNvPr>
            <p:cNvGrpSpPr/>
            <p:nvPr/>
          </p:nvGrpSpPr>
          <p:grpSpPr>
            <a:xfrm>
              <a:off x="1458499" y="-390884"/>
              <a:ext cx="2821665" cy="2113538"/>
              <a:chOff x="1458499" y="333586"/>
              <a:chExt cx="2821665" cy="211353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256747A-9A64-FEEA-48E3-C73ABF412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25" b="4228"/>
              <a:stretch>
                <a:fillRect/>
              </a:stretch>
            </p:blipFill>
            <p:spPr>
              <a:xfrm>
                <a:off x="1458499" y="333586"/>
                <a:ext cx="2821665" cy="1901362"/>
              </a:xfrm>
              <a:prstGeom prst="rect">
                <a:avLst/>
              </a:prstGeom>
            </p:spPr>
          </p:pic>
          <p:sp>
            <p:nvSpPr>
              <p:cNvPr id="11" name="Text Box 2">
                <a:extLst>
                  <a:ext uri="{FF2B5EF4-FFF2-40B4-BE49-F238E27FC236}">
                    <a16:creationId xmlns:a16="http://schemas.microsoft.com/office/drawing/2014/main" id="{7CAE097F-9881-781B-334E-E50AC9B0CF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909" y="2214550"/>
                <a:ext cx="2177422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24" name="Text Box 2">
                <a:extLst>
                  <a:ext uri="{FF2B5EF4-FFF2-40B4-BE49-F238E27FC236}">
                    <a16:creationId xmlns:a16="http://schemas.microsoft.com/office/drawing/2014/main" id="{BFEFB833-1F4B-A0FA-A604-3D435106E1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727359" y="1218242"/>
                <a:ext cx="1703749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Transmittance</a:t>
                </a:r>
              </a:p>
            </p:txBody>
          </p:sp>
        </p:grpSp>
        <p:sp>
          <p:nvSpPr>
            <p:cNvPr id="36" name="Text Box 2">
              <a:extLst>
                <a:ext uri="{FF2B5EF4-FFF2-40B4-BE49-F238E27FC236}">
                  <a16:creationId xmlns:a16="http://schemas.microsoft.com/office/drawing/2014/main" id="{293A04FD-A3B0-1008-37E5-4C788BFB8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722" y="-688832"/>
              <a:ext cx="2261610" cy="311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600" b="1" dirty="0">
                  <a:latin typeface="Arial" panose="020B0604020202020204" pitchFamily="34" charset="0"/>
                  <a:ea typeface="TH Sarabun PSK"/>
                  <a:cs typeface="TH Sarabun PSK"/>
                </a:rPr>
                <a:t>Single-layer design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 Box 2">
                  <a:extLst>
                    <a:ext uri="{FF2B5EF4-FFF2-40B4-BE49-F238E27FC236}">
                      <a16:creationId xmlns:a16="http://schemas.microsoft.com/office/drawing/2014/main" id="{FAE060AB-4B8B-934F-6F8D-AE1F35F7BE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70522" y="-692581"/>
                  <a:ext cx="2663909" cy="3088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spAutoFit/>
                </a:bodyPr>
                <a:lstStyle/>
                <a:p>
                  <a:pPr algn="ctr"/>
                  <a:r>
                    <a:rPr lang="en-GB" sz="1600" b="1" dirty="0">
                      <a:latin typeface="Arial" panose="020B0604020202020204" pitchFamily="34" charset="0"/>
                      <a:ea typeface="TH Sarabun PSK"/>
                      <a:cs typeface="TH Sarabun PSK"/>
                    </a:rPr>
                    <a:t>Edge-filter design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(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𝑵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𝟓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)</m:t>
                      </m:r>
                    </m:oMath>
                  </a14:m>
                  <a:endParaRPr lang="en-GB" sz="1600" b="1" dirty="0">
                    <a:latin typeface="Arial" panose="020B0604020202020204" pitchFamily="34" charset="0"/>
                    <a:ea typeface="TH Sarabun PSK"/>
                    <a:cs typeface="TH Sarabun PSK"/>
                  </a:endParaRPr>
                </a:p>
              </p:txBody>
            </p:sp>
          </mc:Choice>
          <mc:Fallback>
            <p:sp>
              <p:nvSpPr>
                <p:cNvPr id="37" name="Text Box 2">
                  <a:extLst>
                    <a:ext uri="{FF2B5EF4-FFF2-40B4-BE49-F238E27FC236}">
                      <a16:creationId xmlns:a16="http://schemas.microsoft.com/office/drawing/2014/main" id="{FAE060AB-4B8B-934F-6F8D-AE1F35F7BE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70522" y="-692581"/>
                  <a:ext cx="2663909" cy="308817"/>
                </a:xfrm>
                <a:prstGeom prst="rect">
                  <a:avLst/>
                </a:prstGeom>
                <a:blipFill>
                  <a:blip r:embed="rId3"/>
                  <a:stretch>
                    <a:fillRect l="-1373" t="-10000" r="-229" b="-3200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 Box 2">
                  <a:extLst>
                    <a:ext uri="{FF2B5EF4-FFF2-40B4-BE49-F238E27FC236}">
                      <a16:creationId xmlns:a16="http://schemas.microsoft.com/office/drawing/2014/main" id="{FB75535D-07C1-B43E-CCDA-80768CFCC6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50262" y="-696469"/>
                  <a:ext cx="2740504" cy="3088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spAutoFit/>
                </a:bodyPr>
                <a:lstStyle/>
                <a:p>
                  <a:pPr algn="ctr"/>
                  <a:r>
                    <a:rPr lang="en-GB" sz="1600" b="1" dirty="0">
                      <a:latin typeface="Arial" panose="020B0604020202020204" pitchFamily="34" charset="0"/>
                      <a:ea typeface="TH Sarabun PSK"/>
                      <a:cs typeface="TH Sarabun PSK"/>
                    </a:rPr>
                    <a:t>Edge-filter design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(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𝑵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𝟒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)</m:t>
                      </m:r>
                    </m:oMath>
                  </a14:m>
                  <a:endParaRPr lang="en-GB" sz="1600" b="1" dirty="0">
                    <a:latin typeface="Arial" panose="020B0604020202020204" pitchFamily="34" charset="0"/>
                    <a:ea typeface="TH Sarabun PSK"/>
                    <a:cs typeface="TH Sarabun PSK"/>
                  </a:endParaRPr>
                </a:p>
              </p:txBody>
            </p:sp>
          </mc:Choice>
          <mc:Fallback>
            <p:sp>
              <p:nvSpPr>
                <p:cNvPr id="38" name="Text Box 2">
                  <a:extLst>
                    <a:ext uri="{FF2B5EF4-FFF2-40B4-BE49-F238E27FC236}">
                      <a16:creationId xmlns:a16="http://schemas.microsoft.com/office/drawing/2014/main" id="{FB75535D-07C1-B43E-CCDA-80768CFCC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50262" y="-696469"/>
                  <a:ext cx="2740504" cy="308817"/>
                </a:xfrm>
                <a:prstGeom prst="rect">
                  <a:avLst/>
                </a:prstGeom>
                <a:blipFill>
                  <a:blip r:embed="rId4"/>
                  <a:stretch>
                    <a:fillRect t="-9804" b="-29412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 Box 2">
              <a:extLst>
                <a:ext uri="{FF2B5EF4-FFF2-40B4-BE49-F238E27FC236}">
                  <a16:creationId xmlns:a16="http://schemas.microsoft.com/office/drawing/2014/main" id="{F03BDA51-720C-3CF6-F73A-520169042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613" y="1667132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(a)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963480-9B98-00BE-F422-544F33DD86AB}"/>
                </a:ext>
              </a:extLst>
            </p:cNvPr>
            <p:cNvSpPr/>
            <p:nvPr/>
          </p:nvSpPr>
          <p:spPr>
            <a:xfrm rot="16200000">
              <a:off x="3980642" y="458116"/>
              <a:ext cx="823008" cy="2007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06FE220-7954-3550-3F22-9AB09E685314}"/>
                </a:ext>
              </a:extLst>
            </p:cNvPr>
            <p:cNvSpPr/>
            <p:nvPr/>
          </p:nvSpPr>
          <p:spPr>
            <a:xfrm rot="16200000">
              <a:off x="3983524" y="531161"/>
              <a:ext cx="823008" cy="2007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BCA8936-3CB9-8BB3-0406-746B50FE1980}"/>
                </a:ext>
              </a:extLst>
            </p:cNvPr>
            <p:cNvSpPr/>
            <p:nvPr/>
          </p:nvSpPr>
          <p:spPr>
            <a:xfrm rot="16200000">
              <a:off x="6792806" y="493409"/>
              <a:ext cx="823008" cy="2007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0952736-745F-6DFA-41E6-6C54C19D5856}"/>
                </a:ext>
              </a:extLst>
            </p:cNvPr>
            <p:cNvGrpSpPr/>
            <p:nvPr/>
          </p:nvGrpSpPr>
          <p:grpSpPr>
            <a:xfrm>
              <a:off x="4270507" y="-390886"/>
              <a:ext cx="2823419" cy="2116572"/>
              <a:chOff x="4270507" y="333584"/>
              <a:chExt cx="2823419" cy="2116572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5E47CED-0343-6F4D-FA93-5ACEA5B78FFF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00"/>
              <a:stretch>
                <a:fillRect/>
              </a:stretch>
            </p:blipFill>
            <p:spPr>
              <a:xfrm>
                <a:off x="4270507" y="333584"/>
                <a:ext cx="2823419" cy="1990842"/>
              </a:xfrm>
              <a:prstGeom prst="rect">
                <a:avLst/>
              </a:prstGeom>
            </p:spPr>
          </p:pic>
          <p:sp>
            <p:nvSpPr>
              <p:cNvPr id="22" name="Text Box 2">
                <a:extLst>
                  <a:ext uri="{FF2B5EF4-FFF2-40B4-BE49-F238E27FC236}">
                    <a16:creationId xmlns:a16="http://schemas.microsoft.com/office/drawing/2014/main" id="{AE3B8EAA-42E3-23D9-4F0C-DC4721FDF0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8692" y="2217582"/>
                <a:ext cx="2177422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57" name="Text Box 2">
                <a:extLst>
                  <a:ext uri="{FF2B5EF4-FFF2-40B4-BE49-F238E27FC236}">
                    <a16:creationId xmlns:a16="http://schemas.microsoft.com/office/drawing/2014/main" id="{3CA44ABE-E1DB-575F-0CE0-50E3E6120A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3545442" y="1116832"/>
                <a:ext cx="1703749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Transmittance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377A153-0B83-8752-AC5B-F3819F161FCB}"/>
                </a:ext>
              </a:extLst>
            </p:cNvPr>
            <p:cNvGrpSpPr/>
            <p:nvPr/>
          </p:nvGrpSpPr>
          <p:grpSpPr>
            <a:xfrm>
              <a:off x="7090768" y="-390886"/>
              <a:ext cx="2823419" cy="2121173"/>
              <a:chOff x="7090768" y="333584"/>
              <a:chExt cx="2823419" cy="212117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4275556-610F-C9DE-AB2E-DA11869E5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02"/>
              <a:stretch>
                <a:fillRect/>
              </a:stretch>
            </p:blipFill>
            <p:spPr>
              <a:xfrm>
                <a:off x="7090768" y="333584"/>
                <a:ext cx="2823419" cy="1990842"/>
              </a:xfrm>
              <a:prstGeom prst="rect">
                <a:avLst/>
              </a:prstGeom>
            </p:spPr>
          </p:pic>
          <p:sp>
            <p:nvSpPr>
              <p:cNvPr id="23" name="Text Box 2">
                <a:extLst>
                  <a:ext uri="{FF2B5EF4-FFF2-40B4-BE49-F238E27FC236}">
                    <a16:creationId xmlns:a16="http://schemas.microsoft.com/office/drawing/2014/main" id="{EC259A05-E69E-C468-2708-471B303D2E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4351" y="2222183"/>
                <a:ext cx="2177422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63" name="Text Box 2">
                <a:extLst>
                  <a:ext uri="{FF2B5EF4-FFF2-40B4-BE49-F238E27FC236}">
                    <a16:creationId xmlns:a16="http://schemas.microsoft.com/office/drawing/2014/main" id="{8ECBF53E-D052-25CC-CEAC-37A53114C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367905" y="1116832"/>
                <a:ext cx="1703749" cy="23257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Transmittance</a:t>
                </a:r>
              </a:p>
            </p:txBody>
          </p:sp>
        </p:grpSp>
        <p:sp>
          <p:nvSpPr>
            <p:cNvPr id="65" name="Text Box 2">
              <a:extLst>
                <a:ext uri="{FF2B5EF4-FFF2-40B4-BE49-F238E27FC236}">
                  <a16:creationId xmlns:a16="http://schemas.microsoft.com/office/drawing/2014/main" id="{E1C39705-84BA-BDC7-CAD4-D15E35A98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526" y="1668868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(b)</a:t>
              </a:r>
            </a:p>
          </p:txBody>
        </p:sp>
        <p:sp>
          <p:nvSpPr>
            <p:cNvPr id="66" name="Text Box 2">
              <a:extLst>
                <a:ext uri="{FF2B5EF4-FFF2-40B4-BE49-F238E27FC236}">
                  <a16:creationId xmlns:a16="http://schemas.microsoft.com/office/drawing/2014/main" id="{4225793D-DF19-162B-4F95-A33DC95B3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8578" y="1674751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(c)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F13DBE-27C7-C873-C4E9-E1518769E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6044"/>
            <a:stretch>
              <a:fillRect/>
            </a:stretch>
          </p:blipFill>
          <p:spPr>
            <a:xfrm>
              <a:off x="1456745" y="1963156"/>
              <a:ext cx="2823419" cy="199084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101B1AA-11A8-271A-8884-64B7BA2CC5C0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71"/>
            <a:stretch>
              <a:fillRect/>
            </a:stretch>
          </p:blipFill>
          <p:spPr>
            <a:xfrm>
              <a:off x="4270507" y="1963908"/>
              <a:ext cx="2823419" cy="199009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7762777-619E-27B4-322B-2C2EE2CDD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87"/>
            <a:stretch>
              <a:fillRect/>
            </a:stretch>
          </p:blipFill>
          <p:spPr>
            <a:xfrm>
              <a:off x="7090768" y="1964941"/>
              <a:ext cx="2823419" cy="1989058"/>
            </a:xfrm>
            <a:prstGeom prst="rect">
              <a:avLst/>
            </a:prstGeom>
          </p:spPr>
        </p:pic>
        <p:sp>
          <p:nvSpPr>
            <p:cNvPr id="42" name="Text Box 2">
              <a:extLst>
                <a:ext uri="{FF2B5EF4-FFF2-40B4-BE49-F238E27FC236}">
                  <a16:creationId xmlns:a16="http://schemas.microsoft.com/office/drawing/2014/main" id="{5652DA98-7B88-80EC-6E7B-54C68F41E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909" y="3845515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44" name="Text Box 2">
              <a:extLst>
                <a:ext uri="{FF2B5EF4-FFF2-40B4-BE49-F238E27FC236}">
                  <a16:creationId xmlns:a16="http://schemas.microsoft.com/office/drawing/2014/main" id="{8ABAD2B2-1FDF-C197-6E40-29F584C97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0097" y="3847319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46" name="Text Box 2">
              <a:extLst>
                <a:ext uri="{FF2B5EF4-FFF2-40B4-BE49-F238E27FC236}">
                  <a16:creationId xmlns:a16="http://schemas.microsoft.com/office/drawing/2014/main" id="{0564EEDE-F1D6-CDF6-FD9B-A969BC516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5756" y="3847319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48" name="Text Box 2">
              <a:extLst>
                <a:ext uri="{FF2B5EF4-FFF2-40B4-BE49-F238E27FC236}">
                  <a16:creationId xmlns:a16="http://schemas.microsoft.com/office/drawing/2014/main" id="{378BEF2F-9ABF-E729-69BA-A117310E9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07955" y="2718169"/>
              <a:ext cx="1703749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D</a:t>
              </a:r>
              <a:r>
                <a:rPr lang="en-GB" sz="1100" baseline="-25000" dirty="0">
                  <a:latin typeface="Arial" panose="020B0604020202020204" pitchFamily="34" charset="0"/>
                  <a:ea typeface="TH Sarabun PSK"/>
                  <a:cs typeface="TH Sarabun PSK"/>
                </a:rPr>
                <a:t>pct</a:t>
              </a:r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 (%)</a:t>
              </a:r>
            </a:p>
          </p:txBody>
        </p:sp>
        <p:sp>
          <p:nvSpPr>
            <p:cNvPr id="64" name="Text Box 2">
              <a:extLst>
                <a:ext uri="{FF2B5EF4-FFF2-40B4-BE49-F238E27FC236}">
                  <a16:creationId xmlns:a16="http://schemas.microsoft.com/office/drawing/2014/main" id="{C4CECF94-DEDB-49C7-0645-7D6AA5C40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562868" y="2718170"/>
              <a:ext cx="1703749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D</a:t>
              </a:r>
              <a:r>
                <a:rPr lang="en-GB" sz="1100" baseline="-25000" dirty="0">
                  <a:latin typeface="Arial" panose="020B0604020202020204" pitchFamily="34" charset="0"/>
                  <a:ea typeface="TH Sarabun PSK"/>
                  <a:cs typeface="TH Sarabun PSK"/>
                </a:rPr>
                <a:t>pct</a:t>
              </a:r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 (%)</a:t>
              </a:r>
            </a:p>
          </p:txBody>
        </p:sp>
        <p:sp>
          <p:nvSpPr>
            <p:cNvPr id="68" name="Text Box 2">
              <a:extLst>
                <a:ext uri="{FF2B5EF4-FFF2-40B4-BE49-F238E27FC236}">
                  <a16:creationId xmlns:a16="http://schemas.microsoft.com/office/drawing/2014/main" id="{DCA475A1-3D4A-FFDB-F2D9-B800EAE0F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390284" y="2718170"/>
              <a:ext cx="1703749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D</a:t>
              </a:r>
              <a:r>
                <a:rPr lang="en-GB" sz="1100" baseline="-25000" dirty="0">
                  <a:latin typeface="Arial" panose="020B0604020202020204" pitchFamily="34" charset="0"/>
                  <a:ea typeface="TH Sarabun PSK"/>
                  <a:cs typeface="TH Sarabun PSK"/>
                </a:rPr>
                <a:t>pct</a:t>
              </a:r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 (%)</a:t>
              </a:r>
            </a:p>
          </p:txBody>
        </p:sp>
        <p:sp>
          <p:nvSpPr>
            <p:cNvPr id="70" name="Text Box 2">
              <a:extLst>
                <a:ext uri="{FF2B5EF4-FFF2-40B4-BE49-F238E27FC236}">
                  <a16:creationId xmlns:a16="http://schemas.microsoft.com/office/drawing/2014/main" id="{8E68FDE9-BFB8-67BD-3C32-53A9C7D0E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3981" y="4025212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(d)</a:t>
              </a:r>
            </a:p>
          </p:txBody>
        </p:sp>
        <p:sp>
          <p:nvSpPr>
            <p:cNvPr id="72" name="Text Box 2">
              <a:extLst>
                <a:ext uri="{FF2B5EF4-FFF2-40B4-BE49-F238E27FC236}">
                  <a16:creationId xmlns:a16="http://schemas.microsoft.com/office/drawing/2014/main" id="{89BC34B4-1445-847A-501D-72141D160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4894" y="4026948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(e)</a:t>
              </a:r>
            </a:p>
          </p:txBody>
        </p:sp>
        <p:sp>
          <p:nvSpPr>
            <p:cNvPr id="74" name="Text Box 2">
              <a:extLst>
                <a:ext uri="{FF2B5EF4-FFF2-40B4-BE49-F238E27FC236}">
                  <a16:creationId xmlns:a16="http://schemas.microsoft.com/office/drawing/2014/main" id="{2D5541A3-F01F-1021-BDDF-5D48DC205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9946" y="4032831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(f)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A6ACDD2-8A4F-370E-4DCA-FE0373771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02"/>
            <a:stretch>
              <a:fillRect/>
            </a:stretch>
          </p:blipFill>
          <p:spPr>
            <a:xfrm>
              <a:off x="7090768" y="4317200"/>
              <a:ext cx="2823419" cy="1990844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7C2C44D-B922-CB77-58E1-D5E8595A6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5"/>
            <a:stretch>
              <a:fillRect/>
            </a:stretch>
          </p:blipFill>
          <p:spPr>
            <a:xfrm>
              <a:off x="4269103" y="4317200"/>
              <a:ext cx="2823419" cy="199084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701FD53-117D-BC7C-94B9-1975DF776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96"/>
            <a:stretch>
              <a:fillRect/>
            </a:stretch>
          </p:blipFill>
          <p:spPr>
            <a:xfrm>
              <a:off x="1455752" y="4317199"/>
              <a:ext cx="2823007" cy="1990845"/>
            </a:xfrm>
            <a:prstGeom prst="rect">
              <a:avLst/>
            </a:prstGeom>
          </p:spPr>
        </p:pic>
        <p:sp>
          <p:nvSpPr>
            <p:cNvPr id="82" name="Text Box 2">
              <a:extLst>
                <a:ext uri="{FF2B5EF4-FFF2-40B4-BE49-F238E27FC236}">
                  <a16:creationId xmlns:a16="http://schemas.microsoft.com/office/drawing/2014/main" id="{6E3333CA-065E-4558-0E8A-734AC129E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909" y="6201309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84" name="Text Box 2">
              <a:extLst>
                <a:ext uri="{FF2B5EF4-FFF2-40B4-BE49-F238E27FC236}">
                  <a16:creationId xmlns:a16="http://schemas.microsoft.com/office/drawing/2014/main" id="{D5F7A840-E898-6D33-CDD1-B0E944F42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1590" y="6201309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86" name="Text Box 2">
              <a:extLst>
                <a:ext uri="{FF2B5EF4-FFF2-40B4-BE49-F238E27FC236}">
                  <a16:creationId xmlns:a16="http://schemas.microsoft.com/office/drawing/2014/main" id="{C18EBA50-2E46-4B27-E62A-22E3C67D6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7249" y="6201309"/>
              <a:ext cx="2177422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Cycle number</a:t>
              </a:r>
            </a:p>
          </p:txBody>
        </p:sp>
        <p:sp>
          <p:nvSpPr>
            <p:cNvPr id="88" name="Text Box 2">
              <a:extLst>
                <a:ext uri="{FF2B5EF4-FFF2-40B4-BE49-F238E27FC236}">
                  <a16:creationId xmlns:a16="http://schemas.microsoft.com/office/drawing/2014/main" id="{87E1F90A-66E0-3A38-EB67-1712B239E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50709" y="5091375"/>
              <a:ext cx="1298880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IL (dB)</a:t>
              </a:r>
            </a:p>
          </p:txBody>
        </p:sp>
        <p:sp>
          <p:nvSpPr>
            <p:cNvPr id="90" name="Text Box 2">
              <a:extLst>
                <a:ext uri="{FF2B5EF4-FFF2-40B4-BE49-F238E27FC236}">
                  <a16:creationId xmlns:a16="http://schemas.microsoft.com/office/drawing/2014/main" id="{EC393578-4F02-0C3B-2430-E12A63748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668808" y="5091376"/>
              <a:ext cx="1298876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IL (dB)</a:t>
              </a:r>
            </a:p>
          </p:txBody>
        </p:sp>
        <p:sp>
          <p:nvSpPr>
            <p:cNvPr id="92" name="Text Box 2">
              <a:extLst>
                <a:ext uri="{FF2B5EF4-FFF2-40B4-BE49-F238E27FC236}">
                  <a16:creationId xmlns:a16="http://schemas.microsoft.com/office/drawing/2014/main" id="{D91A00AD-864B-AFE0-4999-9BA72E26C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491605" y="5091376"/>
              <a:ext cx="1298876" cy="2325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100" dirty="0">
                  <a:latin typeface="Arial" panose="020B0604020202020204" pitchFamily="34" charset="0"/>
                  <a:ea typeface="TH Sarabun PSK"/>
                  <a:cs typeface="TH Sarabun PSK"/>
                </a:rPr>
                <a:t>IL (dB)</a:t>
              </a:r>
            </a:p>
          </p:txBody>
        </p:sp>
        <p:sp>
          <p:nvSpPr>
            <p:cNvPr id="94" name="Text Box 2">
              <a:extLst>
                <a:ext uri="{FF2B5EF4-FFF2-40B4-BE49-F238E27FC236}">
                  <a16:creationId xmlns:a16="http://schemas.microsoft.com/office/drawing/2014/main" id="{20039B84-81ED-7AE0-8BD5-F8C3C7755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613" y="6376217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(g)</a:t>
              </a:r>
            </a:p>
          </p:txBody>
        </p:sp>
        <p:sp>
          <p:nvSpPr>
            <p:cNvPr id="96" name="Text Box 2">
              <a:extLst>
                <a:ext uri="{FF2B5EF4-FFF2-40B4-BE49-F238E27FC236}">
                  <a16:creationId xmlns:a16="http://schemas.microsoft.com/office/drawing/2014/main" id="{DD7609E3-1709-EB7C-2038-67EB724F6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526" y="6377953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(h)</a:t>
              </a:r>
            </a:p>
          </p:txBody>
        </p:sp>
        <p:sp>
          <p:nvSpPr>
            <p:cNvPr id="98" name="Text Box 2">
              <a:extLst>
                <a:ext uri="{FF2B5EF4-FFF2-40B4-BE49-F238E27FC236}">
                  <a16:creationId xmlns:a16="http://schemas.microsoft.com/office/drawing/2014/main" id="{5A8A3F9E-0F71-0206-741D-1286377DF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8578" y="6383836"/>
              <a:ext cx="573435" cy="250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ea typeface="TH Sarabun PSK"/>
                  <a:cs typeface="TH Sarabun PSK"/>
                </a:rPr>
                <a:t>(i)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821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C65264-BDBB-2071-1025-EAF4A4BD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B7461DE-24BF-0799-0FCA-DFB643F2E241}"/>
              </a:ext>
            </a:extLst>
          </p:cNvPr>
          <p:cNvGrpSpPr/>
          <p:nvPr/>
        </p:nvGrpSpPr>
        <p:grpSpPr>
          <a:xfrm>
            <a:off x="2659264" y="41812"/>
            <a:ext cx="5800980" cy="6474998"/>
            <a:chOff x="2659264" y="41812"/>
            <a:chExt cx="5800980" cy="6474998"/>
          </a:xfrm>
        </p:grpSpPr>
        <p:sp>
          <p:nvSpPr>
            <p:cNvPr id="36" name="Text Box 2">
              <a:extLst>
                <a:ext uri="{FF2B5EF4-FFF2-40B4-BE49-F238E27FC236}">
                  <a16:creationId xmlns:a16="http://schemas.microsoft.com/office/drawing/2014/main" id="{8AB6E43D-1B78-F7B3-9FFB-25800C047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8022" y="45561"/>
              <a:ext cx="2261610" cy="280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ctr"/>
              <a:r>
                <a:rPr lang="en-GB" sz="1400" b="1" dirty="0">
                  <a:latin typeface="Arial" panose="020B0604020202020204" pitchFamily="34" charset="0"/>
                  <a:ea typeface="TH Sarabun PSK"/>
                  <a:cs typeface="TH Sarabun PSK"/>
                </a:rPr>
                <a:t>Single-layer design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2">
                  <a:extLst>
                    <a:ext uri="{FF2B5EF4-FFF2-40B4-BE49-F238E27FC236}">
                      <a16:creationId xmlns:a16="http://schemas.microsoft.com/office/drawing/2014/main" id="{944201E8-B4B0-28F0-87B6-E88A58221C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69083" y="41812"/>
                  <a:ext cx="2663909" cy="2808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Arial" panose="020B0604020202020204" pitchFamily="34" charset="0"/>
                      <a:ea typeface="TH Sarabun PSK"/>
                      <a:cs typeface="TH Sarabun PSK"/>
                    </a:rPr>
                    <a:t>Edge-filter design </a:t>
                  </a:r>
                  <a14:m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(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𝑵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𝟓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TH Sarabun PSK"/>
                          <a:cs typeface="TH Sarabun PSK"/>
                        </a:rPr>
                        <m:t>)</m:t>
                      </m:r>
                    </m:oMath>
                  </a14:m>
                  <a:endParaRPr lang="en-GB" sz="1400" b="1" dirty="0">
                    <a:latin typeface="Arial" panose="020B0604020202020204" pitchFamily="34" charset="0"/>
                    <a:ea typeface="TH Sarabun PSK"/>
                    <a:cs typeface="TH Sarabun PSK"/>
                  </a:endParaRPr>
                </a:p>
              </p:txBody>
            </p:sp>
          </mc:Choice>
          <mc:Fallback xmlns="">
            <p:sp>
              <p:nvSpPr>
                <p:cNvPr id="37" name="Text Box 2">
                  <a:extLst>
                    <a:ext uri="{FF2B5EF4-FFF2-40B4-BE49-F238E27FC236}">
                      <a16:creationId xmlns:a16="http://schemas.microsoft.com/office/drawing/2014/main" id="{944201E8-B4B0-28F0-87B6-E88A58221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69083" y="41812"/>
                  <a:ext cx="2663909" cy="280880"/>
                </a:xfrm>
                <a:prstGeom prst="rect">
                  <a:avLst/>
                </a:prstGeom>
                <a:blipFill>
                  <a:blip r:embed="rId2"/>
                  <a:stretch>
                    <a:fillRect t="-8696" b="-2608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C8A78E32-04A7-E64B-E267-143E4CBF70B0}"/>
                </a:ext>
              </a:extLst>
            </p:cNvPr>
            <p:cNvGrpSpPr/>
            <p:nvPr/>
          </p:nvGrpSpPr>
          <p:grpSpPr>
            <a:xfrm>
              <a:off x="2659264" y="333174"/>
              <a:ext cx="5800980" cy="6183636"/>
              <a:chOff x="2659264" y="333174"/>
              <a:chExt cx="5800980" cy="618363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24FB06D-7E62-768A-0952-E41CB5A09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25"/>
              <a:stretch>
                <a:fillRect/>
              </a:stretch>
            </p:blipFill>
            <p:spPr>
              <a:xfrm>
                <a:off x="2715799" y="333585"/>
                <a:ext cx="2821665" cy="1990841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AED6F3C-75D3-F18B-2A8D-C4B99523B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02"/>
              <a:stretch>
                <a:fillRect/>
              </a:stretch>
            </p:blipFill>
            <p:spPr>
              <a:xfrm>
                <a:off x="5589329" y="333584"/>
                <a:ext cx="2823419" cy="1990842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1A501BD-4305-CE30-D04C-3AB1B54AF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6044"/>
              <a:stretch>
                <a:fillRect/>
              </a:stretch>
            </p:blipFill>
            <p:spPr>
              <a:xfrm>
                <a:off x="2714045" y="2402557"/>
                <a:ext cx="2823419" cy="1990843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A3C86BD2-3262-9374-099E-3B688EB15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87"/>
              <a:stretch>
                <a:fillRect/>
              </a:stretch>
            </p:blipFill>
            <p:spPr>
              <a:xfrm>
                <a:off x="5589329" y="2404342"/>
                <a:ext cx="2823419" cy="1989058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E771361-BEAD-5AF4-922A-96E408933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02"/>
              <a:stretch>
                <a:fillRect/>
              </a:stretch>
            </p:blipFill>
            <p:spPr>
              <a:xfrm>
                <a:off x="5589329" y="4471533"/>
                <a:ext cx="2823419" cy="1990844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F80EBF0-1D33-E466-7E60-B11A02B228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96"/>
              <a:stretch>
                <a:fillRect/>
              </a:stretch>
            </p:blipFill>
            <p:spPr>
              <a:xfrm>
                <a:off x="2713052" y="4471532"/>
                <a:ext cx="2823007" cy="1990845"/>
              </a:xfrm>
              <a:prstGeom prst="rect">
                <a:avLst/>
              </a:prstGeom>
            </p:spPr>
          </p:pic>
          <p:sp>
            <p:nvSpPr>
              <p:cNvPr id="39" name="Text Box 2">
                <a:extLst>
                  <a:ext uri="{FF2B5EF4-FFF2-40B4-BE49-F238E27FC236}">
                    <a16:creationId xmlns:a16="http://schemas.microsoft.com/office/drawing/2014/main" id="{A875E46C-B5B9-498F-7902-44346FA2E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3742" y="335566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(a)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CA8147D-A081-CD7F-B250-BF9C7098027F}"/>
                  </a:ext>
                </a:extLst>
              </p:cNvPr>
              <p:cNvSpPr/>
              <p:nvPr/>
            </p:nvSpPr>
            <p:spPr>
              <a:xfrm>
                <a:off x="2836059" y="2221379"/>
                <a:ext cx="5400000" cy="10304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94AED0-8AA9-17D2-0280-AD39E981946F}"/>
                  </a:ext>
                </a:extLst>
              </p:cNvPr>
              <p:cNvSpPr/>
              <p:nvPr/>
            </p:nvSpPr>
            <p:spPr>
              <a:xfrm>
                <a:off x="3060244" y="4310270"/>
                <a:ext cx="5400000" cy="10304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DD1C58C-94B1-3DE5-C22C-A0F02575C1EB}"/>
                  </a:ext>
                </a:extLst>
              </p:cNvPr>
              <p:cNvSpPr/>
              <p:nvPr/>
            </p:nvSpPr>
            <p:spPr>
              <a:xfrm>
                <a:off x="3060244" y="6379245"/>
                <a:ext cx="5400000" cy="10304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Text Box 2">
                <a:extLst>
                  <a:ext uri="{FF2B5EF4-FFF2-40B4-BE49-F238E27FC236}">
                    <a16:creationId xmlns:a16="http://schemas.microsoft.com/office/drawing/2014/main" id="{47A7EF5D-DCFD-553F-BB4C-0A712C5CD4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2209" y="2162003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12" name="Text Box 2">
                <a:extLst>
                  <a:ext uri="{FF2B5EF4-FFF2-40B4-BE49-F238E27FC236}">
                    <a16:creationId xmlns:a16="http://schemas.microsoft.com/office/drawing/2014/main" id="{65623F47-A8D3-A29F-F565-FE2C0A32FC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2209" y="4232514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13" name="Text Box 2">
                <a:extLst>
                  <a:ext uri="{FF2B5EF4-FFF2-40B4-BE49-F238E27FC236}">
                    <a16:creationId xmlns:a16="http://schemas.microsoft.com/office/drawing/2014/main" id="{C21BBE95-1A01-3E25-D39E-AE36E75AE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2209" y="6284236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2E8DF09B-3A29-B7F2-BF6E-0EF1895CEF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5810" y="6280646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21" name="Text Box 2">
                <a:extLst>
                  <a:ext uri="{FF2B5EF4-FFF2-40B4-BE49-F238E27FC236}">
                    <a16:creationId xmlns:a16="http://schemas.microsoft.com/office/drawing/2014/main" id="{BC6CEAC4-0A63-5015-9812-2360877D31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4317" y="4226698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23" name="Text Box 2">
                <a:extLst>
                  <a:ext uri="{FF2B5EF4-FFF2-40B4-BE49-F238E27FC236}">
                    <a16:creationId xmlns:a16="http://schemas.microsoft.com/office/drawing/2014/main" id="{904FCF01-4AE5-EBD6-F862-0DC7AF6C8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2912" y="2156172"/>
                <a:ext cx="2177422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Cycle number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CACB493-D04E-A4F8-9DF8-AEED30BD7B6C}"/>
                  </a:ext>
                </a:extLst>
              </p:cNvPr>
              <p:cNvSpPr/>
              <p:nvPr/>
            </p:nvSpPr>
            <p:spPr>
              <a:xfrm rot="16200000">
                <a:off x="2418116" y="989666"/>
                <a:ext cx="823008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1904269-9795-4D78-ED89-0BC3987472B5}"/>
                  </a:ext>
                </a:extLst>
              </p:cNvPr>
              <p:cNvSpPr/>
              <p:nvPr/>
            </p:nvSpPr>
            <p:spPr>
              <a:xfrm rot="16200000">
                <a:off x="2564971" y="3208906"/>
                <a:ext cx="502256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05EEFE5-6A4E-AB9A-E237-EB8452960D52}"/>
                  </a:ext>
                </a:extLst>
              </p:cNvPr>
              <p:cNvSpPr/>
              <p:nvPr/>
            </p:nvSpPr>
            <p:spPr>
              <a:xfrm rot="16200000">
                <a:off x="2561481" y="5213250"/>
                <a:ext cx="396345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0D1B2D8-D30A-C67E-40ED-B41AD462018A}"/>
                  </a:ext>
                </a:extLst>
              </p:cNvPr>
              <p:cNvSpPr/>
              <p:nvPr/>
            </p:nvSpPr>
            <p:spPr>
              <a:xfrm rot="16200000">
                <a:off x="5402301" y="5216567"/>
                <a:ext cx="327471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F1B7DAE-1512-295C-59D1-4E7BC56E5EE1}"/>
                  </a:ext>
                </a:extLst>
              </p:cNvPr>
              <p:cNvSpPr/>
              <p:nvPr/>
            </p:nvSpPr>
            <p:spPr>
              <a:xfrm rot="16200000">
                <a:off x="5291367" y="1102925"/>
                <a:ext cx="823008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B08C357-EF1B-F1B9-9323-6F825B0FBEA4}"/>
                  </a:ext>
                </a:extLst>
              </p:cNvPr>
              <p:cNvSpPr/>
              <p:nvPr/>
            </p:nvSpPr>
            <p:spPr>
              <a:xfrm rot="16200000">
                <a:off x="5320532" y="3369284"/>
                <a:ext cx="823008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E646473-771A-DC53-A2CB-9E8EE0C8EB57}"/>
                  </a:ext>
                </a:extLst>
              </p:cNvPr>
              <p:cNvSpPr/>
              <p:nvPr/>
            </p:nvSpPr>
            <p:spPr>
              <a:xfrm rot="16200000">
                <a:off x="5401406" y="5264774"/>
                <a:ext cx="499391" cy="2007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Text Box 2">
                <a:extLst>
                  <a:ext uri="{FF2B5EF4-FFF2-40B4-BE49-F238E27FC236}">
                    <a16:creationId xmlns:a16="http://schemas.microsoft.com/office/drawing/2014/main" id="{84D64FCC-E4A7-95CA-6A94-C75DC6B357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971959" y="1116831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Transmittance</a:t>
                </a:r>
              </a:p>
            </p:txBody>
          </p:sp>
          <p:sp>
            <p:nvSpPr>
              <p:cNvPr id="55" name="Text Box 2">
                <a:extLst>
                  <a:ext uri="{FF2B5EF4-FFF2-40B4-BE49-F238E27FC236}">
                    <a16:creationId xmlns:a16="http://schemas.microsoft.com/office/drawing/2014/main" id="{34880A58-5117-23E8-93C5-AE01993D0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971959" y="3174498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D</a:t>
                </a:r>
                <a:r>
                  <a:rPr lang="en-GB" sz="1100" baseline="-250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pct</a:t>
                </a:r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 (%)</a:t>
                </a:r>
              </a:p>
            </p:txBody>
          </p:sp>
          <p:sp>
            <p:nvSpPr>
              <p:cNvPr id="56" name="Text Box 2">
                <a:extLst>
                  <a:ext uri="{FF2B5EF4-FFF2-40B4-BE49-F238E27FC236}">
                    <a16:creationId xmlns:a16="http://schemas.microsoft.com/office/drawing/2014/main" id="{A619CAAF-0065-8636-2213-424C0DA8A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963240" y="5245708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IL (dB)</a:t>
                </a:r>
              </a:p>
            </p:txBody>
          </p:sp>
          <p:sp>
            <p:nvSpPr>
              <p:cNvPr id="61" name="Text Box 2">
                <a:extLst>
                  <a:ext uri="{FF2B5EF4-FFF2-40B4-BE49-F238E27FC236}">
                    <a16:creationId xmlns:a16="http://schemas.microsoft.com/office/drawing/2014/main" id="{DB6243F5-505A-604C-BEE1-B891AB1872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887929" y="3174499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D</a:t>
                </a:r>
                <a:r>
                  <a:rPr lang="en-GB" sz="1100" baseline="-250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pct</a:t>
                </a:r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 (%)</a:t>
                </a:r>
              </a:p>
            </p:txBody>
          </p:sp>
          <p:sp>
            <p:nvSpPr>
              <p:cNvPr id="62" name="Text Box 2">
                <a:extLst>
                  <a:ext uri="{FF2B5EF4-FFF2-40B4-BE49-F238E27FC236}">
                    <a16:creationId xmlns:a16="http://schemas.microsoft.com/office/drawing/2014/main" id="{A1F961E9-352D-4D64-B317-59B52B132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879211" y="5245709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IL (dB)</a:t>
                </a:r>
              </a:p>
            </p:txBody>
          </p:sp>
          <p:sp>
            <p:nvSpPr>
              <p:cNvPr id="63" name="Text Box 2">
                <a:extLst>
                  <a:ext uri="{FF2B5EF4-FFF2-40B4-BE49-F238E27FC236}">
                    <a16:creationId xmlns:a16="http://schemas.microsoft.com/office/drawing/2014/main" id="{D7C3BD7F-9EB1-37C8-F50D-78A3E5ABC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897455" y="1116832"/>
                <a:ext cx="1703749" cy="2325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ctr"/>
                <a:r>
                  <a:rPr lang="en-GB" sz="11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Transmittance</a:t>
                </a:r>
              </a:p>
            </p:txBody>
          </p:sp>
          <p:sp>
            <p:nvSpPr>
              <p:cNvPr id="66" name="Text Box 2">
                <a:extLst>
                  <a:ext uri="{FF2B5EF4-FFF2-40B4-BE49-F238E27FC236}">
                    <a16:creationId xmlns:a16="http://schemas.microsoft.com/office/drawing/2014/main" id="{78FB7405-0026-F4AC-A042-E9AF5ED1D2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8911" y="333174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(b)</a:t>
                </a:r>
              </a:p>
            </p:txBody>
          </p:sp>
          <p:sp>
            <p:nvSpPr>
              <p:cNvPr id="114" name="Text Box 2">
                <a:extLst>
                  <a:ext uri="{FF2B5EF4-FFF2-40B4-BE49-F238E27FC236}">
                    <a16:creationId xmlns:a16="http://schemas.microsoft.com/office/drawing/2014/main" id="{00DEFCA7-B487-367B-A0DE-5CE9222A0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3742" y="2411450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(c)</a:t>
                </a:r>
              </a:p>
            </p:txBody>
          </p:sp>
          <p:sp>
            <p:nvSpPr>
              <p:cNvPr id="116" name="Text Box 2">
                <a:extLst>
                  <a:ext uri="{FF2B5EF4-FFF2-40B4-BE49-F238E27FC236}">
                    <a16:creationId xmlns:a16="http://schemas.microsoft.com/office/drawing/2014/main" id="{5E2A3004-D094-FC17-B539-602F8ED850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8911" y="2409058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(d)</a:t>
                </a:r>
              </a:p>
            </p:txBody>
          </p:sp>
          <p:sp>
            <p:nvSpPr>
              <p:cNvPr id="117" name="Text Box 2">
                <a:extLst>
                  <a:ext uri="{FF2B5EF4-FFF2-40B4-BE49-F238E27FC236}">
                    <a16:creationId xmlns:a16="http://schemas.microsoft.com/office/drawing/2014/main" id="{50218870-2094-A98E-733B-EF59816B5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436" y="4488037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(e)</a:t>
                </a:r>
              </a:p>
            </p:txBody>
          </p:sp>
          <p:sp>
            <p:nvSpPr>
              <p:cNvPr id="119" name="Text Box 2">
                <a:extLst>
                  <a:ext uri="{FF2B5EF4-FFF2-40B4-BE49-F238E27FC236}">
                    <a16:creationId xmlns:a16="http://schemas.microsoft.com/office/drawing/2014/main" id="{F3BC6548-65E4-9E38-4302-C416CA37B6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0605" y="4485645"/>
                <a:ext cx="573435" cy="250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spAutoFit/>
              </a:bodyPr>
              <a:lstStyle/>
              <a:p>
                <a:pPr algn="just"/>
                <a:r>
                  <a:rPr lang="en-GB" sz="1200" dirty="0">
                    <a:latin typeface="Arial" panose="020B0604020202020204" pitchFamily="34" charset="0"/>
                    <a:ea typeface="TH Sarabun PSK"/>
                    <a:cs typeface="TH Sarabun PSK"/>
                  </a:rPr>
                  <a:t>(f)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991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7E11F2-F6F8-EC33-1463-A6570F3E1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8" t="10142" r="8060" b="2402"/>
          <a:stretch>
            <a:fillRect/>
          </a:stretch>
        </p:blipFill>
        <p:spPr>
          <a:xfrm>
            <a:off x="2592244" y="1410917"/>
            <a:ext cx="6336000" cy="36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93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D7C3D3F-355D-8F06-AD0A-752E8562CEF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350597"/>
            <a:ext cx="11520488" cy="5967826"/>
            <a:chOff x="0" y="350597"/>
            <a:chExt cx="11520488" cy="59678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12783E-2DD0-AB4D-183E-567015E79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88" r="4754" b="2496"/>
            <a:stretch>
              <a:fillRect/>
            </a:stretch>
          </p:blipFill>
          <p:spPr>
            <a:xfrm>
              <a:off x="0" y="350597"/>
              <a:ext cx="5760157" cy="596782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1A7895-8690-896A-94DB-8F1C03839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88" r="4754" b="2496"/>
            <a:stretch>
              <a:fillRect/>
            </a:stretch>
          </p:blipFill>
          <p:spPr>
            <a:xfrm>
              <a:off x="5760332" y="350598"/>
              <a:ext cx="5760156" cy="5967825"/>
            </a:xfrm>
            <a:prstGeom prst="rect">
              <a:avLst/>
            </a:prstGeom>
          </p:spPr>
        </p:pic>
        <p:sp>
          <p:nvSpPr>
            <p:cNvPr id="6" name="Text Box 2">
              <a:extLst>
                <a:ext uri="{FF2B5EF4-FFF2-40B4-BE49-F238E27FC236}">
                  <a16:creationId xmlns:a16="http://schemas.microsoft.com/office/drawing/2014/main" id="{232E6D09-CCE3-547C-6D21-C1F79E10B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428" y="507134"/>
              <a:ext cx="579100" cy="37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just"/>
              <a:r>
                <a:rPr lang="en-GB" sz="2000" dirty="0">
                  <a:latin typeface="Arial" panose="020B0604020202020204" pitchFamily="34" charset="0"/>
                  <a:ea typeface="TH Sarabun PSK"/>
                  <a:cs typeface="TH Sarabun PSK"/>
                </a:rPr>
                <a:t>(a)</a:t>
              </a:r>
            </a:p>
          </p:txBody>
        </p:sp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3D24B2A9-4A32-BDD4-D30D-A59B67EF8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5584" y="507134"/>
              <a:ext cx="579100" cy="37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spAutoFit/>
            </a:bodyPr>
            <a:lstStyle/>
            <a:p>
              <a:pPr algn="just"/>
              <a:r>
                <a:rPr lang="en-GB" sz="2000" dirty="0">
                  <a:latin typeface="Arial" panose="020B0604020202020204" pitchFamily="34" charset="0"/>
                  <a:ea typeface="TH Sarabun PSK"/>
                  <a:cs typeface="TH Sarabun PSK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36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B42C72-C724-387C-7232-EDC5BC6BF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7" t="6737" r="6827" b="2242"/>
          <a:stretch>
            <a:fillRect/>
          </a:stretch>
        </p:blipFill>
        <p:spPr>
          <a:xfrm>
            <a:off x="295918" y="0"/>
            <a:ext cx="10928651" cy="648017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A7CCB5-C84D-A601-450B-F12993D6396C}"/>
              </a:ext>
            </a:extLst>
          </p:cNvPr>
          <p:cNvCxnSpPr>
            <a:cxnSpLocks/>
          </p:cNvCxnSpPr>
          <p:nvPr/>
        </p:nvCxnSpPr>
        <p:spPr>
          <a:xfrm>
            <a:off x="5107459" y="2339550"/>
            <a:ext cx="247959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E7C5D5-DCB4-D26A-F237-80C8449E3B05}"/>
              </a:ext>
            </a:extLst>
          </p:cNvPr>
          <p:cNvSpPr txBox="1"/>
          <p:nvPr/>
        </p:nvSpPr>
        <p:spPr>
          <a:xfrm>
            <a:off x="5172161" y="1961980"/>
            <a:ext cx="230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reflection region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88CE41-AA6E-7058-05B4-F2116C543D0A}"/>
              </a:ext>
            </a:extLst>
          </p:cNvPr>
          <p:cNvCxnSpPr>
            <a:cxnSpLocks/>
          </p:cNvCxnSpPr>
          <p:nvPr/>
        </p:nvCxnSpPr>
        <p:spPr>
          <a:xfrm>
            <a:off x="7681783" y="5840863"/>
            <a:ext cx="3101547" cy="0"/>
          </a:xfrm>
          <a:prstGeom prst="straightConnector1">
            <a:avLst/>
          </a:prstGeom>
          <a:ln w="38100">
            <a:solidFill>
              <a:srgbClr val="77037A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1CF54C-DE11-1E8D-A31E-BBF0A46D2D53}"/>
              </a:ext>
            </a:extLst>
          </p:cNvPr>
          <p:cNvCxnSpPr>
            <a:cxnSpLocks/>
          </p:cNvCxnSpPr>
          <p:nvPr/>
        </p:nvCxnSpPr>
        <p:spPr>
          <a:xfrm>
            <a:off x="1029730" y="5845279"/>
            <a:ext cx="4011825" cy="0"/>
          </a:xfrm>
          <a:prstGeom prst="straightConnector1">
            <a:avLst/>
          </a:prstGeom>
          <a:ln w="38100">
            <a:solidFill>
              <a:srgbClr val="00FBFB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0E0D36-057B-2719-14B1-A6C7697893BF}"/>
              </a:ext>
            </a:extLst>
          </p:cNvPr>
          <p:cNvSpPr txBox="1"/>
          <p:nvPr/>
        </p:nvSpPr>
        <p:spPr>
          <a:xfrm>
            <a:off x="3267725" y="5535756"/>
            <a:ext cx="183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BFB"/>
                </a:solidFill>
              </a:rPr>
              <a:t>Stable AR-region</a:t>
            </a:r>
            <a:endParaRPr lang="en-GB" dirty="0">
              <a:solidFill>
                <a:srgbClr val="00FBFB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B8F35-CE45-505E-96D4-48AAC57ACD2C}"/>
              </a:ext>
            </a:extLst>
          </p:cNvPr>
          <p:cNvSpPr txBox="1"/>
          <p:nvPr/>
        </p:nvSpPr>
        <p:spPr>
          <a:xfrm>
            <a:off x="8079266" y="5535756"/>
            <a:ext cx="183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7037A"/>
                </a:solidFill>
              </a:rPr>
              <a:t>Stable AR-region</a:t>
            </a:r>
            <a:endParaRPr lang="en-GB" dirty="0">
              <a:solidFill>
                <a:srgbClr val="770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740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543072-3757-233B-84BE-B32C2482F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" t="6666" b="2516"/>
          <a:stretch>
            <a:fillRect/>
          </a:stretch>
        </p:blipFill>
        <p:spPr>
          <a:xfrm>
            <a:off x="1789275" y="808241"/>
            <a:ext cx="4105465" cy="4861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EFE170-57FA-DADE-C41D-0522204CB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r="4529" b="2516"/>
          <a:stretch>
            <a:fillRect/>
          </a:stretch>
        </p:blipFill>
        <p:spPr>
          <a:xfrm>
            <a:off x="5497373" y="812525"/>
            <a:ext cx="3971772" cy="4857629"/>
          </a:xfrm>
          <a:prstGeom prst="rect">
            <a:avLst/>
          </a:prstGeom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CB3E3DF2-12B4-3697-D3AC-8E30BBCCC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434" y="1109960"/>
            <a:ext cx="384473" cy="23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1134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CF2AFB40-0253-886C-03D1-C9E3B1D44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484" y="1109960"/>
            <a:ext cx="384473" cy="23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1134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57936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A97C23-393C-ED27-FE0F-ECAF5A02B3A7}"/>
              </a:ext>
            </a:extLst>
          </p:cNvPr>
          <p:cNvGrpSpPr>
            <a:grpSpLocks noChangeAspect="1"/>
          </p:cNvGrpSpPr>
          <p:nvPr/>
        </p:nvGrpSpPr>
        <p:grpSpPr>
          <a:xfrm>
            <a:off x="3247154" y="2334439"/>
            <a:ext cx="5026185" cy="1749156"/>
            <a:chOff x="0" y="0"/>
            <a:chExt cx="5276215" cy="18923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1974AE-5221-AF23-B014-D6A57EE34ED6}"/>
                </a:ext>
              </a:extLst>
            </p:cNvPr>
            <p:cNvGrpSpPr/>
            <p:nvPr/>
          </p:nvGrpSpPr>
          <p:grpSpPr>
            <a:xfrm>
              <a:off x="0" y="0"/>
              <a:ext cx="5276215" cy="1892300"/>
              <a:chOff x="0" y="0"/>
              <a:chExt cx="5335797" cy="1913890"/>
            </a:xfrm>
          </p:grpSpPr>
          <p:pic>
            <p:nvPicPr>
              <p:cNvPr id="11" name="Picture 10" descr="A graph with a blue line&#10;&#10;Description automatically generated">
                <a:extLst>
                  <a:ext uri="{FF2B5EF4-FFF2-40B4-BE49-F238E27FC236}">
                    <a16:creationId xmlns:a16="http://schemas.microsoft.com/office/drawing/2014/main" id="{36FFE555-41B6-DF2D-46C4-686DCA25C7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4500"/>
              <a:stretch/>
            </p:blipFill>
            <p:spPr bwMode="auto">
              <a:xfrm>
                <a:off x="0" y="8626"/>
                <a:ext cx="2609850" cy="189801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12" name="Picture 11" descr="A graph with a curved line&#10;&#10;Description automatically generated">
                <a:extLst>
                  <a:ext uri="{FF2B5EF4-FFF2-40B4-BE49-F238E27FC236}">
                    <a16:creationId xmlns:a16="http://schemas.microsoft.com/office/drawing/2014/main" id="{49788106-C9A1-1EDE-E443-0C438C42BF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5325"/>
              <a:stretch/>
            </p:blipFill>
            <p:spPr bwMode="auto">
              <a:xfrm>
                <a:off x="2725947" y="0"/>
                <a:ext cx="2609850" cy="1913890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F7888A4-5193-05FE-6035-C86F786A1E88}"/>
                </a:ext>
              </a:extLst>
            </p:cNvPr>
            <p:cNvCxnSpPr/>
            <p:nvPr/>
          </p:nvCxnSpPr>
          <p:spPr>
            <a:xfrm>
              <a:off x="2250057" y="640151"/>
              <a:ext cx="0" cy="62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FDB12C-F998-C65E-2B99-A8CB85191B46}"/>
                </a:ext>
              </a:extLst>
            </p:cNvPr>
            <p:cNvCxnSpPr/>
            <p:nvPr/>
          </p:nvCxnSpPr>
          <p:spPr>
            <a:xfrm>
              <a:off x="4967377" y="640151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C77A9CB-BECD-5A96-C102-99D2F2D46DF5}"/>
                </a:ext>
              </a:extLst>
            </p:cNvPr>
            <p:cNvCxnSpPr/>
            <p:nvPr/>
          </p:nvCxnSpPr>
          <p:spPr>
            <a:xfrm flipV="1">
              <a:off x="3224842" y="676454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AEB96D17-0AC3-16C2-363E-8AB38E9C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853" y="2444797"/>
            <a:ext cx="292958" cy="18547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FCBBE230-C788-549E-373E-7511200C9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61" y="2431709"/>
            <a:ext cx="292958" cy="18547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81A7B36C-D5AD-2A5A-2293-0E579DD1D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662" y="2780896"/>
            <a:ext cx="636317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solidFill>
                  <a:srgbClr val="196B24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780" baseline="-25000" dirty="0">
                <a:solidFill>
                  <a:srgbClr val="196B24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r</a:t>
            </a:r>
            <a:r>
              <a:rPr lang="en-GB" sz="780" dirty="0">
                <a:solidFill>
                  <a:srgbClr val="196B24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=n</a:t>
            </a:r>
            <a:r>
              <a:rPr lang="en-GB" sz="780" baseline="-25000" dirty="0">
                <a:solidFill>
                  <a:srgbClr val="196B24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a</a:t>
            </a:r>
            <a:r>
              <a:rPr lang="en-GB" sz="780" dirty="0">
                <a:solidFill>
                  <a:srgbClr val="196B24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=1.0</a:t>
            </a: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333B60FF-DBC5-34C3-F44B-354F029BE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8359" y="2951178"/>
            <a:ext cx="461713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solidFill>
                  <a:srgbClr val="1515FF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780" baseline="-25000" dirty="0">
                <a:solidFill>
                  <a:srgbClr val="1515FF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s</a:t>
            </a:r>
            <a:r>
              <a:rPr lang="en-GB" sz="780" dirty="0">
                <a:solidFill>
                  <a:srgbClr val="1515FF"/>
                </a:solidFill>
                <a:latin typeface="Arial" panose="020B0604020202020204" pitchFamily="34" charset="0"/>
                <a:ea typeface="TH Sarabun PSK"/>
                <a:cs typeface="TH Sarabun PSK"/>
              </a:rPr>
              <a:t>=1.5</a:t>
            </a:r>
          </a:p>
        </p:txBody>
      </p:sp>
    </p:spTree>
    <p:extLst>
      <p:ext uri="{BB962C8B-B14F-4D97-AF65-F5344CB8AC3E}">
        <p14:creationId xmlns:p14="http://schemas.microsoft.com/office/powerpoint/2010/main" val="3404099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972D6D58-2774-2DF0-7C4C-E4BCF61414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0" r="7099"/>
          <a:stretch/>
        </p:blipFill>
        <p:spPr bwMode="auto">
          <a:xfrm>
            <a:off x="4171368" y="1908531"/>
            <a:ext cx="2905256" cy="18624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35115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8ACBB4-61B2-962A-7526-43176ABF5743}"/>
              </a:ext>
            </a:extLst>
          </p:cNvPr>
          <p:cNvGrpSpPr/>
          <p:nvPr/>
        </p:nvGrpSpPr>
        <p:grpSpPr>
          <a:xfrm>
            <a:off x="3473382" y="1673716"/>
            <a:ext cx="5119440" cy="1913715"/>
            <a:chOff x="4507370" y="411014"/>
            <a:chExt cx="7223905" cy="27003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B89C2E-D261-4FBD-7B0E-36D1FF73E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6013"/>
            <a:stretch/>
          </p:blipFill>
          <p:spPr bwMode="auto">
            <a:xfrm>
              <a:off x="4507370" y="411014"/>
              <a:ext cx="3602933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2" name="Picture 21" descr="A graph with red and green arrows&#10;&#10;Description automatically generated">
              <a:extLst>
                <a:ext uri="{FF2B5EF4-FFF2-40B4-BE49-F238E27FC236}">
                  <a16:creationId xmlns:a16="http://schemas.microsoft.com/office/drawing/2014/main" id="{88EA67B4-BCCD-14A3-9822-8E96E32AD5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5552"/>
            <a:stretch/>
          </p:blipFill>
          <p:spPr bwMode="auto">
            <a:xfrm>
              <a:off x="8110303" y="411014"/>
              <a:ext cx="3620972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648CED21-64BB-F935-25F9-728CB216A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193" y="1364565"/>
              <a:ext cx="1267532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noAutofit/>
            </a:bodyPr>
            <a:lstStyle/>
            <a:p>
              <a:pPr algn="ctr"/>
              <a:r>
                <a:rPr lang="en-GB" sz="780" dirty="0">
                  <a:solidFill>
                    <a:srgbClr val="12512A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</a:t>
              </a:r>
              <a:r>
                <a:rPr lang="ar-SA" sz="780" dirty="0">
                  <a:solidFill>
                    <a:srgbClr val="12512A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GB" sz="780" dirty="0">
                  <a:solidFill>
                    <a:srgbClr val="12512A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1.18 QWOT</a:t>
              </a: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98398C8C-7CF4-7DF6-C758-242A61F2A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7425" y="2077724"/>
              <a:ext cx="1277043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64802" tIns="32402" rIns="64802" bIns="32402" anchor="t" anchorCtr="0">
              <a:noAutofit/>
            </a:bodyPr>
            <a:lstStyle/>
            <a:p>
              <a:pPr algn="ctr"/>
              <a:r>
                <a:rPr lang="en-GB" sz="780" dirty="0">
                  <a:solidFill>
                    <a:srgbClr val="86313B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 1.47 QWOT</a:t>
              </a:r>
            </a:p>
          </p:txBody>
        </p:sp>
      </p:grpSp>
      <p:sp>
        <p:nvSpPr>
          <p:cNvPr id="5" name="Text Box 2">
            <a:extLst>
              <a:ext uri="{FF2B5EF4-FFF2-40B4-BE49-F238E27FC236}">
                <a16:creationId xmlns:a16="http://schemas.microsoft.com/office/drawing/2014/main" id="{AF027207-819D-A914-A6E7-739BC7C6F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048" y="1847235"/>
            <a:ext cx="905016" cy="22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noAutofit/>
          </a:bodyPr>
          <a:lstStyle/>
          <a:p>
            <a:pPr algn="ctr"/>
            <a:r>
              <a:rPr lang="en-GB" sz="780" dirty="0">
                <a:solidFill>
                  <a:srgbClr val="86313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 0.53 QWOT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C4F75EB-F234-5CBF-0BBC-A13E8865A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144" y="2349479"/>
            <a:ext cx="898276" cy="22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noAutofit/>
          </a:bodyPr>
          <a:lstStyle/>
          <a:p>
            <a:pPr algn="ctr"/>
            <a:r>
              <a:rPr lang="en-GB" sz="780" dirty="0">
                <a:solidFill>
                  <a:srgbClr val="12512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</a:t>
            </a:r>
            <a:r>
              <a:rPr lang="ar-SA" sz="780" dirty="0">
                <a:solidFill>
                  <a:srgbClr val="12512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780" dirty="0">
                <a:solidFill>
                  <a:srgbClr val="12512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0.82 QWOT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3801EE3-1CAB-EA23-DEE4-9A030177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8757" y="1741034"/>
            <a:ext cx="292958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AA382DE-E6E6-82B8-E565-399AF630E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738" y="1737665"/>
            <a:ext cx="292958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61931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2ADBCA-D6A6-9910-70D4-17FFA99EF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" r="1532"/>
          <a:stretch/>
        </p:blipFill>
        <p:spPr bwMode="auto">
          <a:xfrm>
            <a:off x="3445606" y="2653495"/>
            <a:ext cx="2473450" cy="1913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0EBC14-0BB4-6E8C-6D00-93F217795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r="2117"/>
          <a:stretch/>
        </p:blipFill>
        <p:spPr bwMode="auto">
          <a:xfrm>
            <a:off x="5809969" y="2653495"/>
            <a:ext cx="2443358" cy="1913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0D0B4EA-A818-9516-959C-15117063D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842" y="2853464"/>
            <a:ext cx="292958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B09B790E-0D83-AF87-B9EA-AC895D36F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206" y="2854358"/>
            <a:ext cx="292958" cy="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just"/>
            <a:r>
              <a:rPr lang="en-GB" sz="780" dirty="0"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49562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53DF7E74-E12F-4C21-2D04-5494F0B1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9" r="5325"/>
          <a:stretch/>
        </p:blipFill>
        <p:spPr bwMode="auto">
          <a:xfrm>
            <a:off x="4924573" y="1870024"/>
            <a:ext cx="2542523" cy="1913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9521E1-27DC-81BE-6008-49DB65147BC5}"/>
              </a:ext>
            </a:extLst>
          </p:cNvPr>
          <p:cNvSpPr/>
          <p:nvPr/>
        </p:nvSpPr>
        <p:spPr>
          <a:xfrm>
            <a:off x="5657643" y="1870025"/>
            <a:ext cx="1269035" cy="128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1"/>
          </a:p>
        </p:txBody>
      </p:sp>
    </p:spTree>
    <p:extLst>
      <p:ext uri="{BB962C8B-B14F-4D97-AF65-F5344CB8AC3E}">
        <p14:creationId xmlns:p14="http://schemas.microsoft.com/office/powerpoint/2010/main" val="3771676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4DCFF097-E25A-9434-D9E5-91C00A53FF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4" r="7982"/>
          <a:stretch/>
        </p:blipFill>
        <p:spPr bwMode="auto">
          <a:xfrm>
            <a:off x="4950225" y="2615243"/>
            <a:ext cx="2480509" cy="19134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F5C5EC3-0CCF-B58D-5422-1BFC3BD2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239" y="3877271"/>
            <a:ext cx="1058029" cy="22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noAutofit/>
          </a:bodyPr>
          <a:lstStyle/>
          <a:p>
            <a:pPr algn="ctr"/>
            <a:r>
              <a:rPr lang="en-GB" sz="78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Compensator layer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AA919B-DDC1-FED6-A8BC-37A2DDE69700}"/>
              </a:ext>
            </a:extLst>
          </p:cNvPr>
          <p:cNvCxnSpPr>
            <a:cxnSpLocks/>
          </p:cNvCxnSpPr>
          <p:nvPr/>
        </p:nvCxnSpPr>
        <p:spPr>
          <a:xfrm flipH="1" flipV="1">
            <a:off x="5499238" y="3917358"/>
            <a:ext cx="81003" cy="49502"/>
          </a:xfrm>
          <a:prstGeom prst="straightConnector1">
            <a:avLst/>
          </a:prstGeom>
          <a:ln>
            <a:solidFill>
              <a:srgbClr val="BBBB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897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354664-4D6D-CF56-363E-216E97D13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1442" y="1266036"/>
            <a:ext cx="3509428" cy="3948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1238A-1BAD-3EAF-5FEA-2315E5C7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0870" y="1266036"/>
            <a:ext cx="3509428" cy="3948105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6AB05161-78B6-0F36-FDCF-34AD20B56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426" y="1745748"/>
            <a:ext cx="358086" cy="52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ctr"/>
            <a:r>
              <a:rPr lang="en-GB" sz="1501" b="1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2D66ADB-11E7-4E11-124E-0E64D40C5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853" y="1745748"/>
            <a:ext cx="358086" cy="52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ctr"/>
            <a:r>
              <a:rPr lang="en-GB" sz="1501" b="1" dirty="0"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698321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CC76B-1FCF-4E55-8AB9-C5CB0D3E9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431" y="1266036"/>
            <a:ext cx="3513813" cy="3948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FB05B-2C12-341A-6065-2B8054A0D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438" y="1266036"/>
            <a:ext cx="3509428" cy="3948105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648562E1-ABE5-C0E2-815D-B98765E08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948" y="1745748"/>
            <a:ext cx="358086" cy="52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ctr"/>
            <a:r>
              <a:rPr lang="en-GB" sz="1501" b="1" dirty="0"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B734F301-707A-C5FD-6707-3C118FE40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4421" y="1745748"/>
            <a:ext cx="358086" cy="52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64802" tIns="32402" rIns="64802" bIns="32402" anchor="t" anchorCtr="0">
            <a:spAutoFit/>
          </a:bodyPr>
          <a:lstStyle/>
          <a:p>
            <a:pPr algn="ctr"/>
            <a:r>
              <a:rPr lang="en-GB" sz="1501" b="1" dirty="0"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4061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F18D20-C83F-4801-5C29-02FDF1BDF7C1}"/>
              </a:ext>
            </a:extLst>
          </p:cNvPr>
          <p:cNvGrpSpPr/>
          <p:nvPr/>
        </p:nvGrpSpPr>
        <p:grpSpPr>
          <a:xfrm>
            <a:off x="3816870" y="2122257"/>
            <a:ext cx="3886754" cy="1198833"/>
            <a:chOff x="0" y="7952"/>
            <a:chExt cx="5762979" cy="179242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C559DF-8EB1-3519-7A99-DFC9F64AF8BF}"/>
                </a:ext>
              </a:extLst>
            </p:cNvPr>
            <p:cNvGrpSpPr/>
            <p:nvPr/>
          </p:nvGrpSpPr>
          <p:grpSpPr>
            <a:xfrm>
              <a:off x="0" y="7952"/>
              <a:ext cx="5762979" cy="1792427"/>
              <a:chOff x="0" y="7952"/>
              <a:chExt cx="5762979" cy="179242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149770E-4A82-8C47-6743-5D9F07B64CAA}"/>
                  </a:ext>
                </a:extLst>
              </p:cNvPr>
              <p:cNvGrpSpPr/>
              <p:nvPr/>
            </p:nvGrpSpPr>
            <p:grpSpPr>
              <a:xfrm>
                <a:off x="0" y="7952"/>
                <a:ext cx="5762979" cy="1792427"/>
                <a:chOff x="0" y="7952"/>
                <a:chExt cx="5762979" cy="179242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FF272D9A-AA6C-AC95-2A8A-ABDAEB7D7802}"/>
                    </a:ext>
                  </a:extLst>
                </p:cNvPr>
                <p:cNvGrpSpPr/>
                <p:nvPr/>
              </p:nvGrpSpPr>
              <p:grpSpPr>
                <a:xfrm>
                  <a:off x="0" y="7952"/>
                  <a:ext cx="5762979" cy="1792427"/>
                  <a:chOff x="0" y="211782"/>
                  <a:chExt cx="6797630" cy="2309254"/>
                </a:xfrm>
              </p:grpSpPr>
              <p:pic>
                <p:nvPicPr>
                  <p:cNvPr id="13" name="Picture 12" descr="A graph of a function&#10;&#10;Description automatically generated">
                    <a:extLst>
                      <a:ext uri="{FF2B5EF4-FFF2-40B4-BE49-F238E27FC236}">
                        <a16:creationId xmlns:a16="http://schemas.microsoft.com/office/drawing/2014/main" id="{AC58C6B8-E75D-379D-F763-0DF313246E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0" r="3"/>
                  <a:stretch/>
                </p:blipFill>
                <p:spPr>
                  <a:xfrm>
                    <a:off x="0" y="211782"/>
                    <a:ext cx="3359668" cy="2307029"/>
                  </a:xfrm>
                  <a:prstGeom prst="rect">
                    <a:avLst/>
                  </a:prstGeom>
                </p:spPr>
              </p:pic>
              <p:pic>
                <p:nvPicPr>
                  <p:cNvPr id="14" name="Picture 13" descr="A green line on a white background&#10;&#10;Description automatically generated">
                    <a:extLst>
                      <a:ext uri="{FF2B5EF4-FFF2-40B4-BE49-F238E27FC236}">
                        <a16:creationId xmlns:a16="http://schemas.microsoft.com/office/drawing/2014/main" id="{30B66BF1-D097-DECC-F1FF-71190AA46E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2"/>
                  <a:stretch/>
                </p:blipFill>
                <p:spPr bwMode="auto">
                  <a:xfrm>
                    <a:off x="3434317" y="211782"/>
                    <a:ext cx="3363313" cy="2309254"/>
                  </a:xfrm>
                  <a:prstGeom prst="rect">
                    <a:avLst/>
                  </a:prstGeom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</p:grpSp>
            <p:sp>
              <p:nvSpPr>
                <p:cNvPr id="9" name="Text Box 2">
                  <a:extLst>
                    <a:ext uri="{FF2B5EF4-FFF2-40B4-BE49-F238E27FC236}">
                      <a16:creationId xmlns:a16="http://schemas.microsoft.com/office/drawing/2014/main" id="{D0ADAEE1-2210-6DFD-455B-ADF0FBC147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2610" y="115290"/>
                  <a:ext cx="523898" cy="4203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noAutofit/>
                </a:bodyPr>
                <a:lstStyle/>
                <a:p>
                  <a:r>
                    <a:rPr lang="en-US" sz="567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567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708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567" baseline="-250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 </a:t>
                  </a:r>
                  <a:r>
                    <a:rPr lang="en-US" sz="567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1.5</a:t>
                  </a:r>
                  <a:endParaRPr lang="en-GB" sz="708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708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 b="1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708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" name="Text Box 2">
                  <a:extLst>
                    <a:ext uri="{FF2B5EF4-FFF2-40B4-BE49-F238E27FC236}">
                      <a16:creationId xmlns:a16="http://schemas.microsoft.com/office/drawing/2014/main" id="{D06898F4-2B1D-9A43-7583-83A28CC041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13046" y="55397"/>
                  <a:ext cx="530876" cy="3870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noAutofit/>
                </a:bodyPr>
                <a:lstStyle/>
                <a:p>
                  <a:r>
                    <a:rPr lang="en-US" sz="567" dirty="0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567" baseline="-250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1.5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 b="1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1" name="Text Box 2">
                  <a:extLst>
                    <a:ext uri="{FF2B5EF4-FFF2-40B4-BE49-F238E27FC236}">
                      <a16:creationId xmlns:a16="http://schemas.microsoft.com/office/drawing/2014/main" id="{FF5C3CEE-482A-BD80-CF39-20EADA25DE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3088" y="89978"/>
                  <a:ext cx="679943" cy="3478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noAutofit/>
                </a:bodyPr>
                <a:lstStyle/>
                <a:p>
                  <a:r>
                    <a:rPr lang="en-US" sz="567" dirty="0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</a:t>
                  </a:r>
                  <a:r>
                    <a:rPr lang="en-US" sz="567" dirty="0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ar-SA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</a:t>
                  </a:r>
                  <a:r>
                    <a:rPr lang="en-GB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  <a:p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567" baseline="-250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0.96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2" name="Text Box 2">
                  <a:extLst>
                    <a:ext uri="{FF2B5EF4-FFF2-40B4-BE49-F238E27FC236}">
                      <a16:creationId xmlns:a16="http://schemas.microsoft.com/office/drawing/2014/main" id="{1A845EEA-765B-D6AD-5F42-F7DCA40697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5048" y="72551"/>
                  <a:ext cx="639862" cy="4203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64802" tIns="32402" rIns="64802" bIns="32402" anchor="t" anchorCtr="0">
                  <a:noAutofit/>
                </a:bodyPr>
                <a:lstStyle/>
                <a:p>
                  <a:r>
                    <a:rPr lang="en-US" sz="567" dirty="0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</a:t>
                  </a:r>
                  <a:r>
                    <a:rPr lang="en-US" sz="567" dirty="0"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en-GB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/2</a:t>
                  </a:r>
                </a:p>
                <a:p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567" baseline="-250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567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1.00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567" b="1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708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EA5E015F-6F0F-4D6F-77EF-1C4357684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71" y="1323877"/>
                <a:ext cx="3962539" cy="3553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64802" tIns="32402" rIns="64802" bIns="32402" anchor="t" anchorCtr="0">
                <a:noAutofit/>
              </a:bodyPr>
              <a:lstStyle/>
              <a:p>
                <a:r>
                  <a:rPr lang="en-US" sz="708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			 (b)</a:t>
                </a:r>
                <a:endParaRPr lang="en-GB" sz="708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B621B26-390A-DCCF-B11F-F19A8B4C4440}"/>
                </a:ext>
              </a:extLst>
            </p:cNvPr>
            <p:cNvCxnSpPr/>
            <p:nvPr/>
          </p:nvCxnSpPr>
          <p:spPr>
            <a:xfrm flipV="1">
              <a:off x="563088" y="121227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B6CA4C0-7DC6-0D13-B039-B3D486CD468B}"/>
                </a:ext>
              </a:extLst>
            </p:cNvPr>
            <p:cNvCxnSpPr/>
            <p:nvPr/>
          </p:nvCxnSpPr>
          <p:spPr>
            <a:xfrm flipV="1">
              <a:off x="3615047" y="115290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005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5602</TotalTime>
  <Words>319</Words>
  <Application>Microsoft Office PowerPoint</Application>
  <PresentationFormat>Custom</PresentationFormat>
  <Paragraphs>109</Paragraphs>
  <Slides>23</Slides>
  <Notes>1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Chettant Padungatthakij</dc:creator>
  <cp:lastModifiedBy>Chettanat Padungatthakij</cp:lastModifiedBy>
  <cp:revision>44</cp:revision>
  <dcterms:created xsi:type="dcterms:W3CDTF">2026-01-12T00:22:11Z</dcterms:created>
  <dcterms:modified xsi:type="dcterms:W3CDTF">2026-07-17T17:59:54Z</dcterms:modified>
</cp:coreProperties>
</file>