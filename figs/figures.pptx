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67" r:id="rId2"/>
    <p:sldId id="268" r:id="rId3"/>
    <p:sldId id="269" r:id="rId4"/>
    <p:sldId id="270" r:id="rId5"/>
    <p:sldId id="271" r:id="rId6"/>
    <p:sldId id="272" r:id="rId7"/>
    <p:sldId id="275" r:id="rId8"/>
    <p:sldId id="274" r:id="rId9"/>
    <p:sldId id="276" r:id="rId10"/>
    <p:sldId id="277" r:id="rId11"/>
    <p:sldId id="278" r:id="rId12"/>
    <p:sldId id="273" r:id="rId13"/>
    <p:sldId id="266" r:id="rId14"/>
    <p:sldId id="256" r:id="rId15"/>
    <p:sldId id="257" r:id="rId16"/>
    <p:sldId id="258" r:id="rId17"/>
    <p:sldId id="260" r:id="rId18"/>
    <p:sldId id="261" r:id="rId19"/>
    <p:sldId id="262" r:id="rId20"/>
    <p:sldId id="264" r:id="rId21"/>
    <p:sldId id="265" r:id="rId22"/>
    <p:sldId id="25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212FF"/>
    <a:srgbClr val="FFAF24"/>
    <a:srgbClr val="6A6AFF"/>
    <a:srgbClr val="BBBB00"/>
    <a:srgbClr val="12512A"/>
    <a:srgbClr val="86313B"/>
    <a:srgbClr val="65000B"/>
    <a:srgbClr val="1515FF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1" d="100"/>
          <a:sy n="111" d="100"/>
        </p:scale>
        <p:origin x="4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784515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63730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A71AE-8120-C8D7-EDB0-CEA66DDBBB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14C64B-E754-591E-B5E0-1D7B6460CD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AE448-5627-44B8-99E8-28926572CD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CFC3B8-46AC-ED53-655A-106E1564D6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F9916-CB21-4892-3AAD-20E4B4EED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40318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8B533-86E2-5411-120E-799A211C67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1D6E6D-56D1-2ABD-487E-039343BA6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4E7BAE-0868-440D-C75D-608CA0645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17E741-D5B8-B3AA-7B25-CB06153FF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EF9930-5010-AD87-28D3-3DC82EB0BA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34046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D2323C-C118-AB64-F516-33681A9AEC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DAF549-3DE3-666B-38E0-7446119D8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BD5394-1C8A-756A-F922-2708DE6C86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7EF5BA-192D-2B3D-D101-D313281215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FEA6E-7BA4-841C-0835-7709B1A251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74692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37FC5-5336-5CB8-D5BB-AC841481C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30EBC-E9FF-46E6-477A-46D27EDE71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689A98-9F7F-67EB-979A-D227B2E12B3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1A994B-818D-BF08-8529-1AEB975373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0A4E09-C294-BC7D-2845-24CDE4E7DA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E6AAEE-4EF0-EAA7-3E9F-146B744A3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1973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3D4025-F999-03A6-40C9-29C0175646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8C2E59-B4D4-7BED-E95B-01B427C6E9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81259-F8B8-1DFB-956D-338B47E84E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8DF9F5-9E56-D967-1313-5D85647693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66D2D96-E9B9-F774-A6D7-E39D31E12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C7F641-56C9-D177-0F31-6C419609C9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4769730-D40F-650B-4445-B1DFBD525E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BEFD6B-35EF-7CD9-BCDD-3C498C2BBF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62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044AB-82EB-2AB9-1930-ACD29C423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5CF98-015A-8DDC-77E7-A91BCD0AC9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119D6-1782-5496-C45F-E8C0CEA79A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5C8332-3487-7193-5FB7-3E65764B50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073300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3A6DFDB-05E9-F90F-B392-92676B775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A79D57-A0D4-9A12-7229-6D88FB93F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38DACD-911F-DB1E-2716-BC46964C9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21950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DAF48A-0943-D399-49DC-7D5B5358A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7C6CC-3C4A-7E19-F104-5F7FB3E9F1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30B944-C1E6-32C9-5952-ED08EBA5A3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902EE83-D3ED-1422-A428-CFA22792EC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E8AB5D-7F22-6FA9-5832-E0DE89F23D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DC08D0-B3D4-AC28-1763-9B14A945AF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20624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BFF590-9AB9-A343-B330-86C22056C7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1F724A6-3A95-9F30-C9C6-60CE5CBA19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26684-D503-A558-352A-DC6362A673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85477-D821-9F81-4FE3-1D90FC4B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5990604-4DE5-0190-B7FF-C176142279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835D9F-CE69-7722-8742-7931D67EE3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487531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38FEF-4280-EA73-E0AA-FC965E39EB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FC6A4-C06A-3131-05C4-C837CEC6A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D80A0-2049-AC2B-77CF-6EAA241911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B7528-62B6-22AB-05E3-578FACF4D0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B6FE120-F681-861E-F4EB-4D1C34BFC7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7764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39446F-538F-B278-9974-B39FD1D2113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BB492-9492-7BAE-3FAF-F93FBBFF6D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BA59F1-0C15-4AAC-870A-43DCC8E1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2E7FBA-4C5C-E446-A813-75A5F600B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CCD0B5-54A6-8F07-F20B-6D96E37A8D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07878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FEFDF95-7303-BE9E-724E-35A42C149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0B0398-856C-D42A-DD70-CA4CC0333B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F6F6C5-822A-929F-7CDA-1744F8CA49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16/06/2026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E71AC-A9A5-B3E7-F1F0-E6D3E173F1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C2AAB-EF6C-715C-A03F-2F388A52BF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1255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7.png"/><Relationship Id="rId4" Type="http://schemas.openxmlformats.org/officeDocument/2006/relationships/image" Target="../media/image16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0.jpg"/><Relationship Id="rId4" Type="http://schemas.openxmlformats.org/officeDocument/2006/relationships/image" Target="../media/image19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3.jpg"/><Relationship Id="rId4" Type="http://schemas.openxmlformats.org/officeDocument/2006/relationships/image" Target="../media/image2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7CDD06-8B76-FB5D-DF70-E324B0B677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8788F950-945D-6A31-3C9B-00E80BAD30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8212" y="25744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5" name="Text Box 2">
            <a:extLst>
              <a:ext uri="{FF2B5EF4-FFF2-40B4-BE49-F238E27FC236}">
                <a16:creationId xmlns:a16="http://schemas.microsoft.com/office/drawing/2014/main" id="{57D40981-619E-DA43-C382-D807CC099C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12872" y="256667"/>
            <a:ext cx="587544" cy="369332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6429782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B8F0EC-0887-CF59-65E7-B34DD0AA15BE}"/>
              </a:ext>
            </a:extLst>
          </p:cNvPr>
          <p:cNvSpPr/>
          <p:nvPr/>
        </p:nvSpPr>
        <p:spPr>
          <a:xfrm>
            <a:off x="3556236" y="3880739"/>
            <a:ext cx="5281502" cy="195071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Substrate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100CBF4-C87C-8EA4-40E3-75E5BD3CC923}"/>
              </a:ext>
            </a:extLst>
          </p:cNvPr>
          <p:cNvSpPr/>
          <p:nvPr/>
        </p:nvSpPr>
        <p:spPr>
          <a:xfrm>
            <a:off x="3556237" y="2826744"/>
            <a:ext cx="5281498" cy="105399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sz="24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Film</a:t>
            </a:r>
            <a:endParaRPr lang="en-GB" sz="24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8DF0614-9416-BE65-3537-D556EF6446F9}"/>
              </a:ext>
            </a:extLst>
          </p:cNvPr>
          <p:cNvCxnSpPr>
            <a:cxnSpLocks/>
          </p:cNvCxnSpPr>
          <p:nvPr/>
        </p:nvCxnSpPr>
        <p:spPr>
          <a:xfrm flipV="1">
            <a:off x="5778020" y="1699731"/>
            <a:ext cx="2547126" cy="2193709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D091AAD-134C-0EAD-F4A2-6BC8EE5317E6}"/>
              </a:ext>
            </a:extLst>
          </p:cNvPr>
          <p:cNvCxnSpPr>
            <a:cxnSpLocks/>
          </p:cNvCxnSpPr>
          <p:nvPr/>
        </p:nvCxnSpPr>
        <p:spPr>
          <a:xfrm>
            <a:off x="5778021" y="1663700"/>
            <a:ext cx="0" cy="4584700"/>
          </a:xfrm>
          <a:prstGeom prst="straightConnector1">
            <a:avLst/>
          </a:prstGeom>
          <a:ln w="76200">
            <a:solidFill>
              <a:schemeClr val="accent2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E5A4E198-88D5-A962-8272-D77462BC6181}"/>
              </a:ext>
            </a:extLst>
          </p:cNvPr>
          <p:cNvSpPr txBox="1"/>
          <p:nvPr/>
        </p:nvSpPr>
        <p:spPr>
          <a:xfrm>
            <a:off x="6833138" y="181036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75321D-45E2-AB97-A7B5-0408E4773235}"/>
              </a:ext>
            </a:extLst>
          </p:cNvPr>
          <p:cNvSpPr txBox="1"/>
          <p:nvPr/>
        </p:nvSpPr>
        <p:spPr>
          <a:xfrm>
            <a:off x="8070147" y="1808106"/>
            <a:ext cx="5212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R</a:t>
            </a:r>
            <a:r>
              <a:rPr lang="en-US" sz="2400" baseline="-25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90E1AC66-5568-7FAE-96E5-10169FD28F2D}"/>
              </a:ext>
            </a:extLst>
          </p:cNvPr>
          <p:cNvCxnSpPr>
            <a:cxnSpLocks/>
          </p:cNvCxnSpPr>
          <p:nvPr/>
        </p:nvCxnSpPr>
        <p:spPr>
          <a:xfrm flipV="1">
            <a:off x="5778020" y="1685297"/>
            <a:ext cx="1308580" cy="1127013"/>
          </a:xfrm>
          <a:prstGeom prst="straightConnector1">
            <a:avLst/>
          </a:prstGeom>
          <a:ln w="57150">
            <a:solidFill>
              <a:schemeClr val="accent2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ight Brace 65">
            <a:extLst>
              <a:ext uri="{FF2B5EF4-FFF2-40B4-BE49-F238E27FC236}">
                <a16:creationId xmlns:a16="http://schemas.microsoft.com/office/drawing/2014/main" id="{72F1F781-8B83-9D86-1431-22905D416A8E}"/>
              </a:ext>
            </a:extLst>
          </p:cNvPr>
          <p:cNvSpPr/>
          <p:nvPr/>
        </p:nvSpPr>
        <p:spPr>
          <a:xfrm>
            <a:off x="8207277" y="2838188"/>
            <a:ext cx="213360" cy="1030700"/>
          </a:xfrm>
          <a:prstGeom prst="rightBrace">
            <a:avLst>
              <a:gd name="adj1" fmla="val 8333"/>
              <a:gd name="adj2" fmla="val 51479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/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sz="2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𝜆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67" name="TextBox 66">
                <a:extLst>
                  <a:ext uri="{FF2B5EF4-FFF2-40B4-BE49-F238E27FC236}">
                    <a16:creationId xmlns:a16="http://schemas.microsoft.com/office/drawing/2014/main" id="{DA108C06-DFC5-4089-E587-AD31D5C8FD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77507" y="2975136"/>
                <a:ext cx="417102" cy="79130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8" name="TextBox 67">
            <a:extLst>
              <a:ext uri="{FF2B5EF4-FFF2-40B4-BE49-F238E27FC236}">
                <a16:creationId xmlns:a16="http://schemas.microsoft.com/office/drawing/2014/main" id="{B8A2F634-2561-D36F-7A29-B3E4BBF61D72}"/>
              </a:ext>
            </a:extLst>
          </p:cNvPr>
          <p:cNvSpPr txBox="1"/>
          <p:nvPr/>
        </p:nvSpPr>
        <p:spPr>
          <a:xfrm>
            <a:off x="3556236" y="1693806"/>
            <a:ext cx="5613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Air</a:t>
            </a:r>
            <a:endParaRPr lang="en-GB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89332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Picture 23">
            <a:extLst>
              <a:ext uri="{FF2B5EF4-FFF2-40B4-BE49-F238E27FC236}">
                <a16:creationId xmlns:a16="http://schemas.microsoft.com/office/drawing/2014/main" id="{CDA26CED-98F1-D813-8804-C77184064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6" t="3103" r="2366" b="3103"/>
          <a:stretch>
            <a:fillRect/>
          </a:stretch>
        </p:blipFill>
        <p:spPr>
          <a:xfrm>
            <a:off x="491707" y="5020"/>
            <a:ext cx="10834776" cy="6857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2242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286EBC8-52A1-29FF-D24F-B8095CBAD066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14" t="3271" r="5714" b="3271"/>
          <a:stretch>
            <a:fillRect/>
          </a:stretch>
        </p:blipFill>
        <p:spPr>
          <a:xfrm>
            <a:off x="865517" y="-119004"/>
            <a:ext cx="10278129" cy="6971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162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>
            <a:extLst>
              <a:ext uri="{FF2B5EF4-FFF2-40B4-BE49-F238E27FC236}">
                <a16:creationId xmlns:a16="http://schemas.microsoft.com/office/drawing/2014/main" id="{7B01A373-DB2F-AF26-73B5-896B2A3F73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149" b="4149"/>
          <a:stretch/>
        </p:blipFill>
        <p:spPr>
          <a:xfrm>
            <a:off x="828674" y="438150"/>
            <a:ext cx="5267325" cy="6210300"/>
          </a:xfrm>
          <a:prstGeom prst="rect">
            <a:avLst/>
          </a:prstGeom>
        </p:spPr>
      </p:pic>
      <p:sp>
        <p:nvSpPr>
          <p:cNvPr id="17" name="Text Box 2">
            <a:extLst>
              <a:ext uri="{FF2B5EF4-FFF2-40B4-BE49-F238E27FC236}">
                <a16:creationId xmlns:a16="http://schemas.microsoft.com/office/drawing/2014/main" id="{6BE9891A-19D6-BCE9-21C0-D1A66427C2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98168" y="972073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8" name="Text Box 2">
            <a:extLst>
              <a:ext uri="{FF2B5EF4-FFF2-40B4-BE49-F238E27FC236}">
                <a16:creationId xmlns:a16="http://schemas.microsoft.com/office/drawing/2014/main" id="{3FAD142A-B116-89D6-0D5F-8EDFD43A75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76265" y="989325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E666D65-321C-911F-0255-0998D6326B9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12" b="4286"/>
          <a:stretch>
            <a:fillRect/>
          </a:stretch>
        </p:blipFill>
        <p:spPr>
          <a:xfrm>
            <a:off x="5604293" y="438151"/>
            <a:ext cx="5267325" cy="6210300"/>
          </a:xfrm>
          <a:prstGeom prst="rect">
            <a:avLst/>
          </a:prstGeom>
        </p:spPr>
      </p:pic>
      <p:sp>
        <p:nvSpPr>
          <p:cNvPr id="4" name="Text Box 2">
            <a:extLst>
              <a:ext uri="{FF2B5EF4-FFF2-40B4-BE49-F238E27FC236}">
                <a16:creationId xmlns:a16="http://schemas.microsoft.com/office/drawing/2014/main" id="{F676E84B-2D12-31B7-2BEF-FBA82C6A6DD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84006" y="991987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1051889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EB0E810-01F9-53BF-4AE6-7DC36C290D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4" b="4444"/>
          <a:stretch/>
        </p:blipFill>
        <p:spPr>
          <a:xfrm>
            <a:off x="498553" y="-272"/>
            <a:ext cx="5857875" cy="686208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54AD79-6F70-2DC4-0487-9C3F13451C3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444" b="4444"/>
          <a:stretch/>
        </p:blipFill>
        <p:spPr>
          <a:xfrm>
            <a:off x="5803978" y="-272"/>
            <a:ext cx="5854622" cy="6858272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42178682-507D-E8BF-D037-AA4A415449B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30590" y="230021"/>
            <a:ext cx="3237552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Amorphous phase (ON mode)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30791611-81E3-A2A0-9262-E16B37ACAC1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45540" y="230021"/>
            <a:ext cx="327097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 Crystalline phase (OFF mode)</a:t>
            </a:r>
          </a:p>
        </p:txBody>
      </p:sp>
      <p:sp>
        <p:nvSpPr>
          <p:cNvPr id="21" name="Text Box 2">
            <a:extLst>
              <a:ext uri="{FF2B5EF4-FFF2-40B4-BE49-F238E27FC236}">
                <a16:creationId xmlns:a16="http://schemas.microsoft.com/office/drawing/2014/main" id="{58BB3F1C-0ED0-6624-F285-3A3D5E29112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73056" y="5827507"/>
            <a:ext cx="193735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 region</a:t>
            </a:r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A2E3A126-38BB-9AB9-AAE3-F359F19B8D79}"/>
              </a:ext>
            </a:extLst>
          </p:cNvPr>
          <p:cNvCxnSpPr/>
          <p:nvPr/>
        </p:nvCxnSpPr>
        <p:spPr>
          <a:xfrm>
            <a:off x="6545540" y="6133377"/>
            <a:ext cx="1717455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 Box 2">
            <a:extLst>
              <a:ext uri="{FF2B5EF4-FFF2-40B4-BE49-F238E27FC236}">
                <a16:creationId xmlns:a16="http://schemas.microsoft.com/office/drawing/2014/main" id="{75FFEA3B-EA8D-2D2D-2206-2AA88F8D69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2293" y="6085484"/>
            <a:ext cx="17088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h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igh-reflection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3CC17FB-9533-68FE-38EB-BA2D224C0A70}"/>
              </a:ext>
            </a:extLst>
          </p:cNvPr>
          <p:cNvCxnSpPr>
            <a:cxnSpLocks/>
          </p:cNvCxnSpPr>
          <p:nvPr/>
        </p:nvCxnSpPr>
        <p:spPr>
          <a:xfrm>
            <a:off x="1233731" y="6133377"/>
            <a:ext cx="741377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 Box 2">
            <a:extLst>
              <a:ext uri="{FF2B5EF4-FFF2-40B4-BE49-F238E27FC236}">
                <a16:creationId xmlns:a16="http://schemas.microsoft.com/office/drawing/2014/main" id="{3227A217-ECEE-4FD5-D325-E7116B3796D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84162" y="6089294"/>
            <a:ext cx="1736142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4FF6EB6-DF3F-F193-C2AA-E21A81C9D5C8}"/>
              </a:ext>
            </a:extLst>
          </p:cNvPr>
          <p:cNvCxnSpPr>
            <a:cxnSpLocks/>
          </p:cNvCxnSpPr>
          <p:nvPr/>
        </p:nvCxnSpPr>
        <p:spPr>
          <a:xfrm>
            <a:off x="8297499" y="6133377"/>
            <a:ext cx="2772000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89395275-0FC4-C799-D2EB-9274D6ADE9A2}"/>
              </a:ext>
            </a:extLst>
          </p:cNvPr>
          <p:cNvCxnSpPr>
            <a:cxnSpLocks/>
          </p:cNvCxnSpPr>
          <p:nvPr/>
        </p:nvCxnSpPr>
        <p:spPr>
          <a:xfrm>
            <a:off x="1992361" y="6133377"/>
            <a:ext cx="3785739" cy="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8" name="Text Box 2">
            <a:extLst>
              <a:ext uri="{FF2B5EF4-FFF2-40B4-BE49-F238E27FC236}">
                <a16:creationId xmlns:a16="http://schemas.microsoft.com/office/drawing/2014/main" id="{537086FB-D8A1-AAD6-7928-1D37D1B7FB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04420" y="6085484"/>
            <a:ext cx="191045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dirty="0">
                <a:latin typeface="Arial" panose="020B0604020202020204" pitchFamily="34" charset="0"/>
                <a:ea typeface="TH Sarabun PSK"/>
                <a:cs typeface="TH Sarabun PSK"/>
              </a:rPr>
              <a:t>anti</a:t>
            </a:r>
            <a:r>
              <a:rPr lang="en-GB" sz="14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reflection region</a:t>
            </a:r>
          </a:p>
        </p:txBody>
      </p:sp>
    </p:spTree>
    <p:extLst>
      <p:ext uri="{BB962C8B-B14F-4D97-AF65-F5344CB8AC3E}">
        <p14:creationId xmlns:p14="http://schemas.microsoft.com/office/powerpoint/2010/main" val="4005555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09722C-E19A-A09B-6BF9-91D6A9A695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85" t="2647" r="3785" b="2647"/>
          <a:stretch>
            <a:fillRect/>
          </a:stretch>
        </p:blipFill>
        <p:spPr>
          <a:xfrm>
            <a:off x="911281" y="0"/>
            <a:ext cx="10369966" cy="6857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84566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>
            <a:extLst>
              <a:ext uri="{FF2B5EF4-FFF2-40B4-BE49-F238E27FC236}">
                <a16:creationId xmlns:a16="http://schemas.microsoft.com/office/drawing/2014/main" id="{9614A0A1-CA66-2C01-FFE1-CEE8EB4BC4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3585" y="3191771"/>
            <a:ext cx="2983490" cy="383591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0E966266-5458-95CE-5548-1BAE87054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2"/>
          <a:stretch>
            <a:fillRect/>
          </a:stretch>
        </p:blipFill>
        <p:spPr>
          <a:xfrm>
            <a:off x="2803585" y="-77634"/>
            <a:ext cx="2983490" cy="3715391"/>
          </a:xfrm>
          <a:prstGeom prst="rect">
            <a:avLst/>
          </a:prstGeom>
          <a:ln>
            <a:noFill/>
          </a:ln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EF79C04B-E8EF-49A3-2060-5154867773F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35593" y="3191771"/>
            <a:ext cx="2983490" cy="383591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3619BE8-09FF-7B43-8338-BC0B36E7D2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142"/>
          <a:stretch>
            <a:fillRect/>
          </a:stretch>
        </p:blipFill>
        <p:spPr>
          <a:xfrm>
            <a:off x="5135593" y="-77634"/>
            <a:ext cx="2983490" cy="3715391"/>
          </a:xfrm>
          <a:prstGeom prst="rect">
            <a:avLst/>
          </a:prstGeom>
          <a:ln>
            <a:noFill/>
          </a:ln>
        </p:spPr>
      </p:pic>
      <p:sp>
        <p:nvSpPr>
          <p:cNvPr id="38" name="Text Box 2">
            <a:extLst>
              <a:ext uri="{FF2B5EF4-FFF2-40B4-BE49-F238E27FC236}">
                <a16:creationId xmlns:a16="http://schemas.microsoft.com/office/drawing/2014/main" id="{D15F8736-AA4F-97B1-C0F4-CE0BC4F44C2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80" y="384984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9" name="Text Box 2">
            <a:extLst>
              <a:ext uri="{FF2B5EF4-FFF2-40B4-BE49-F238E27FC236}">
                <a16:creationId xmlns:a16="http://schemas.microsoft.com/office/drawing/2014/main" id="{3BD119CD-5434-EAF2-8376-4C624588E24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84983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40" name="Text Box 2">
            <a:extLst>
              <a:ext uri="{FF2B5EF4-FFF2-40B4-BE49-F238E27FC236}">
                <a16:creationId xmlns:a16="http://schemas.microsoft.com/office/drawing/2014/main" id="{13B330B2-991D-405D-66E3-DC06DE1DEFD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5770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</a:t>
            </a:r>
            <a:r>
              <a:rPr lang="en-GB" sz="1200" dirty="0">
                <a:solidFill>
                  <a:schemeClr val="bg1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d</a:t>
            </a:r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41" name="Text Box 2">
            <a:extLst>
              <a:ext uri="{FF2B5EF4-FFF2-40B4-BE49-F238E27FC236}">
                <a16:creationId xmlns:a16="http://schemas.microsoft.com/office/drawing/2014/main" id="{7C05AD5F-B900-E0A1-AC91-8542E05BE1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3637757"/>
            <a:ext cx="494989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200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(c)</a:t>
            </a:r>
          </a:p>
        </p:txBody>
      </p:sp>
      <p:sp>
        <p:nvSpPr>
          <p:cNvPr id="42" name="Text Box 2">
            <a:extLst>
              <a:ext uri="{FF2B5EF4-FFF2-40B4-BE49-F238E27FC236}">
                <a16:creationId xmlns:a16="http://schemas.microsoft.com/office/drawing/2014/main" id="{0BE1C4CC-5C77-06E3-24BD-7B2B22CBBF6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79279" y="46429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TE</a:t>
            </a:r>
          </a:p>
        </p:txBody>
      </p:sp>
      <p:sp>
        <p:nvSpPr>
          <p:cNvPr id="43" name="Text Box 2">
            <a:extLst>
              <a:ext uri="{FF2B5EF4-FFF2-40B4-BE49-F238E27FC236}">
                <a16:creationId xmlns:a16="http://schemas.microsoft.com/office/drawing/2014/main" id="{146D3C36-9575-442F-9B8C-59B8B061D8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11287" y="46428"/>
            <a:ext cx="185854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TM</a:t>
            </a:r>
          </a:p>
        </p:txBody>
      </p:sp>
      <p:sp>
        <p:nvSpPr>
          <p:cNvPr id="44" name="Text Box 2">
            <a:extLst>
              <a:ext uri="{FF2B5EF4-FFF2-40B4-BE49-F238E27FC236}">
                <a16:creationId xmlns:a16="http://schemas.microsoft.com/office/drawing/2014/main" id="{F5BFDB22-66FC-E811-C927-50E0C715FA98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166505" y="1714285"/>
            <a:ext cx="2966383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4-unit-cells edge-filter design</a:t>
            </a:r>
          </a:p>
        </p:txBody>
      </p:sp>
      <p:sp>
        <p:nvSpPr>
          <p:cNvPr id="45" name="Text Box 2">
            <a:extLst>
              <a:ext uri="{FF2B5EF4-FFF2-40B4-BE49-F238E27FC236}">
                <a16:creationId xmlns:a16="http://schemas.microsoft.com/office/drawing/2014/main" id="{D2850973-ADE9-27E7-FD3B-0F696C6E1639}"/>
              </a:ext>
            </a:extLst>
          </p:cNvPr>
          <p:cNvSpPr txBox="1">
            <a:spLocks noChangeArrowheads="1"/>
          </p:cNvSpPr>
          <p:nvPr/>
        </p:nvSpPr>
        <p:spPr bwMode="auto">
          <a:xfrm rot="16200000">
            <a:off x="1309700" y="4823865"/>
            <a:ext cx="267999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sz="1400" b="1" dirty="0">
                <a:latin typeface="Arial" panose="020B0604020202020204" pitchFamily="34" charset="0"/>
                <a:ea typeface="TH Sarabun PSK"/>
                <a:cs typeface="TH Sarabun PSK"/>
              </a:rPr>
              <a:t>5-unit-cells edge-filter design</a:t>
            </a:r>
          </a:p>
        </p:txBody>
      </p:sp>
    </p:spTree>
    <p:extLst>
      <p:ext uri="{BB962C8B-B14F-4D97-AF65-F5344CB8AC3E}">
        <p14:creationId xmlns:p14="http://schemas.microsoft.com/office/powerpoint/2010/main" val="25839495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EE040C26-0105-1F59-EEAB-03FB983CEAC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18"/>
          <a:stretch>
            <a:fillRect/>
          </a:stretch>
        </p:blipFill>
        <p:spPr>
          <a:xfrm>
            <a:off x="1" y="1987826"/>
            <a:ext cx="4216735" cy="298800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9F01624-A124-B643-3B03-F651A4EB080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/>
          <a:stretch>
            <a:fillRect/>
          </a:stretch>
        </p:blipFill>
        <p:spPr>
          <a:xfrm>
            <a:off x="3987632" y="1987826"/>
            <a:ext cx="4216735" cy="2988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2EDB843-9DA9-1EB4-5F44-81B183FA099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520"/>
          <a:stretch>
            <a:fillRect/>
          </a:stretch>
        </p:blipFill>
        <p:spPr>
          <a:xfrm>
            <a:off x="7975263" y="1987826"/>
            <a:ext cx="4216735" cy="2988000"/>
          </a:xfrm>
          <a:prstGeom prst="rect">
            <a:avLst/>
          </a:prstGeom>
        </p:spPr>
      </p:pic>
      <p:sp>
        <p:nvSpPr>
          <p:cNvPr id="5" name="Text Box 2">
            <a:extLst>
              <a:ext uri="{FF2B5EF4-FFF2-40B4-BE49-F238E27FC236}">
                <a16:creationId xmlns:a16="http://schemas.microsoft.com/office/drawing/2014/main" id="{92241068-DABA-E9C3-A73B-E04AA20B087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652" y="1711048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Single-layer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99A1AE28-3884-7973-041D-319FBD78F4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4283" y="1705439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 Two-layers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/TiO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DB388C99-BEAA-7F8E-F94E-5B16D89194D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just"/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(</a:t>
                </a:r>
                <a:r>
                  <a:rPr lang="en-GB" sz="13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c</a:t>
                </a:r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) Edge-filter design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300" b="1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𝐌𝐠𝐅</m:t>
                        </m:r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  <m:sup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𝟓</m:t>
                        </m:r>
                      </m:sup>
                    </m:sSup>
                  </m:oMath>
                </a14:m>
                <a:endParaRPr lang="en-GB" sz="13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DB388C99-BEAA-7F8E-F94E-5B16D8919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blipFill>
                <a:blip r:embed="rId5"/>
                <a:stretch>
                  <a:fillRect l="-373" b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24847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Box 2">
            <a:extLst>
              <a:ext uri="{FF2B5EF4-FFF2-40B4-BE49-F238E27FC236}">
                <a16:creationId xmlns:a16="http://schemas.microsoft.com/office/drawing/2014/main" id="{3722726E-9D0F-633C-0D2D-BB4C6A009C8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652" y="1711048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Single-layer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1D00D169-D2F3-BEF0-8513-9D2E99BC0A6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4283" y="1705439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 Two-layers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/TiO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164FE6B1-FAA3-FB4F-70AE-BDFC9FD9BBA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just"/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(</a:t>
                </a:r>
                <a:r>
                  <a:rPr lang="en-GB" sz="13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c</a:t>
                </a:r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) Edge-filter design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300" b="1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𝐌𝐠𝐅</m:t>
                        </m:r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  <m:sup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𝟓</m:t>
                        </m:r>
                      </m:sup>
                    </m:sSup>
                  </m:oMath>
                </a14:m>
                <a:endParaRPr lang="en-GB" sz="13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164FE6B1-FAA3-FB4F-70AE-BDFC9FD9BB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blipFill>
                <a:blip r:embed="rId2"/>
                <a:stretch>
                  <a:fillRect l="-373" b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F4B570C0-0E3D-34F7-D76A-257CE161CE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73"/>
          <a:stretch>
            <a:fillRect/>
          </a:stretch>
        </p:blipFill>
        <p:spPr>
          <a:xfrm>
            <a:off x="3632" y="2013216"/>
            <a:ext cx="4214670" cy="29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10F2CFE-5179-83B6-5338-4E4914E4018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4066112" y="2018825"/>
            <a:ext cx="4206317" cy="2988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AD3B1FD-3143-8B08-F70A-2593605E5B3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85"/>
          <a:stretch>
            <a:fillRect/>
          </a:stretch>
        </p:blipFill>
        <p:spPr>
          <a:xfrm>
            <a:off x="8053743" y="2013216"/>
            <a:ext cx="4206315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308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Box 2">
            <a:extLst>
              <a:ext uri="{FF2B5EF4-FFF2-40B4-BE49-F238E27FC236}">
                <a16:creationId xmlns:a16="http://schemas.microsoft.com/office/drawing/2014/main" id="{22DD4592-C813-C159-9140-B52E7561EE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6652" y="1711048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 Single-layer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891522A2-9C35-6074-051C-2C3A338AD3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34283" y="1705439"/>
            <a:ext cx="3269974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 Two-layers design (Sb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Se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3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/TiO</a:t>
            </a:r>
            <a:r>
              <a:rPr lang="en-GB" sz="1400" b="1" baseline="-250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2</a:t>
            </a:r>
            <a:r>
              <a:rPr lang="en-GB" sz="1400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 Box 2">
                <a:extLst>
                  <a:ext uri="{FF2B5EF4-FFF2-40B4-BE49-F238E27FC236}">
                    <a16:creationId xmlns:a16="http://schemas.microsoft.com/office/drawing/2014/main" id="{40AFA504-9F42-ED86-D381-969A7B8B696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spAutoFit/>
              </a:bodyPr>
              <a:lstStyle/>
              <a:p>
                <a:pPr algn="just"/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(</a:t>
                </a:r>
                <a:r>
                  <a:rPr lang="en-GB" sz="13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c</a:t>
                </a:r>
                <a:r>
                  <a:rPr lang="en-GB" sz="1300" b="1" dirty="0">
                    <a:effectLst/>
                    <a:latin typeface="Arial" panose="020B0604020202020204" pitchFamily="34" charset="0"/>
                    <a:ea typeface="TH Sarabun PSK"/>
                    <a:cs typeface="TH Sarabun PSK"/>
                  </a:rPr>
                  <a:t>) Edge-filter design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1300" b="1" i="1" smtClean="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(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𝐌𝐠𝐅</m:t>
                        </m:r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/</m:t>
                        </m:r>
                        <m:f>
                          <m:fPr>
                            <m:ctrlP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𝑺𝒃𝑺𝒆</m:t>
                            </m:r>
                          </m:num>
                          <m:den>
                            <m:r>
                              <a:rPr lang="en-GB" sz="1300" b="1" i="1">
                                <a:effectLst/>
                                <a:latin typeface="Cambria Math" panose="02040503050406030204" pitchFamily="18" charset="0"/>
                                <a:ea typeface="Yu Gothic" panose="020B0400000000000000" pitchFamily="34" charset="-128"/>
                                <a:cs typeface="Times New Roman" panose="02020603050405020304" pitchFamily="18" charset="0"/>
                              </a:rPr>
                              <m:t>𝟐</m:t>
                            </m:r>
                          </m:den>
                        </m:f>
                        <m:r>
                          <a:rPr lang="en-GB" sz="1300" b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)</m:t>
                        </m:r>
                      </m:e>
                      <m:sup>
                        <m:r>
                          <a:rPr lang="en-GB" sz="1300" b="1" i="1">
                            <a:effectLst/>
                            <a:latin typeface="Cambria Math" panose="02040503050406030204" pitchFamily="18" charset="0"/>
                            <a:ea typeface="Yu Gothic" panose="020B0400000000000000" pitchFamily="34" charset="-128"/>
                            <a:cs typeface="Times New Roman" panose="02020603050405020304" pitchFamily="18" charset="0"/>
                          </a:rPr>
                          <m:t>𝟓</m:t>
                        </m:r>
                      </m:sup>
                    </m:sSup>
                  </m:oMath>
                </a14:m>
                <a:endParaRPr lang="en-GB" sz="1300" b="1" dirty="0">
                  <a:effectLst/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mc:Choice>
        <mc:Fallback>
          <p:sp>
            <p:nvSpPr>
              <p:cNvPr id="4" name="Text Box 2">
                <a:extLst>
                  <a:ext uri="{FF2B5EF4-FFF2-40B4-BE49-F238E27FC236}">
                    <a16:creationId xmlns:a16="http://schemas.microsoft.com/office/drawing/2014/main" id="{40AFA504-9F42-ED86-D381-969A7B8B69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521914" y="1661453"/>
                <a:ext cx="3269974" cy="383375"/>
              </a:xfrm>
              <a:prstGeom prst="rect">
                <a:avLst/>
              </a:prstGeom>
              <a:blipFill>
                <a:blip r:embed="rId2"/>
                <a:stretch>
                  <a:fillRect l="-373" b="-3226"/>
                </a:stretch>
              </a:blipFill>
              <a:ln w="9525">
                <a:noFill/>
                <a:miter lim="800000"/>
                <a:headEnd/>
                <a:tailEnd/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BE62718D-CC86-451E-CDBB-792DF46D479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0" y="2044828"/>
            <a:ext cx="4211700" cy="2988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9CD10C-B0D5-8DF3-6BAA-9BF642DD9E6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3990150" y="2046826"/>
            <a:ext cx="4211700" cy="2988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78F51E6-7DAD-FB1A-ED8D-BDEBE5AFC33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407"/>
          <a:stretch>
            <a:fillRect/>
          </a:stretch>
        </p:blipFill>
        <p:spPr>
          <a:xfrm>
            <a:off x="7980300" y="2044828"/>
            <a:ext cx="4211700" cy="29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2085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492670" y="-2513"/>
            <a:ext cx="5793111" cy="68605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725067" y="3531"/>
            <a:ext cx="5604461" cy="685446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1744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66039" y="423234"/>
            <a:ext cx="542519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600" dirty="0">
                <a:effectLst/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E794287-A650-F804-D780-B6D8B629345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5481" y="2185811"/>
            <a:ext cx="3830518" cy="4309332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9941F80C-8BBB-47EE-3621-AFEDFC8281F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9" y="2185811"/>
            <a:ext cx="3830518" cy="4309332"/>
          </a:xfrm>
          <a:prstGeom prst="rect">
            <a:avLst/>
          </a:prstGeom>
        </p:spPr>
      </p:pic>
      <p:sp>
        <p:nvSpPr>
          <p:cNvPr id="9" name="Text Box 2">
            <a:extLst>
              <a:ext uri="{FF2B5EF4-FFF2-40B4-BE49-F238E27FC236}">
                <a16:creationId xmlns:a16="http://schemas.microsoft.com/office/drawing/2014/main" id="{24E84B17-C226-ED71-FBA9-88BFCAE0C4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63619" y="2297262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0" name="Text Box 2">
            <a:extLst>
              <a:ext uri="{FF2B5EF4-FFF2-40B4-BE49-F238E27FC236}">
                <a16:creationId xmlns:a16="http://schemas.microsoft.com/office/drawing/2014/main" id="{C0420F42-88D3-F7AD-1429-7B3AF848A9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87787" y="2296482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34772676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2549842" y="2151063"/>
            <a:ext cx="7092315" cy="2468187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23540" y="2306787"/>
            <a:ext cx="413385" cy="26161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68354" y="2288318"/>
            <a:ext cx="413385" cy="26035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32794" y="2781048"/>
            <a:ext cx="89789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1100" baseline="-250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1100" dirty="0">
                <a:solidFill>
                  <a:srgbClr val="196B24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16613" y="3021329"/>
            <a:ext cx="651510" cy="26098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1100" baseline="-250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1100" dirty="0">
                <a:solidFill>
                  <a:srgbClr val="1515FF"/>
                </a:solidFill>
                <a:effectLst/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3853976" y="1550077"/>
            <a:ext cx="4099529" cy="2628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2869070" y="1218734"/>
            <a:ext cx="7223905" cy="2700391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</a:t>
              </a:r>
              <a:r>
                <a:rPr lang="en-GB" sz="110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1100" dirty="0">
                  <a:solidFill>
                    <a:srgbClr val="12512A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/>
              <a:r>
                <a:rPr lang="en-GB" sz="1100" dirty="0">
                  <a:solidFill>
                    <a:srgbClr val="86313B"/>
                  </a:solidFill>
                  <a:effectLst/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70536" y="1463583"/>
            <a:ext cx="1277043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</a:t>
            </a:r>
            <a:r>
              <a:rPr lang="en-GB" sz="110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0.53</a:t>
            </a:r>
            <a:r>
              <a:rPr lang="en-GB" sz="1100" dirty="0">
                <a:solidFill>
                  <a:srgbClr val="86313B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3113" y="2172285"/>
            <a:ext cx="1267532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110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</a:t>
            </a:r>
            <a:r>
              <a:rPr lang="en-GB" sz="1100" dirty="0">
                <a:solidFill>
                  <a:srgbClr val="12512A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56418" y="131372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58861" y="1308972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2829877" y="2601276"/>
            <a:ext cx="3490219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6166166" y="2601276"/>
            <a:ext cx="3447756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687632" y="2883446"/>
            <a:ext cx="413385" cy="2616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023921" y="2884706"/>
            <a:ext cx="413385" cy="260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just"/>
            <a:r>
              <a:rPr lang="en-GB" sz="1100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16805" y="1495741"/>
            <a:ext cx="3587685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951220" y="1495741"/>
            <a:ext cx="1790700" cy="18065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3000" y="2547301"/>
            <a:ext cx="3500180" cy="270000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727700" y="4328110"/>
            <a:ext cx="1492957" cy="31250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noAutofit/>
          </a:bodyPr>
          <a:lstStyle/>
          <a:p>
            <a:pPr algn="ctr"/>
            <a:r>
              <a:rPr lang="en-GB" sz="1100" dirty="0"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727700" y="4384675"/>
            <a:ext cx="114300" cy="69850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17826" y="643467"/>
            <a:ext cx="4952059" cy="557106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969885" y="643467"/>
            <a:ext cx="4952059" cy="5571066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71629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23688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7752" y="643467"/>
            <a:ext cx="4958248" cy="557106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9094" y="643467"/>
            <a:ext cx="4952059" cy="5571066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90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52897" y="1320375"/>
            <a:ext cx="505286" cy="3693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91440" tIns="45720" rIns="91440" bIns="45720" anchor="t" anchorCtr="0">
            <a:spAutoFit/>
          </a:bodyPr>
          <a:lstStyle/>
          <a:p>
            <a:pPr algn="ctr"/>
            <a:r>
              <a:rPr lang="en-GB" b="1" dirty="0">
                <a:effectLst/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353753" y="1851660"/>
            <a:ext cx="5484494" cy="1691640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91440" tIns="45720" rIns="91440" bIns="45720" anchor="t" anchorCtr="0">
                  <a:noAutofit/>
                </a:bodyPr>
                <a:lstStyle/>
                <a:p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800" dirty="0">
                      <a:effectLst/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8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800" baseline="-250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800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800" b="1" dirty="0">
                      <a:effectLst/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1000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91440" tIns="45720" rIns="91440" bIns="45720" anchor="t" anchorCtr="0">
                <a:noAutofit/>
              </a:bodyPr>
              <a:lstStyle/>
              <a:p>
                <a:r>
                  <a:rPr lang="en-US" sz="1000" b="1" dirty="0">
                    <a:effectLst/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1000" dirty="0">
                  <a:effectLst/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4079</TotalTime>
  <Words>252</Words>
  <Application>Microsoft Office PowerPoint</Application>
  <PresentationFormat>Widescreen</PresentationFormat>
  <Paragraphs>72</Paragraphs>
  <Slides>22</Slides>
  <Notes>3</Notes>
  <HiddenSlides>11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9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22</cp:revision>
  <dcterms:created xsi:type="dcterms:W3CDTF">2026-01-12T00:22:11Z</dcterms:created>
  <dcterms:modified xsi:type="dcterms:W3CDTF">2026-06-17T12:23:42Z</dcterms:modified>
</cp:coreProperties>
</file>