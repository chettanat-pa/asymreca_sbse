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7" r:id="rId2"/>
    <p:sldId id="268" r:id="rId3"/>
    <p:sldId id="270" r:id="rId4"/>
    <p:sldId id="271" r:id="rId5"/>
    <p:sldId id="272" r:id="rId6"/>
    <p:sldId id="275" r:id="rId7"/>
    <p:sldId id="274" r:id="rId8"/>
    <p:sldId id="284" r:id="rId9"/>
    <p:sldId id="279" r:id="rId10"/>
    <p:sldId id="280" r:id="rId11"/>
    <p:sldId id="273" r:id="rId12"/>
    <p:sldId id="256" r:id="rId13"/>
    <p:sldId id="257" r:id="rId14"/>
    <p:sldId id="258" r:id="rId15"/>
    <p:sldId id="260" r:id="rId16"/>
    <p:sldId id="261" r:id="rId17"/>
    <p:sldId id="262" r:id="rId18"/>
    <p:sldId id="264" r:id="rId19"/>
    <p:sldId id="265" r:id="rId20"/>
    <p:sldId id="25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044" autoAdjust="0"/>
  </p:normalViewPr>
  <p:slideViewPr>
    <p:cSldViewPr snapToGrid="0">
      <p:cViewPr varScale="1">
        <p:scale>
          <a:sx n="110" d="100"/>
          <a:sy n="110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jpg"/><Relationship Id="rId7" Type="http://schemas.openxmlformats.org/officeDocument/2006/relationships/image" Target="../media/image19.jpg"/><Relationship Id="rId12" Type="http://schemas.openxmlformats.org/officeDocument/2006/relationships/image" Target="../media/image2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jpg"/><Relationship Id="rId4" Type="http://schemas.openxmlformats.org/officeDocument/2006/relationships/image" Target="../media/image16.jpg"/><Relationship Id="rId9" Type="http://schemas.openxmlformats.org/officeDocument/2006/relationships/image" Target="../media/image21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0" b="2516"/>
          <a:stretch>
            <a:fillRect/>
          </a:stretch>
        </p:blipFill>
        <p:spPr>
          <a:xfrm>
            <a:off x="0" y="163903"/>
            <a:ext cx="12192000" cy="652157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95D1B0FB-4C6A-A250-B447-7194D30483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6" t="10289" r="7646" b="4783"/>
          <a:stretch>
            <a:fillRect/>
          </a:stretch>
        </p:blipFill>
        <p:spPr>
          <a:xfrm>
            <a:off x="773596" y="-3726"/>
            <a:ext cx="10644809" cy="686090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3D8035A-B448-2C17-6385-F156001662E3}"/>
              </a:ext>
            </a:extLst>
          </p:cNvPr>
          <p:cNvGrpSpPr/>
          <p:nvPr/>
        </p:nvGrpSpPr>
        <p:grpSpPr>
          <a:xfrm>
            <a:off x="7686031" y="209005"/>
            <a:ext cx="3436452" cy="2664824"/>
            <a:chOff x="7550331" y="156754"/>
            <a:chExt cx="3637283" cy="2820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CD9EE2-039A-6260-1B43-D0467B554397}"/>
                </a:ext>
              </a:extLst>
            </p:cNvPr>
            <p:cNvSpPr/>
            <p:nvPr/>
          </p:nvSpPr>
          <p:spPr>
            <a:xfrm>
              <a:off x="7550331" y="156754"/>
              <a:ext cx="3561806" cy="282056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931ABE6-B3AC-F519-0AE7-566D3AA44722}"/>
                </a:ext>
              </a:extLst>
            </p:cNvPr>
            <p:cNvGrpSpPr/>
            <p:nvPr/>
          </p:nvGrpSpPr>
          <p:grpSpPr>
            <a:xfrm>
              <a:off x="7627796" y="213409"/>
              <a:ext cx="3559818" cy="2686545"/>
              <a:chOff x="7955140" y="160927"/>
              <a:chExt cx="3654840" cy="275825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DDFE5320-B33B-51DD-1AA6-59E6DB5CAE80}"/>
                  </a:ext>
                </a:extLst>
              </p:cNvPr>
              <p:cNvGrpSpPr/>
              <p:nvPr/>
            </p:nvGrpSpPr>
            <p:grpSpPr>
              <a:xfrm>
                <a:off x="7955140" y="169814"/>
                <a:ext cx="3654840" cy="2749369"/>
                <a:chOff x="3556236" y="1663700"/>
                <a:chExt cx="5660489" cy="4258129"/>
              </a:xfrm>
              <a:effectLst/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34B8F0EC-0887-CF59-65E7-B34DD0AA15BE}"/>
                    </a:ext>
                  </a:extLst>
                </p:cNvPr>
                <p:cNvSpPr/>
                <p:nvPr/>
              </p:nvSpPr>
              <p:spPr>
                <a:xfrm>
                  <a:off x="3556236" y="3880739"/>
                  <a:ext cx="5281502" cy="1570827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SiO</a:t>
                  </a:r>
                  <a:r>
                    <a:rPr lang="en-US" sz="1600" baseline="-250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 </a:t>
                  </a:r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substrate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C100CBF4-C87C-8EA4-40E3-75E5BD3CC923}"/>
                    </a:ext>
                  </a:extLst>
                </p:cNvPr>
                <p:cNvSpPr/>
                <p:nvPr/>
              </p:nvSpPr>
              <p:spPr>
                <a:xfrm>
                  <a:off x="3556237" y="2826744"/>
                  <a:ext cx="5281498" cy="1053996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Film</a:t>
                  </a:r>
                  <a:endParaRPr lang="en-GB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18DF0614-9416-BE65-3537-D556EF6446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99730"/>
                  <a:ext cx="2547126" cy="2193708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AD091AAD-134C-0EAD-F4A2-6BC8EE531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68552" y="1663700"/>
                  <a:ext cx="0" cy="4258129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5A4E198-88D5-A962-8272-D77462BC6181}"/>
                    </a:ext>
                  </a:extLst>
                </p:cNvPr>
                <p:cNvSpPr txBox="1"/>
                <p:nvPr/>
              </p:nvSpPr>
              <p:spPr>
                <a:xfrm>
                  <a:off x="7225865" y="166596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75321D-45E2-AB97-A7B5-0408E4773235}"/>
                    </a:ext>
                  </a:extLst>
                </p:cNvPr>
                <p:cNvSpPr txBox="1"/>
                <p:nvPr/>
              </p:nvSpPr>
              <p:spPr>
                <a:xfrm>
                  <a:off x="8462875" y="1663700"/>
                  <a:ext cx="753850" cy="569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  <a:r>
                    <a:rPr lang="en-US" sz="1600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1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90E1AC66-5568-7FAE-96E5-10169FD28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68551" y="1685297"/>
                  <a:ext cx="1308579" cy="1127012"/>
                </a:xfrm>
                <a:prstGeom prst="straightConnector1">
                  <a:avLst/>
                </a:prstGeom>
                <a:ln w="57150">
                  <a:solidFill>
                    <a:schemeClr val="accent2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Right Brace 65">
                  <a:extLst>
                    <a:ext uri="{FF2B5EF4-FFF2-40B4-BE49-F238E27FC236}">
                      <a16:creationId xmlns:a16="http://schemas.microsoft.com/office/drawing/2014/main" id="{72F1F781-8B83-9D86-1431-22905D416A8E}"/>
                    </a:ext>
                  </a:extLst>
                </p:cNvPr>
                <p:cNvSpPr/>
                <p:nvPr/>
              </p:nvSpPr>
              <p:spPr>
                <a:xfrm>
                  <a:off x="7645641" y="2838189"/>
                  <a:ext cx="213360" cy="1030700"/>
                </a:xfrm>
                <a:prstGeom prst="rightBrace">
                  <a:avLst>
                    <a:gd name="adj1" fmla="val 8333"/>
                    <a:gd name="adj2" fmla="val 51479"/>
                  </a:avLst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GB" sz="1600" i="1" dirty="0"/>
                        <a:t>OT</a:t>
                      </a:r>
                      <a:r>
                        <a:rPr lang="en-GB" sz="1600" dirty="0"/>
                        <a:t> = </a:t>
                      </a:r>
                      <a14:m>
                        <m:oMath xmlns:m="http://schemas.openxmlformats.org/officeDocument/2006/math">
                          <m:f>
                            <m:fPr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a14:m>
                      <a:endParaRPr lang="en-GB" sz="1600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DA108C06-DFC5-4089-E587-AD31D5C8FD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59927" y="2963721"/>
                      <a:ext cx="1094861" cy="70130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5660" r="-1887" b="-1617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B8A2F634-2561-D36F-7A29-B3E4BBF61D72}"/>
                    </a:ext>
                  </a:extLst>
                </p:cNvPr>
                <p:cNvSpPr txBox="1"/>
                <p:nvPr/>
              </p:nvSpPr>
              <p:spPr>
                <a:xfrm>
                  <a:off x="3556236" y="1685298"/>
                  <a:ext cx="673301" cy="5243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Air</a:t>
                  </a:r>
                  <a:endParaRPr lang="en-GB" sz="16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99031D-E2B1-E1B6-51F3-80E9C3D09253}"/>
                  </a:ext>
                </a:extLst>
              </p:cNvPr>
              <p:cNvSpPr txBox="1"/>
              <p:nvPr/>
            </p:nvSpPr>
            <p:spPr>
              <a:xfrm rot="16200000">
                <a:off x="8657803" y="672768"/>
                <a:ext cx="1371273" cy="3475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Incident light</a:t>
                </a:r>
                <a:endParaRPr lang="en-GB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0936" r="7937" b="4780"/>
          <a:stretch>
            <a:fillRect/>
          </a:stretch>
        </p:blipFill>
        <p:spPr>
          <a:xfrm>
            <a:off x="1123449" y="452846"/>
            <a:ext cx="9762266" cy="628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6" t="11053" b="4149"/>
          <a:stretch>
            <a:fillRect/>
          </a:stretch>
        </p:blipFill>
        <p:spPr>
          <a:xfrm>
            <a:off x="1006460" y="905690"/>
            <a:ext cx="5089539" cy="5742759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16" r="3376" b="4285"/>
          <a:stretch>
            <a:fillRect/>
          </a:stretch>
        </p:blipFill>
        <p:spPr>
          <a:xfrm>
            <a:off x="5604293" y="905691"/>
            <a:ext cx="5089539" cy="574275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1" b="4444"/>
          <a:stretch>
            <a:fillRect/>
          </a:stretch>
        </p:blipFill>
        <p:spPr>
          <a:xfrm>
            <a:off x="498553" y="230020"/>
            <a:ext cx="5857875" cy="663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03" b="4444"/>
          <a:stretch>
            <a:fillRect/>
          </a:stretch>
        </p:blipFill>
        <p:spPr>
          <a:xfrm>
            <a:off x="5803978" y="230020"/>
            <a:ext cx="5854622" cy="6627979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590" y="230021"/>
            <a:ext cx="32375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Amorphous phase (ON mode)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5540" y="230021"/>
            <a:ext cx="327097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 Crystalline phase (OFF mode)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056" y="5827507"/>
            <a:ext cx="19373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2E3A126-38BB-9AB9-AAE3-F359F19B8D79}"/>
              </a:ext>
            </a:extLst>
          </p:cNvPr>
          <p:cNvCxnSpPr/>
          <p:nvPr/>
        </p:nvCxnSpPr>
        <p:spPr>
          <a:xfrm>
            <a:off x="6545540" y="6133377"/>
            <a:ext cx="17174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Box 2">
            <a:extLst>
              <a:ext uri="{FF2B5EF4-FFF2-40B4-BE49-F238E27FC236}">
                <a16:creationId xmlns:a16="http://schemas.microsoft.com/office/drawing/2014/main" id="{75FFEA3B-EA8D-2D2D-2206-2AA88F8D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93" y="6085484"/>
            <a:ext cx="17088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CC17FB-9533-68FE-38EB-BA2D224C0A70}"/>
              </a:ext>
            </a:extLst>
          </p:cNvPr>
          <p:cNvCxnSpPr>
            <a:cxnSpLocks/>
          </p:cNvCxnSpPr>
          <p:nvPr/>
        </p:nvCxnSpPr>
        <p:spPr>
          <a:xfrm>
            <a:off x="1233731" y="6133377"/>
            <a:ext cx="7413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 Box 2">
            <a:extLst>
              <a:ext uri="{FF2B5EF4-FFF2-40B4-BE49-F238E27FC236}">
                <a16:creationId xmlns:a16="http://schemas.microsoft.com/office/drawing/2014/main" id="{3227A217-ECEE-4FD5-D325-E7116B379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4162" y="6089294"/>
            <a:ext cx="173614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FF6EB6-DF3F-F193-C2AA-E21A81C9D5C8}"/>
              </a:ext>
            </a:extLst>
          </p:cNvPr>
          <p:cNvCxnSpPr>
            <a:cxnSpLocks/>
          </p:cNvCxnSpPr>
          <p:nvPr/>
        </p:nvCxnSpPr>
        <p:spPr>
          <a:xfrm>
            <a:off x="8297499" y="6133377"/>
            <a:ext cx="277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395275-0FC4-C799-D2EB-9274D6ADE9A2}"/>
              </a:ext>
            </a:extLst>
          </p:cNvPr>
          <p:cNvCxnSpPr>
            <a:cxnSpLocks/>
          </p:cNvCxnSpPr>
          <p:nvPr/>
        </p:nvCxnSpPr>
        <p:spPr>
          <a:xfrm>
            <a:off x="1992361" y="6133377"/>
            <a:ext cx="3785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 Box 2">
            <a:extLst>
              <a:ext uri="{FF2B5EF4-FFF2-40B4-BE49-F238E27FC236}">
                <a16:creationId xmlns:a16="http://schemas.microsoft.com/office/drawing/2014/main" id="{537086FB-D8A1-AAD6-7928-1D37D1B7FB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4420" y="6085484"/>
            <a:ext cx="191045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21" t="10465" r="7621" b="4506"/>
          <a:stretch>
            <a:fillRect/>
          </a:stretch>
        </p:blipFill>
        <p:spPr>
          <a:xfrm>
            <a:off x="1009930" y="249956"/>
            <a:ext cx="10172139" cy="658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2803585" y="3191771"/>
            <a:ext cx="2983490" cy="366622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2803585" y="46428"/>
            <a:ext cx="2983490" cy="3591329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23"/>
          <a:stretch>
            <a:fillRect/>
          </a:stretch>
        </p:blipFill>
        <p:spPr>
          <a:xfrm>
            <a:off x="5135593" y="3191771"/>
            <a:ext cx="2983490" cy="366622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4" b="3142"/>
          <a:stretch>
            <a:fillRect/>
          </a:stretch>
        </p:blipFill>
        <p:spPr>
          <a:xfrm>
            <a:off x="5135593" y="46428"/>
            <a:ext cx="2983490" cy="3591329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80" y="384984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84983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46429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1287" y="46428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166505" y="1714285"/>
            <a:ext cx="296638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4-unit-cells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309700" y="4823865"/>
            <a:ext cx="2679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latin typeface="Arial" panose="020B0604020202020204" pitchFamily="34" charset="0"/>
                <a:ea typeface="TH Sarabun PSK"/>
                <a:cs typeface="TH Sarabun PSK"/>
              </a:rPr>
              <a:t>5-unit-cells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D975BB9B-CDDE-B1C6-289B-590BDA342CBE}"/>
              </a:ext>
            </a:extLst>
          </p:cNvPr>
          <p:cNvGrpSpPr/>
          <p:nvPr/>
        </p:nvGrpSpPr>
        <p:grpSpPr>
          <a:xfrm>
            <a:off x="1624664" y="72503"/>
            <a:ext cx="8942671" cy="6785498"/>
            <a:chOff x="2094793" y="108015"/>
            <a:chExt cx="8002414" cy="6072057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FB06D-7E62-768A-0952-E41CB5A09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5"/>
            <a:stretch>
              <a:fillRect/>
            </a:stretch>
          </p:blipFill>
          <p:spPr>
            <a:xfrm>
              <a:off x="2097392" y="381697"/>
              <a:ext cx="2669540" cy="188351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C5D408A-82B6-040A-5DA8-4DE0FDBC057B}"/>
                </a:ext>
              </a:extLst>
            </p:cNvPr>
            <p:cNvPicPr>
              <a:picLocks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0"/>
            <a:stretch>
              <a:fillRect/>
            </a:stretch>
          </p:blipFill>
          <p:spPr>
            <a:xfrm>
              <a:off x="4757796" y="381696"/>
              <a:ext cx="2671200" cy="188351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AED6F3C-75D3-F18B-2A8D-C4B99523B9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426007" y="381696"/>
              <a:ext cx="2671200" cy="188351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1A501BD-4305-CE30-D04C-3AB1B54AF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6044"/>
            <a:stretch>
              <a:fillRect/>
            </a:stretch>
          </p:blipFill>
          <p:spPr>
            <a:xfrm>
              <a:off x="2095732" y="2339127"/>
              <a:ext cx="2671200" cy="1883512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B6176F7-6977-5CCB-3FC3-93CE13424E14}"/>
                </a:ext>
              </a:extLst>
            </p:cNvPr>
            <p:cNvPicPr>
              <a:picLocks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757796" y="2339838"/>
              <a:ext cx="2671200" cy="188280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A3C86BD2-3262-9374-099E-3B688EB15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426007" y="2340815"/>
              <a:ext cx="2671200" cy="188182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8E771361-BEAD-5AF4-922A-96E408933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426007" y="4296559"/>
              <a:ext cx="2671200" cy="1883513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4458E7D-3A9B-2BC6-FB45-C179190B9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756467" y="4296559"/>
              <a:ext cx="2671200" cy="1883513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F80EBF0-1D33-E466-7E60-B11A02B22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2094793" y="4296558"/>
              <a:ext cx="2670810" cy="1883514"/>
            </a:xfrm>
            <a:prstGeom prst="rect">
              <a:avLst/>
            </a:prstGeom>
          </p:spPr>
        </p:pic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4794" y="111335"/>
              <a:ext cx="2660404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ctr"/>
              <a:r>
                <a:rPr lang="en-GB" sz="14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426007" y="113510"/>
                  <a:ext cx="2671199" cy="3077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426007" y="113510"/>
                  <a:ext cx="2671199" cy="307777"/>
                </a:xfrm>
                <a:prstGeom prst="rect">
                  <a:avLst/>
                </a:prstGeom>
                <a:blipFill>
                  <a:blip r:embed="rId11"/>
                  <a:stretch>
                    <a:fillRect t="-3571" b="-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3A51CCA7-297A-103E-9EF2-7DD3E516299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765603" y="108015"/>
                  <a:ext cx="2660404" cy="3077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3A51CCA7-297A-103E-9EF2-7DD3E51629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765603" y="108015"/>
                  <a:ext cx="2660404" cy="307777"/>
                </a:xfrm>
                <a:prstGeom prst="rect">
                  <a:avLst/>
                </a:prstGeom>
                <a:blipFill>
                  <a:blip r:embed="rId12"/>
                  <a:stretch>
                    <a:fillRect t="-3571" b="-7143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A875E46C-B5B9-498F-7902-44346FA2EE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4399" y="354757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40" name="Text Box 2">
              <a:extLst>
                <a:ext uri="{FF2B5EF4-FFF2-40B4-BE49-F238E27FC236}">
                  <a16:creationId xmlns:a16="http://schemas.microsoft.com/office/drawing/2014/main" id="{3430182F-D554-30F5-C8E7-A47E81932D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3939" y="354757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41" name="Text Box 2">
              <a:extLst>
                <a:ext uri="{FF2B5EF4-FFF2-40B4-BE49-F238E27FC236}">
                  <a16:creationId xmlns:a16="http://schemas.microsoft.com/office/drawing/2014/main" id="{85F89EB3-696D-20BA-BE29-44F069C914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02150" y="354505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c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  <p:sp>
          <p:nvSpPr>
            <p:cNvPr id="42" name="Text Box 2">
              <a:extLst>
                <a:ext uri="{FF2B5EF4-FFF2-40B4-BE49-F238E27FC236}">
                  <a16:creationId xmlns:a16="http://schemas.microsoft.com/office/drawing/2014/main" id="{0975ECF0-9000-6539-8736-90A766F88C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4399" y="2310548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  <p:sp>
          <p:nvSpPr>
            <p:cNvPr id="43" name="Text Box 2">
              <a:extLst>
                <a:ext uri="{FF2B5EF4-FFF2-40B4-BE49-F238E27FC236}">
                  <a16:creationId xmlns:a16="http://schemas.microsoft.com/office/drawing/2014/main" id="{558B8A47-44F5-2E26-9512-8486494618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3939" y="2310548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US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e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  <p:sp>
          <p:nvSpPr>
            <p:cNvPr id="44" name="Text Box 2">
              <a:extLst>
                <a:ext uri="{FF2B5EF4-FFF2-40B4-BE49-F238E27FC236}">
                  <a16:creationId xmlns:a16="http://schemas.microsoft.com/office/drawing/2014/main" id="{D40ABFB8-E3DF-053C-0321-8D4CF492BB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02150" y="2310296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sp>
          <p:nvSpPr>
            <p:cNvPr id="45" name="Text Box 2">
              <a:extLst>
                <a:ext uri="{FF2B5EF4-FFF2-40B4-BE49-F238E27FC236}">
                  <a16:creationId xmlns:a16="http://schemas.microsoft.com/office/drawing/2014/main" id="{F7A7D2DF-4116-EC2E-CD38-F61B337CCB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4399" y="4296557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US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g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  <p:sp>
          <p:nvSpPr>
            <p:cNvPr id="46" name="Text Box 2">
              <a:extLst>
                <a:ext uri="{FF2B5EF4-FFF2-40B4-BE49-F238E27FC236}">
                  <a16:creationId xmlns:a16="http://schemas.microsoft.com/office/drawing/2014/main" id="{4E332EB0-3166-8675-1A28-7EBB04545B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3939" y="4296557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US" sz="1200" dirty="0">
                  <a:latin typeface="Arial" panose="020B0604020202020204" pitchFamily="34" charset="0"/>
                  <a:ea typeface="TH Sarabun PSK"/>
                  <a:cs typeface="TH Sarabun PSK"/>
                </a:rPr>
                <a:t>h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  <p:sp>
          <p:nvSpPr>
            <p:cNvPr id="47" name="Text Box 2">
              <a:extLst>
                <a:ext uri="{FF2B5EF4-FFF2-40B4-BE49-F238E27FC236}">
                  <a16:creationId xmlns:a16="http://schemas.microsoft.com/office/drawing/2014/main" id="{65B8DCB6-0759-D935-4B46-88014D6149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02150" y="4296305"/>
              <a:ext cx="542519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spAutoFit/>
            </a:bodyPr>
            <a:lstStyle/>
            <a:p>
              <a:pPr algn="just"/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(</a:t>
              </a:r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i</a:t>
              </a:r>
              <a:r>
                <a:rPr lang="en-GB" sz="1200" dirty="0">
                  <a:effectLst/>
                  <a:latin typeface="Arial" panose="020B0604020202020204" pitchFamily="34" charset="0"/>
                  <a:ea typeface="TH Sarabun PSK"/>
                  <a:cs typeface="TH Sarabun PSK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8E53AAE-4674-8731-E8FE-A3745702E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7" t="11161" r="7447" b="4859"/>
          <a:stretch>
            <a:fillRect/>
          </a:stretch>
        </p:blipFill>
        <p:spPr>
          <a:xfrm>
            <a:off x="1201783" y="557349"/>
            <a:ext cx="9788434" cy="620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205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66BA90-7149-3A2F-A5D6-AFAF64F98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762000" y="679268"/>
            <a:ext cx="5334000" cy="58644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7576A5-916B-3CB1-16ED-4E5A5C572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04" b="4584"/>
          <a:stretch>
            <a:fillRect/>
          </a:stretch>
        </p:blipFill>
        <p:spPr>
          <a:xfrm>
            <a:off x="5776326" y="679268"/>
            <a:ext cx="5334000" cy="5864407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0A13FD40-2D86-7920-8DBB-8399B2B17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5914" y="824029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9A0FFF7-F999-E196-A332-CDBE76F1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9469" y="8265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01634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4813</TotalTime>
  <Words>228</Words>
  <Application>Microsoft Office PowerPoint</Application>
  <PresentationFormat>Widescreen</PresentationFormat>
  <Paragraphs>76</Paragraphs>
  <Slides>20</Slides>
  <Notes>3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33</cp:revision>
  <dcterms:created xsi:type="dcterms:W3CDTF">2026-01-12T00:22:11Z</dcterms:created>
  <dcterms:modified xsi:type="dcterms:W3CDTF">2026-07-03T04:12:44Z</dcterms:modified>
</cp:coreProperties>
</file>