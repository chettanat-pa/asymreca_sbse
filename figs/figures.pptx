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67" r:id="rId2"/>
    <p:sldId id="268" r:id="rId3"/>
    <p:sldId id="269" r:id="rId4"/>
    <p:sldId id="270" r:id="rId5"/>
    <p:sldId id="271" r:id="rId6"/>
    <p:sldId id="272" r:id="rId7"/>
    <p:sldId id="275" r:id="rId8"/>
    <p:sldId id="274" r:id="rId9"/>
    <p:sldId id="276" r:id="rId10"/>
    <p:sldId id="277" r:id="rId11"/>
    <p:sldId id="278" r:id="rId12"/>
    <p:sldId id="279" r:id="rId13"/>
    <p:sldId id="280" r:id="rId14"/>
    <p:sldId id="273" r:id="rId15"/>
    <p:sldId id="266" r:id="rId16"/>
    <p:sldId id="256" r:id="rId17"/>
    <p:sldId id="257" r:id="rId18"/>
    <p:sldId id="258" r:id="rId19"/>
    <p:sldId id="260" r:id="rId20"/>
    <p:sldId id="261" r:id="rId21"/>
    <p:sldId id="262" r:id="rId22"/>
    <p:sldId id="264" r:id="rId23"/>
    <p:sldId id="265" r:id="rId24"/>
    <p:sldId id="25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12FF"/>
    <a:srgbClr val="FFAF24"/>
    <a:srgbClr val="6A6AFF"/>
    <a:srgbClr val="BBBB00"/>
    <a:srgbClr val="12512A"/>
    <a:srgbClr val="86313B"/>
    <a:srgbClr val="65000B"/>
    <a:srgbClr val="1515FF"/>
    <a:srgbClr val="196B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1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6ECBE-534E-4AEE-8ADA-897E2D67A90F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90B90-D4C3-44FA-A94E-B53CE27CF9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6945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90B90-D4C3-44FA-A94E-B53CE27CF91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8451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90B90-D4C3-44FA-A94E-B53CE27CF91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6373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90B90-D4C3-44FA-A94E-B53CE27CF914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925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A71AE-8120-C8D7-EDB0-CEA66DDBB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14C64B-E754-591E-B5E0-1D7B6460C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AE448-5627-44B8-99E8-28926572C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FC3B8-46AC-ED53-655A-106E1564D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F9916-CB21-4892-3AAD-20E4B4EED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03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8B533-86E2-5411-120E-799A211C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D6E6D-56D1-2ABD-487E-039343BA6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E7BAE-0868-440D-C75D-608CA0645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7E741-D5B8-B3AA-7B25-CB06153F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F9930-5010-AD87-28D3-3DC82EB0B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3404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2323C-C118-AB64-F516-33681A9AE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AF549-3DE3-666B-38E0-7446119D8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D5394-1C8A-756A-F922-2708DE6C8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EF5BA-192D-2B3D-D101-D31328121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FEA6E-7BA4-841C-0835-7709B1A25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46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37FC5-5336-5CB8-D5BB-AC841481C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30EBC-E9FF-46E6-477A-46D27EDE71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689A98-9F7F-67EB-979A-D227B2E12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A994B-818D-BF08-8529-1AEB97537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A4E09-C294-BC7D-2845-24CDE4E7D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6AAEE-4EF0-EAA7-3E9F-146B744A3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197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D4025-F999-03A6-40C9-29C017564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C2E59-B4D4-7BED-E95B-01B427C6E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81259-F8B8-1DFB-956D-338B47E84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8DF9F5-9E56-D967-1313-5D85647693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6D2D96-E9B9-F774-A6D7-E39D31E12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C7F641-56C9-D177-0F31-6C419609C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769730-D40F-650B-4445-B1DFBD525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BEFD6B-35EF-7CD9-BCDD-3C498C2BB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96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44AB-82EB-2AB9-1930-ACD29C423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F5CF98-015A-8DDC-77E7-A91BCD0AC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5119D6-1782-5496-C45F-E8C0CEA79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C8332-3487-7193-5FB7-3E65764B5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3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A6DFDB-05E9-F90F-B392-92676B775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A79D57-A0D4-9A12-7229-6D88FB93F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8DACD-911F-DB1E-2716-BC46964C9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2195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AF48A-0943-D399-49DC-7D5B5358A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7C6CC-3C4A-7E19-F104-5F7FB3E9F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30B944-C1E6-32C9-5952-ED08EBA5A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2EE83-D3ED-1422-A428-CFA22792E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8AB5D-7F22-6FA9-5832-E0DE89F23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C08D0-B3D4-AC28-1763-9B14A945A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062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FF590-9AB9-A343-B330-86C22056C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F724A6-3A95-9F30-C9C6-60CE5CBA19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26684-D503-A558-352A-DC6362A67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85477-D821-9F81-4FE3-1D90FC4B3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90604-4DE5-0190-B7FF-C17614227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35D9F-CE69-7722-8742-7931D67EE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8753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38FEF-4280-EA73-E0AA-FC965E39E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FC6A4-C06A-3131-05C4-C837CEC6A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D80A0-2049-AC2B-77CF-6EAA24191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B7528-62B6-22AB-05E3-578FACF4D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FE120-F681-861E-F4EB-4D1C34BFC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7764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39446F-538F-B278-9974-B39FD1D211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3BB492-9492-7BAE-3FAF-F93FBBFF6D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A59F1-0C15-4AAC-870A-43DCC8E13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E7FBA-4C5C-E446-A813-75A5F600B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CD0B5-54A6-8F07-F20B-6D96E37A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0787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EFDF95-7303-BE9E-724E-35A42C149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B0398-856C-D42A-DD70-CA4CC0333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F6C5-822A-929F-7CDA-1744F8CA49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190FC-D844-4E0A-A0A2-219D558319DC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E71AC-A9A5-B3E7-F1F0-E6D3E173F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C2AAB-EF6C-715C-A03F-2F388A52BF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255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7CDD06-8B76-FB5D-DF70-E324B0B67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8788F950-945D-6A31-3C9B-00E80BAD3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212" y="257447"/>
            <a:ext cx="587544" cy="36933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(a)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57D40981-619E-DA43-C382-D807CC099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2872" y="256667"/>
            <a:ext cx="587544" cy="36933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dirty="0"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1642978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B8F0EC-0887-CF59-65E7-B34DD0AA15BE}"/>
              </a:ext>
            </a:extLst>
          </p:cNvPr>
          <p:cNvSpPr/>
          <p:nvPr/>
        </p:nvSpPr>
        <p:spPr>
          <a:xfrm>
            <a:off x="3556236" y="3880739"/>
            <a:ext cx="5281502" cy="195071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Substrate</a:t>
            </a:r>
            <a:endParaRPr lang="en-GB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00CBF4-C87C-8EA4-40E3-75E5BD3CC923}"/>
              </a:ext>
            </a:extLst>
          </p:cNvPr>
          <p:cNvSpPr/>
          <p:nvPr/>
        </p:nvSpPr>
        <p:spPr>
          <a:xfrm>
            <a:off x="3556237" y="2826744"/>
            <a:ext cx="5281498" cy="105399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Film</a:t>
            </a:r>
            <a:endParaRPr lang="en-GB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8DF0614-9416-BE65-3537-D556EF6446F9}"/>
              </a:ext>
            </a:extLst>
          </p:cNvPr>
          <p:cNvCxnSpPr>
            <a:cxnSpLocks/>
          </p:cNvCxnSpPr>
          <p:nvPr/>
        </p:nvCxnSpPr>
        <p:spPr>
          <a:xfrm flipV="1">
            <a:off x="5778020" y="1699731"/>
            <a:ext cx="2547126" cy="2193709"/>
          </a:xfrm>
          <a:prstGeom prst="straightConnector1">
            <a:avLst/>
          </a:prstGeom>
          <a:ln w="57150">
            <a:solidFill>
              <a:schemeClr val="accent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D091AAD-134C-0EAD-F4A2-6BC8EE5317E6}"/>
              </a:ext>
            </a:extLst>
          </p:cNvPr>
          <p:cNvCxnSpPr>
            <a:cxnSpLocks/>
          </p:cNvCxnSpPr>
          <p:nvPr/>
        </p:nvCxnSpPr>
        <p:spPr>
          <a:xfrm>
            <a:off x="5778021" y="1663700"/>
            <a:ext cx="0" cy="458470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5A4E198-88D5-A962-8272-D77462BC6181}"/>
              </a:ext>
            </a:extLst>
          </p:cNvPr>
          <p:cNvSpPr txBox="1"/>
          <p:nvPr/>
        </p:nvSpPr>
        <p:spPr>
          <a:xfrm>
            <a:off x="6833138" y="1810366"/>
            <a:ext cx="521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75321D-45E2-AB97-A7B5-0408E4773235}"/>
              </a:ext>
            </a:extLst>
          </p:cNvPr>
          <p:cNvSpPr txBox="1"/>
          <p:nvPr/>
        </p:nvSpPr>
        <p:spPr>
          <a:xfrm>
            <a:off x="8070147" y="1808106"/>
            <a:ext cx="521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0E1AC66-5568-7FAE-96E5-10169FD28F2D}"/>
              </a:ext>
            </a:extLst>
          </p:cNvPr>
          <p:cNvCxnSpPr>
            <a:cxnSpLocks/>
          </p:cNvCxnSpPr>
          <p:nvPr/>
        </p:nvCxnSpPr>
        <p:spPr>
          <a:xfrm flipV="1">
            <a:off x="5778020" y="1685297"/>
            <a:ext cx="1308580" cy="1127013"/>
          </a:xfrm>
          <a:prstGeom prst="straightConnector1">
            <a:avLst/>
          </a:prstGeom>
          <a:ln w="57150">
            <a:solidFill>
              <a:schemeClr val="accent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ight Brace 65">
            <a:extLst>
              <a:ext uri="{FF2B5EF4-FFF2-40B4-BE49-F238E27FC236}">
                <a16:creationId xmlns:a16="http://schemas.microsoft.com/office/drawing/2014/main" id="{72F1F781-8B83-9D86-1431-22905D416A8E}"/>
              </a:ext>
            </a:extLst>
          </p:cNvPr>
          <p:cNvSpPr/>
          <p:nvPr/>
        </p:nvSpPr>
        <p:spPr>
          <a:xfrm>
            <a:off x="8207277" y="2838188"/>
            <a:ext cx="213360" cy="1030700"/>
          </a:xfrm>
          <a:prstGeom prst="rightBrace">
            <a:avLst>
              <a:gd name="adj1" fmla="val 8333"/>
              <a:gd name="adj2" fmla="val 51479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A108C06-DFC5-4089-E587-AD31D5C8FDDE}"/>
                  </a:ext>
                </a:extLst>
              </p:cNvPr>
              <p:cNvSpPr txBox="1"/>
              <p:nvPr/>
            </p:nvSpPr>
            <p:spPr>
              <a:xfrm>
                <a:off x="8377507" y="2975136"/>
                <a:ext cx="417102" cy="7913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A108C06-DFC5-4089-E587-AD31D5C8F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7507" y="2975136"/>
                <a:ext cx="417102" cy="7913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Box 67">
            <a:extLst>
              <a:ext uri="{FF2B5EF4-FFF2-40B4-BE49-F238E27FC236}">
                <a16:creationId xmlns:a16="http://schemas.microsoft.com/office/drawing/2014/main" id="{B8A2F634-2561-D36F-7A29-B3E4BBF61D72}"/>
              </a:ext>
            </a:extLst>
          </p:cNvPr>
          <p:cNvSpPr txBox="1"/>
          <p:nvPr/>
        </p:nvSpPr>
        <p:spPr>
          <a:xfrm>
            <a:off x="3556236" y="1693806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Air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933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CDA26CED-98F1-D813-8804-C77184064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" t="3103" r="2366" b="3103"/>
          <a:stretch>
            <a:fillRect/>
          </a:stretch>
        </p:blipFill>
        <p:spPr>
          <a:xfrm>
            <a:off x="491707" y="5020"/>
            <a:ext cx="10834776" cy="685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242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86EBC8-52A1-29FF-D24F-B8095CBAD06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4" t="3271" r="5714" b="3271"/>
          <a:stretch>
            <a:fillRect/>
          </a:stretch>
        </p:blipFill>
        <p:spPr>
          <a:xfrm>
            <a:off x="865517" y="-119004"/>
            <a:ext cx="10278129" cy="697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62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7B01A373-DB2F-AF26-73B5-896B2A3F73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49" b="4149"/>
          <a:stretch/>
        </p:blipFill>
        <p:spPr>
          <a:xfrm>
            <a:off x="828674" y="438150"/>
            <a:ext cx="5267325" cy="6210300"/>
          </a:xfrm>
          <a:prstGeom prst="rect">
            <a:avLst/>
          </a:prstGeom>
        </p:spPr>
      </p:pic>
      <p:sp>
        <p:nvSpPr>
          <p:cNvPr id="17" name="Text Box 2">
            <a:extLst>
              <a:ext uri="{FF2B5EF4-FFF2-40B4-BE49-F238E27FC236}">
                <a16:creationId xmlns:a16="http://schemas.microsoft.com/office/drawing/2014/main" id="{6BE9891A-19D6-BCE9-21C0-D1A66427C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168" y="972073"/>
            <a:ext cx="54251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6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(a)</a:t>
            </a:r>
          </a:p>
        </p:txBody>
      </p:sp>
      <p:sp>
        <p:nvSpPr>
          <p:cNvPr id="18" name="Text Box 2">
            <a:extLst>
              <a:ext uri="{FF2B5EF4-FFF2-40B4-BE49-F238E27FC236}">
                <a16:creationId xmlns:a16="http://schemas.microsoft.com/office/drawing/2014/main" id="{3FAD142A-B116-89D6-0D5F-8EDFD43A7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6265" y="989325"/>
            <a:ext cx="54251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600" dirty="0"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(b)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666D65-321C-911F-0255-0998D6326B9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12" b="4286"/>
          <a:stretch>
            <a:fillRect/>
          </a:stretch>
        </p:blipFill>
        <p:spPr>
          <a:xfrm>
            <a:off x="5604293" y="438151"/>
            <a:ext cx="5267325" cy="6210300"/>
          </a:xfrm>
          <a:prstGeom prst="rect">
            <a:avLst/>
          </a:prstGeom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F676E84B-2D12-31B7-2BEF-FBA82C6A6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4006" y="991987"/>
            <a:ext cx="54251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600" dirty="0"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105188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B0E810-01F9-53BF-4AE6-7DC36C290D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4" b="4444"/>
          <a:stretch/>
        </p:blipFill>
        <p:spPr>
          <a:xfrm>
            <a:off x="498553" y="-272"/>
            <a:ext cx="5857875" cy="68620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54AD79-6F70-2DC4-0487-9C3F13451C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4" b="4444"/>
          <a:stretch/>
        </p:blipFill>
        <p:spPr>
          <a:xfrm>
            <a:off x="5803978" y="-272"/>
            <a:ext cx="5854622" cy="6858272"/>
          </a:xfrm>
          <a:prstGeom prst="rect">
            <a:avLst/>
          </a:prstGeom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42178682-507D-E8BF-D037-AA4A41544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0590" y="230021"/>
            <a:ext cx="323755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6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(a) Amorphous phase (ON mode)</a:t>
            </a: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30791611-81E3-A2A0-9262-E16B37ACA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5540" y="230021"/>
            <a:ext cx="327097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600" dirty="0"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(b) Crystalline phase (OFF mode)</a:t>
            </a:r>
          </a:p>
        </p:txBody>
      </p:sp>
      <p:sp>
        <p:nvSpPr>
          <p:cNvPr id="21" name="Text Box 2">
            <a:extLst>
              <a:ext uri="{FF2B5EF4-FFF2-40B4-BE49-F238E27FC236}">
                <a16:creationId xmlns:a16="http://schemas.microsoft.com/office/drawing/2014/main" id="{58BB3F1C-0ED0-6624-F285-3A3D5E291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3056" y="5827507"/>
            <a:ext cx="193735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ctr"/>
            <a:r>
              <a:rPr lang="en-GB" sz="1400" dirty="0">
                <a:latin typeface="Arial" panose="020B0604020202020204" pitchFamily="34" charset="0"/>
                <a:ea typeface="TH Sarabun PSK"/>
                <a:cs typeface="TH Sarabun PSK"/>
              </a:rPr>
              <a:t>h</a:t>
            </a:r>
            <a:r>
              <a:rPr lang="en-GB" sz="14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igh-reflection region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2E3A126-38BB-9AB9-AAE3-F359F19B8D79}"/>
              </a:ext>
            </a:extLst>
          </p:cNvPr>
          <p:cNvCxnSpPr/>
          <p:nvPr/>
        </p:nvCxnSpPr>
        <p:spPr>
          <a:xfrm>
            <a:off x="6545540" y="6133377"/>
            <a:ext cx="171745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 Box 2">
            <a:extLst>
              <a:ext uri="{FF2B5EF4-FFF2-40B4-BE49-F238E27FC236}">
                <a16:creationId xmlns:a16="http://schemas.microsoft.com/office/drawing/2014/main" id="{75FFEA3B-EA8D-2D2D-2206-2AA88F8D6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2293" y="6085484"/>
            <a:ext cx="170882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400" dirty="0">
                <a:latin typeface="Arial" panose="020B0604020202020204" pitchFamily="34" charset="0"/>
                <a:ea typeface="TH Sarabun PSK"/>
                <a:cs typeface="TH Sarabun PSK"/>
              </a:rPr>
              <a:t>h</a:t>
            </a:r>
            <a:r>
              <a:rPr lang="en-GB" sz="14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igh-reflection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3CC17FB-9533-68FE-38EB-BA2D224C0A70}"/>
              </a:ext>
            </a:extLst>
          </p:cNvPr>
          <p:cNvCxnSpPr>
            <a:cxnSpLocks/>
          </p:cNvCxnSpPr>
          <p:nvPr/>
        </p:nvCxnSpPr>
        <p:spPr>
          <a:xfrm>
            <a:off x="1233731" y="6133377"/>
            <a:ext cx="74137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 Box 2">
            <a:extLst>
              <a:ext uri="{FF2B5EF4-FFF2-40B4-BE49-F238E27FC236}">
                <a16:creationId xmlns:a16="http://schemas.microsoft.com/office/drawing/2014/main" id="{3227A217-ECEE-4FD5-D325-E7116B379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4162" y="6089294"/>
            <a:ext cx="173614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400" dirty="0">
                <a:latin typeface="Arial" panose="020B0604020202020204" pitchFamily="34" charset="0"/>
                <a:ea typeface="TH Sarabun PSK"/>
                <a:cs typeface="TH Sarabun PSK"/>
              </a:rPr>
              <a:t>anti</a:t>
            </a:r>
            <a:r>
              <a:rPr lang="en-GB" sz="14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reflection region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4FF6EB6-DF3F-F193-C2AA-E21A81C9D5C8}"/>
              </a:ext>
            </a:extLst>
          </p:cNvPr>
          <p:cNvCxnSpPr>
            <a:cxnSpLocks/>
          </p:cNvCxnSpPr>
          <p:nvPr/>
        </p:nvCxnSpPr>
        <p:spPr>
          <a:xfrm>
            <a:off x="8297499" y="6133377"/>
            <a:ext cx="2772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9395275-0FC4-C799-D2EB-9274D6ADE9A2}"/>
              </a:ext>
            </a:extLst>
          </p:cNvPr>
          <p:cNvCxnSpPr>
            <a:cxnSpLocks/>
          </p:cNvCxnSpPr>
          <p:nvPr/>
        </p:nvCxnSpPr>
        <p:spPr>
          <a:xfrm>
            <a:off x="1992361" y="6133377"/>
            <a:ext cx="37857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 Box 2">
            <a:extLst>
              <a:ext uri="{FF2B5EF4-FFF2-40B4-BE49-F238E27FC236}">
                <a16:creationId xmlns:a16="http://schemas.microsoft.com/office/drawing/2014/main" id="{537086FB-D8A1-AAD6-7928-1D37D1B7F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4420" y="6085484"/>
            <a:ext cx="191045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400" dirty="0">
                <a:latin typeface="Arial" panose="020B0604020202020204" pitchFamily="34" charset="0"/>
                <a:ea typeface="TH Sarabun PSK"/>
                <a:cs typeface="TH Sarabun PSK"/>
              </a:rPr>
              <a:t>anti</a:t>
            </a:r>
            <a:r>
              <a:rPr lang="en-GB" sz="14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reflection region</a:t>
            </a:r>
          </a:p>
        </p:txBody>
      </p:sp>
    </p:spTree>
    <p:extLst>
      <p:ext uri="{BB962C8B-B14F-4D97-AF65-F5344CB8AC3E}">
        <p14:creationId xmlns:p14="http://schemas.microsoft.com/office/powerpoint/2010/main" val="4005555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09722C-E19A-A09B-6BF9-91D6A9A69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5" t="2647" r="3785" b="2647"/>
          <a:stretch>
            <a:fillRect/>
          </a:stretch>
        </p:blipFill>
        <p:spPr>
          <a:xfrm>
            <a:off x="911281" y="0"/>
            <a:ext cx="10369966" cy="6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456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9614A0A1-CA66-2C01-FFE1-CEE8EB4BC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585" y="3191771"/>
            <a:ext cx="2983490" cy="383591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E966266-5458-95CE-5548-1BAE87054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42"/>
          <a:stretch>
            <a:fillRect/>
          </a:stretch>
        </p:blipFill>
        <p:spPr>
          <a:xfrm>
            <a:off x="2803585" y="-77634"/>
            <a:ext cx="2983490" cy="3715391"/>
          </a:xfrm>
          <a:prstGeom prst="rect">
            <a:avLst/>
          </a:prstGeom>
          <a:ln>
            <a:noFill/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F79C04B-E8EF-49A3-2060-5154867773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593" y="3191771"/>
            <a:ext cx="2983490" cy="383591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3619BE8-09FF-7B43-8338-BC0B36E7D2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42"/>
          <a:stretch>
            <a:fillRect/>
          </a:stretch>
        </p:blipFill>
        <p:spPr>
          <a:xfrm>
            <a:off x="5135593" y="-77634"/>
            <a:ext cx="2983490" cy="3715391"/>
          </a:xfrm>
          <a:prstGeom prst="rect">
            <a:avLst/>
          </a:prstGeom>
          <a:ln>
            <a:noFill/>
          </a:ln>
        </p:spPr>
      </p:pic>
      <p:sp>
        <p:nvSpPr>
          <p:cNvPr id="38" name="Text Box 2">
            <a:extLst>
              <a:ext uri="{FF2B5EF4-FFF2-40B4-BE49-F238E27FC236}">
                <a16:creationId xmlns:a16="http://schemas.microsoft.com/office/drawing/2014/main" id="{D15F8736-AA4F-97B1-C0F4-CE0BC4F44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280" y="384984"/>
            <a:ext cx="49498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H Sarabun PSK"/>
                <a:cs typeface="TH Sarabun PSK"/>
              </a:rPr>
              <a:t>(a)</a:t>
            </a:r>
          </a:p>
        </p:txBody>
      </p:sp>
      <p:sp>
        <p:nvSpPr>
          <p:cNvPr id="39" name="Text Box 2">
            <a:extLst>
              <a:ext uri="{FF2B5EF4-FFF2-40B4-BE49-F238E27FC236}">
                <a16:creationId xmlns:a16="http://schemas.microsoft.com/office/drawing/2014/main" id="{3BD119CD-5434-EAF2-8376-4C624588E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5770" y="384983"/>
            <a:ext cx="49498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H Sarabun PSK"/>
                <a:cs typeface="TH Sarabun PSK"/>
              </a:rPr>
              <a:t>(b)</a:t>
            </a:r>
          </a:p>
        </p:txBody>
      </p:sp>
      <p:sp>
        <p:nvSpPr>
          <p:cNvPr id="40" name="Text Box 2">
            <a:extLst>
              <a:ext uri="{FF2B5EF4-FFF2-40B4-BE49-F238E27FC236}">
                <a16:creationId xmlns:a16="http://schemas.microsoft.com/office/drawing/2014/main" id="{13B330B2-991D-405D-66E3-DC06DE1DE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5770" y="3637757"/>
            <a:ext cx="49498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H Sarabun PSK"/>
                <a:cs typeface="TH Sarabun PSK"/>
              </a:rPr>
              <a:t>(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ea typeface="TH Sarabun PSK"/>
                <a:cs typeface="TH Sarabun PSK"/>
              </a:rPr>
              <a:t>d</a:t>
            </a:r>
            <a:r>
              <a:rPr lang="en-GB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H Sarabun PSK"/>
                <a:cs typeface="TH Sarabun PSK"/>
              </a:rPr>
              <a:t>)</a:t>
            </a:r>
          </a:p>
        </p:txBody>
      </p:sp>
      <p:sp>
        <p:nvSpPr>
          <p:cNvPr id="41" name="Text Box 2">
            <a:extLst>
              <a:ext uri="{FF2B5EF4-FFF2-40B4-BE49-F238E27FC236}">
                <a16:creationId xmlns:a16="http://schemas.microsoft.com/office/drawing/2014/main" id="{7C05AD5F-B900-E0A1-AC91-8542E05BE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279" y="3637757"/>
            <a:ext cx="49498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H Sarabun PSK"/>
                <a:cs typeface="TH Sarabun PSK"/>
              </a:rPr>
              <a:t>(c)</a:t>
            </a: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0BE1C4CC-5C77-06E3-24BD-7B2B22CBB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279" y="46429"/>
            <a:ext cx="185854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ctr"/>
            <a:r>
              <a:rPr lang="en-GB" sz="1400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TE</a:t>
            </a:r>
          </a:p>
        </p:txBody>
      </p:sp>
      <p:sp>
        <p:nvSpPr>
          <p:cNvPr id="43" name="Text Box 2">
            <a:extLst>
              <a:ext uri="{FF2B5EF4-FFF2-40B4-BE49-F238E27FC236}">
                <a16:creationId xmlns:a16="http://schemas.microsoft.com/office/drawing/2014/main" id="{146D3C36-9575-442F-9B8C-59B8B061D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1287" y="46428"/>
            <a:ext cx="185854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ctr"/>
            <a:r>
              <a:rPr lang="en-GB" sz="1400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TM</a:t>
            </a:r>
          </a:p>
        </p:txBody>
      </p:sp>
      <p:sp>
        <p:nvSpPr>
          <p:cNvPr id="44" name="Text Box 2">
            <a:extLst>
              <a:ext uri="{FF2B5EF4-FFF2-40B4-BE49-F238E27FC236}">
                <a16:creationId xmlns:a16="http://schemas.microsoft.com/office/drawing/2014/main" id="{F5BFDB22-66FC-E811-C927-50E0C715FA9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166505" y="1714285"/>
            <a:ext cx="296638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ctr"/>
            <a:r>
              <a:rPr lang="en-GB" sz="1400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4-unit-cells edge-filter design</a:t>
            </a:r>
          </a:p>
        </p:txBody>
      </p:sp>
      <p:sp>
        <p:nvSpPr>
          <p:cNvPr id="45" name="Text Box 2">
            <a:extLst>
              <a:ext uri="{FF2B5EF4-FFF2-40B4-BE49-F238E27FC236}">
                <a16:creationId xmlns:a16="http://schemas.microsoft.com/office/drawing/2014/main" id="{D2850973-ADE9-27E7-FD3B-0F696C6E163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309700" y="4823865"/>
            <a:ext cx="267999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ctr"/>
            <a:r>
              <a:rPr lang="en-GB" sz="1400" b="1" dirty="0">
                <a:latin typeface="Arial" panose="020B0604020202020204" pitchFamily="34" charset="0"/>
                <a:ea typeface="TH Sarabun PSK"/>
                <a:cs typeface="TH Sarabun PSK"/>
              </a:rPr>
              <a:t>5-unit-cells edge-filter design</a:t>
            </a:r>
          </a:p>
        </p:txBody>
      </p:sp>
    </p:spTree>
    <p:extLst>
      <p:ext uri="{BB962C8B-B14F-4D97-AF65-F5344CB8AC3E}">
        <p14:creationId xmlns:p14="http://schemas.microsoft.com/office/powerpoint/2010/main" val="2583949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040C26-0105-1F59-EEAB-03FB983CEA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18"/>
          <a:stretch>
            <a:fillRect/>
          </a:stretch>
        </p:blipFill>
        <p:spPr>
          <a:xfrm>
            <a:off x="1" y="1987826"/>
            <a:ext cx="4216735" cy="298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9F01624-A124-B643-3B03-F651A4EB08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20"/>
          <a:stretch>
            <a:fillRect/>
          </a:stretch>
        </p:blipFill>
        <p:spPr>
          <a:xfrm>
            <a:off x="3987632" y="1987826"/>
            <a:ext cx="4216735" cy="298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EDB843-9DA9-1EB4-5F44-81B183FA09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20"/>
          <a:stretch>
            <a:fillRect/>
          </a:stretch>
        </p:blipFill>
        <p:spPr>
          <a:xfrm>
            <a:off x="7975263" y="1987826"/>
            <a:ext cx="4216735" cy="2988000"/>
          </a:xfrm>
          <a:prstGeom prst="rect">
            <a:avLst/>
          </a:prstGeom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92241068-DABA-E9C3-A73B-E04AA20B0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652" y="1711048"/>
            <a:ext cx="326997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400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(a) Single-layer design (Sb</a:t>
            </a:r>
            <a:r>
              <a:rPr lang="en-GB" sz="1400" b="1" baseline="-250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2</a:t>
            </a:r>
            <a:r>
              <a:rPr lang="en-GB" sz="1400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Se</a:t>
            </a:r>
            <a:r>
              <a:rPr lang="en-GB" sz="1400" b="1" baseline="-250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3</a:t>
            </a:r>
            <a:r>
              <a:rPr lang="en-GB" sz="1400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)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99A1AE28-3884-7973-041D-319FBD78F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4283" y="1705439"/>
            <a:ext cx="326997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400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(b) Two-layers design (Sb</a:t>
            </a:r>
            <a:r>
              <a:rPr lang="en-GB" sz="1400" b="1" baseline="-250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2</a:t>
            </a:r>
            <a:r>
              <a:rPr lang="en-GB" sz="1400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Se</a:t>
            </a:r>
            <a:r>
              <a:rPr lang="en-GB" sz="1400" b="1" baseline="-250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3</a:t>
            </a:r>
            <a:r>
              <a:rPr lang="en-GB" sz="1400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/TiO</a:t>
            </a:r>
            <a:r>
              <a:rPr lang="en-GB" sz="1400" b="1" baseline="-250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2</a:t>
            </a:r>
            <a:r>
              <a:rPr lang="en-GB" sz="1400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2">
                <a:extLst>
                  <a:ext uri="{FF2B5EF4-FFF2-40B4-BE49-F238E27FC236}">
                    <a16:creationId xmlns:a16="http://schemas.microsoft.com/office/drawing/2014/main" id="{DB388C99-BEAA-7F8E-F94E-5B16D89194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21914" y="1661453"/>
                <a:ext cx="3269974" cy="3833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just"/>
                <a:r>
                  <a:rPr lang="en-GB" sz="1300" b="1" dirty="0">
                    <a:effectLst/>
                    <a:latin typeface="Arial" panose="020B0604020202020204" pitchFamily="34" charset="0"/>
                    <a:ea typeface="TH Sarabun PSK"/>
                    <a:cs typeface="TH Sarabun PSK"/>
                  </a:rPr>
                  <a:t>(</a:t>
                </a:r>
                <a:r>
                  <a:rPr lang="en-GB" sz="1300" b="1" dirty="0">
                    <a:latin typeface="Arial" panose="020B0604020202020204" pitchFamily="34" charset="0"/>
                    <a:ea typeface="TH Sarabun PSK"/>
                    <a:cs typeface="TH Sarabun PSK"/>
                  </a:rPr>
                  <a:t>c</a:t>
                </a:r>
                <a:r>
                  <a:rPr lang="en-GB" sz="1300" b="1" dirty="0">
                    <a:effectLst/>
                    <a:latin typeface="Arial" panose="020B0604020202020204" pitchFamily="34" charset="0"/>
                    <a:ea typeface="TH Sarabun PSK"/>
                    <a:cs typeface="TH Sarabun PSK"/>
                  </a:rPr>
                  <a:t>) Edge-filter design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3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1300" b="1">
                            <a:effectLst/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GB" sz="1300" b="1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GB" sz="1300" b="1" i="1">
                                <a:effectLst/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𝑺𝒃𝑺𝒆</m:t>
                            </m:r>
                          </m:num>
                          <m:den>
                            <m:r>
                              <a:rPr lang="en-GB" sz="1300" b="1" i="1">
                                <a:effectLst/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GB" sz="1300" b="1">
                            <a:effectLst/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GB" sz="1300" b="1" i="1">
                            <a:effectLst/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𝐌𝐠𝐅</m:t>
                        </m:r>
                        <m:r>
                          <a:rPr lang="en-GB" sz="1300" b="1">
                            <a:effectLst/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/</m:t>
                        </m:r>
                        <m:f>
                          <m:fPr>
                            <m:ctrlPr>
                              <a:rPr lang="en-GB" sz="1300" b="1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GB" sz="1300" b="1" i="1">
                                <a:effectLst/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𝑺𝒃𝑺𝒆</m:t>
                            </m:r>
                          </m:num>
                          <m:den>
                            <m:r>
                              <a:rPr lang="en-GB" sz="1300" b="1" i="1">
                                <a:effectLst/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GB" sz="1300" b="1">
                            <a:effectLst/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GB" sz="1300" b="1" i="1">
                            <a:effectLst/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𝟓</m:t>
                        </m:r>
                      </m:sup>
                    </m:sSup>
                  </m:oMath>
                </a14:m>
                <a:endParaRPr lang="en-GB" sz="1300" b="1" dirty="0">
                  <a:effectLst/>
                  <a:latin typeface="Arial" panose="020B0604020202020204" pitchFamily="34" charset="0"/>
                  <a:ea typeface="TH Sarabun PSK"/>
                  <a:cs typeface="TH Sarabun PSK"/>
                </a:endParaRPr>
              </a:p>
            </p:txBody>
          </p:sp>
        </mc:Choice>
        <mc:Fallback xmlns="">
          <p:sp>
            <p:nvSpPr>
              <p:cNvPr id="7" name="Text Box 2">
                <a:extLst>
                  <a:ext uri="{FF2B5EF4-FFF2-40B4-BE49-F238E27FC236}">
                    <a16:creationId xmlns:a16="http://schemas.microsoft.com/office/drawing/2014/main" id="{DB388C99-BEAA-7F8E-F94E-5B16D8919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21914" y="1661453"/>
                <a:ext cx="3269974" cy="383375"/>
              </a:xfrm>
              <a:prstGeom prst="rect">
                <a:avLst/>
              </a:prstGeom>
              <a:blipFill>
                <a:blip r:embed="rId5"/>
                <a:stretch>
                  <a:fillRect l="-373" b="-322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4847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>
            <a:extLst>
              <a:ext uri="{FF2B5EF4-FFF2-40B4-BE49-F238E27FC236}">
                <a16:creationId xmlns:a16="http://schemas.microsoft.com/office/drawing/2014/main" id="{3722726E-9D0F-633C-0D2D-BB4C6A009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652" y="1711048"/>
            <a:ext cx="326997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400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(a) Single-layer design (Sb</a:t>
            </a:r>
            <a:r>
              <a:rPr lang="en-GB" sz="1400" b="1" baseline="-250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2</a:t>
            </a:r>
            <a:r>
              <a:rPr lang="en-GB" sz="1400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Se</a:t>
            </a:r>
            <a:r>
              <a:rPr lang="en-GB" sz="1400" b="1" baseline="-250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3</a:t>
            </a:r>
            <a:r>
              <a:rPr lang="en-GB" sz="1400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)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1D00D169-D2F3-BEF0-8513-9D2E99BC0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4283" y="1705439"/>
            <a:ext cx="326997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400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(b) Two-layers design (Sb</a:t>
            </a:r>
            <a:r>
              <a:rPr lang="en-GB" sz="1400" b="1" baseline="-250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2</a:t>
            </a:r>
            <a:r>
              <a:rPr lang="en-GB" sz="1400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Se</a:t>
            </a:r>
            <a:r>
              <a:rPr lang="en-GB" sz="1400" b="1" baseline="-250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3</a:t>
            </a:r>
            <a:r>
              <a:rPr lang="en-GB" sz="1400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/TiO</a:t>
            </a:r>
            <a:r>
              <a:rPr lang="en-GB" sz="1400" b="1" baseline="-250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2</a:t>
            </a:r>
            <a:r>
              <a:rPr lang="en-GB" sz="1400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2">
                <a:extLst>
                  <a:ext uri="{FF2B5EF4-FFF2-40B4-BE49-F238E27FC236}">
                    <a16:creationId xmlns:a16="http://schemas.microsoft.com/office/drawing/2014/main" id="{164FE6B1-FAA3-FB4F-70AE-BDFC9FD9BB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21914" y="1661453"/>
                <a:ext cx="3269974" cy="3833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just"/>
                <a:r>
                  <a:rPr lang="en-GB" sz="1300" b="1" dirty="0">
                    <a:effectLst/>
                    <a:latin typeface="Arial" panose="020B0604020202020204" pitchFamily="34" charset="0"/>
                    <a:ea typeface="TH Sarabun PSK"/>
                    <a:cs typeface="TH Sarabun PSK"/>
                  </a:rPr>
                  <a:t>(</a:t>
                </a:r>
                <a:r>
                  <a:rPr lang="en-GB" sz="1300" b="1" dirty="0">
                    <a:latin typeface="Arial" panose="020B0604020202020204" pitchFamily="34" charset="0"/>
                    <a:ea typeface="TH Sarabun PSK"/>
                    <a:cs typeface="TH Sarabun PSK"/>
                  </a:rPr>
                  <a:t>c</a:t>
                </a:r>
                <a:r>
                  <a:rPr lang="en-GB" sz="1300" b="1" dirty="0">
                    <a:effectLst/>
                    <a:latin typeface="Arial" panose="020B0604020202020204" pitchFamily="34" charset="0"/>
                    <a:ea typeface="TH Sarabun PSK"/>
                    <a:cs typeface="TH Sarabun PSK"/>
                  </a:rPr>
                  <a:t>) Edge-filter design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3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1300" b="1">
                            <a:effectLst/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GB" sz="1300" b="1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GB" sz="1300" b="1" i="1">
                                <a:effectLst/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𝑺𝒃𝑺𝒆</m:t>
                            </m:r>
                          </m:num>
                          <m:den>
                            <m:r>
                              <a:rPr lang="en-GB" sz="1300" b="1" i="1">
                                <a:effectLst/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GB" sz="1300" b="1">
                            <a:effectLst/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GB" sz="1300" b="1" i="1">
                            <a:effectLst/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𝐌𝐠𝐅</m:t>
                        </m:r>
                        <m:r>
                          <a:rPr lang="en-GB" sz="1300" b="1">
                            <a:effectLst/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/</m:t>
                        </m:r>
                        <m:f>
                          <m:fPr>
                            <m:ctrlPr>
                              <a:rPr lang="en-GB" sz="1300" b="1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GB" sz="1300" b="1" i="1">
                                <a:effectLst/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𝑺𝒃𝑺𝒆</m:t>
                            </m:r>
                          </m:num>
                          <m:den>
                            <m:r>
                              <a:rPr lang="en-GB" sz="1300" b="1" i="1">
                                <a:effectLst/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GB" sz="1300" b="1">
                            <a:effectLst/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GB" sz="1300" b="1" i="1">
                            <a:effectLst/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𝟓</m:t>
                        </m:r>
                      </m:sup>
                    </m:sSup>
                  </m:oMath>
                </a14:m>
                <a:endParaRPr lang="en-GB" sz="1300" b="1" dirty="0">
                  <a:effectLst/>
                  <a:latin typeface="Arial" panose="020B0604020202020204" pitchFamily="34" charset="0"/>
                  <a:ea typeface="TH Sarabun PSK"/>
                  <a:cs typeface="TH Sarabun PSK"/>
                </a:endParaRPr>
              </a:p>
            </p:txBody>
          </p:sp>
        </mc:Choice>
        <mc:Fallback xmlns="">
          <p:sp>
            <p:nvSpPr>
              <p:cNvPr id="7" name="Text Box 2">
                <a:extLst>
                  <a:ext uri="{FF2B5EF4-FFF2-40B4-BE49-F238E27FC236}">
                    <a16:creationId xmlns:a16="http://schemas.microsoft.com/office/drawing/2014/main" id="{164FE6B1-FAA3-FB4F-70AE-BDFC9FD9B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21914" y="1661453"/>
                <a:ext cx="3269974" cy="383375"/>
              </a:xfrm>
              <a:prstGeom prst="rect">
                <a:avLst/>
              </a:prstGeom>
              <a:blipFill>
                <a:blip r:embed="rId2"/>
                <a:stretch>
                  <a:fillRect l="-373" b="-322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F4B570C0-0E3D-34F7-D76A-257CE161CE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3"/>
          <a:stretch>
            <a:fillRect/>
          </a:stretch>
        </p:blipFill>
        <p:spPr>
          <a:xfrm>
            <a:off x="3632" y="2013216"/>
            <a:ext cx="4214670" cy="298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0F2CFE-5179-83B6-5338-4E4914E401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>
            <a:fillRect/>
          </a:stretch>
        </p:blipFill>
        <p:spPr>
          <a:xfrm>
            <a:off x="4066112" y="2018825"/>
            <a:ext cx="4206317" cy="298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D3B1FD-3143-8B08-F70A-2593605E5B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>
            <a:fillRect/>
          </a:stretch>
        </p:blipFill>
        <p:spPr>
          <a:xfrm>
            <a:off x="8053743" y="2013216"/>
            <a:ext cx="4206315" cy="29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930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22DD4592-C813-C159-9140-B52E7561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652" y="1711048"/>
            <a:ext cx="326997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400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(a) Single-layer design (Sb</a:t>
            </a:r>
            <a:r>
              <a:rPr lang="en-GB" sz="1400" b="1" baseline="-250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2</a:t>
            </a:r>
            <a:r>
              <a:rPr lang="en-GB" sz="1400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Se</a:t>
            </a:r>
            <a:r>
              <a:rPr lang="en-GB" sz="1400" b="1" baseline="-250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3</a:t>
            </a:r>
            <a:r>
              <a:rPr lang="en-GB" sz="1400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)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891522A2-9C35-6074-051C-2C3A338AD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4283" y="1705439"/>
            <a:ext cx="326997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400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(b) Two-layers design (Sb</a:t>
            </a:r>
            <a:r>
              <a:rPr lang="en-GB" sz="1400" b="1" baseline="-250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2</a:t>
            </a:r>
            <a:r>
              <a:rPr lang="en-GB" sz="1400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Se</a:t>
            </a:r>
            <a:r>
              <a:rPr lang="en-GB" sz="1400" b="1" baseline="-250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3</a:t>
            </a:r>
            <a:r>
              <a:rPr lang="en-GB" sz="1400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/TiO</a:t>
            </a:r>
            <a:r>
              <a:rPr lang="en-GB" sz="1400" b="1" baseline="-250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2</a:t>
            </a:r>
            <a:r>
              <a:rPr lang="en-GB" sz="1400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2">
                <a:extLst>
                  <a:ext uri="{FF2B5EF4-FFF2-40B4-BE49-F238E27FC236}">
                    <a16:creationId xmlns:a16="http://schemas.microsoft.com/office/drawing/2014/main" id="{40AFA504-9F42-ED86-D381-969A7B8B69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21914" y="1661453"/>
                <a:ext cx="3269974" cy="3833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just"/>
                <a:r>
                  <a:rPr lang="en-GB" sz="1300" b="1" dirty="0">
                    <a:effectLst/>
                    <a:latin typeface="Arial" panose="020B0604020202020204" pitchFamily="34" charset="0"/>
                    <a:ea typeface="TH Sarabun PSK"/>
                    <a:cs typeface="TH Sarabun PSK"/>
                  </a:rPr>
                  <a:t>(</a:t>
                </a:r>
                <a:r>
                  <a:rPr lang="en-GB" sz="1300" b="1" dirty="0">
                    <a:latin typeface="Arial" panose="020B0604020202020204" pitchFamily="34" charset="0"/>
                    <a:ea typeface="TH Sarabun PSK"/>
                    <a:cs typeface="TH Sarabun PSK"/>
                  </a:rPr>
                  <a:t>c</a:t>
                </a:r>
                <a:r>
                  <a:rPr lang="en-GB" sz="1300" b="1" dirty="0">
                    <a:effectLst/>
                    <a:latin typeface="Arial" panose="020B0604020202020204" pitchFamily="34" charset="0"/>
                    <a:ea typeface="TH Sarabun PSK"/>
                    <a:cs typeface="TH Sarabun PSK"/>
                  </a:rPr>
                  <a:t>) Edge-filter design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3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1300" b="1">
                            <a:effectLst/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GB" sz="1300" b="1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GB" sz="1300" b="1" i="1">
                                <a:effectLst/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𝑺𝒃𝑺𝒆</m:t>
                            </m:r>
                          </m:num>
                          <m:den>
                            <m:r>
                              <a:rPr lang="en-GB" sz="1300" b="1" i="1">
                                <a:effectLst/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GB" sz="1300" b="1">
                            <a:effectLst/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GB" sz="1300" b="1" i="1">
                            <a:effectLst/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𝐌𝐠𝐅</m:t>
                        </m:r>
                        <m:r>
                          <a:rPr lang="en-GB" sz="1300" b="1">
                            <a:effectLst/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/</m:t>
                        </m:r>
                        <m:f>
                          <m:fPr>
                            <m:ctrlPr>
                              <a:rPr lang="en-GB" sz="1300" b="1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GB" sz="1300" b="1" i="1">
                                <a:effectLst/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𝑺𝒃𝑺𝒆</m:t>
                            </m:r>
                          </m:num>
                          <m:den>
                            <m:r>
                              <a:rPr lang="en-GB" sz="1300" b="1" i="1">
                                <a:effectLst/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GB" sz="1300" b="1">
                            <a:effectLst/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GB" sz="1300" b="1" i="1">
                            <a:effectLst/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𝟓</m:t>
                        </m:r>
                      </m:sup>
                    </m:sSup>
                  </m:oMath>
                </a14:m>
                <a:endParaRPr lang="en-GB" sz="1300" b="1" dirty="0">
                  <a:effectLst/>
                  <a:latin typeface="Arial" panose="020B0604020202020204" pitchFamily="34" charset="0"/>
                  <a:ea typeface="TH Sarabun PSK"/>
                  <a:cs typeface="TH Sarabun PSK"/>
                </a:endParaRPr>
              </a:p>
            </p:txBody>
          </p:sp>
        </mc:Choice>
        <mc:Fallback xmlns="">
          <p:sp>
            <p:nvSpPr>
              <p:cNvPr id="4" name="Text Box 2">
                <a:extLst>
                  <a:ext uri="{FF2B5EF4-FFF2-40B4-BE49-F238E27FC236}">
                    <a16:creationId xmlns:a16="http://schemas.microsoft.com/office/drawing/2014/main" id="{40AFA504-9F42-ED86-D381-969A7B8B6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21914" y="1661453"/>
                <a:ext cx="3269974" cy="383375"/>
              </a:xfrm>
              <a:prstGeom prst="rect">
                <a:avLst/>
              </a:prstGeom>
              <a:blipFill>
                <a:blip r:embed="rId2"/>
                <a:stretch>
                  <a:fillRect l="-373" b="-322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E62718D-CC86-451E-CDBB-792DF46D4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7"/>
          <a:stretch>
            <a:fillRect/>
          </a:stretch>
        </p:blipFill>
        <p:spPr>
          <a:xfrm>
            <a:off x="0" y="2044828"/>
            <a:ext cx="4211700" cy="298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9CD10C-B0D5-8DF3-6BAA-9BF642DD9E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7"/>
          <a:stretch>
            <a:fillRect/>
          </a:stretch>
        </p:blipFill>
        <p:spPr>
          <a:xfrm>
            <a:off x="3990150" y="2046826"/>
            <a:ext cx="4211700" cy="298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8F51E6-7DAD-FB1A-ED8D-BDEBE5AFC3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7"/>
          <a:stretch>
            <a:fillRect/>
          </a:stretch>
        </p:blipFill>
        <p:spPr>
          <a:xfrm>
            <a:off x="7980300" y="2044828"/>
            <a:ext cx="4211700" cy="29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320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8E53AAE-4674-8731-E8FE-A3745702E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9" t="3623" r="6149" b="3623"/>
          <a:stretch>
            <a:fillRect/>
          </a:stretch>
        </p:blipFill>
        <p:spPr>
          <a:xfrm>
            <a:off x="1052513" y="0"/>
            <a:ext cx="100869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205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766BA90-7149-3A2F-A5D6-AFAF64F98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88" b="3055"/>
          <a:stretch>
            <a:fillRect/>
          </a:stretch>
        </p:blipFill>
        <p:spPr>
          <a:xfrm>
            <a:off x="762000" y="438150"/>
            <a:ext cx="5334000" cy="6210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7576A5-916B-3CB1-16ED-4E5A5C572A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88" b="3055"/>
          <a:stretch>
            <a:fillRect/>
          </a:stretch>
        </p:blipFill>
        <p:spPr>
          <a:xfrm>
            <a:off x="5828580" y="438150"/>
            <a:ext cx="5334000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634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4543072-3757-233B-84BE-B32C2482FD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2" t="6666" b="2516"/>
          <a:stretch>
            <a:fillRect/>
          </a:stretch>
        </p:blipFill>
        <p:spPr>
          <a:xfrm>
            <a:off x="492670" y="-2513"/>
            <a:ext cx="5793111" cy="68605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EFE170-57FA-DADE-C41D-0522204CB9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6" r="4529" b="2516"/>
          <a:stretch>
            <a:fillRect/>
          </a:stretch>
        </p:blipFill>
        <p:spPr>
          <a:xfrm>
            <a:off x="5725067" y="3531"/>
            <a:ext cx="5604461" cy="6854469"/>
          </a:xfrm>
          <a:prstGeom prst="rect">
            <a:avLst/>
          </a:prstGeom>
        </p:spPr>
      </p:pic>
      <p:sp>
        <p:nvSpPr>
          <p:cNvPr id="13" name="Text Box 2">
            <a:extLst>
              <a:ext uri="{FF2B5EF4-FFF2-40B4-BE49-F238E27FC236}">
                <a16:creationId xmlns:a16="http://schemas.microsoft.com/office/drawing/2014/main" id="{CB3E3DF2-12B4-3697-D3AC-8E30BBCCC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1744" y="423234"/>
            <a:ext cx="54251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6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(a)</a:t>
            </a:r>
          </a:p>
        </p:txBody>
      </p:sp>
      <p:sp>
        <p:nvSpPr>
          <p:cNvPr id="15" name="Text Box 2">
            <a:extLst>
              <a:ext uri="{FF2B5EF4-FFF2-40B4-BE49-F238E27FC236}">
                <a16:creationId xmlns:a16="http://schemas.microsoft.com/office/drawing/2014/main" id="{CF2AFB40-0253-886C-03D1-C9E3B1D44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6039" y="423234"/>
            <a:ext cx="54251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600" dirty="0"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579365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E794287-A650-F804-D780-B6D8B6293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481" y="2185811"/>
            <a:ext cx="3830518" cy="43093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41F80C-8BBB-47EE-3621-AFEDFC8281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185811"/>
            <a:ext cx="3830518" cy="4309332"/>
          </a:xfrm>
          <a:prstGeom prst="rect">
            <a:avLst/>
          </a:prstGeom>
        </p:spPr>
      </p:pic>
      <p:sp>
        <p:nvSpPr>
          <p:cNvPr id="9" name="Text Box 2">
            <a:extLst>
              <a:ext uri="{FF2B5EF4-FFF2-40B4-BE49-F238E27FC236}">
                <a16:creationId xmlns:a16="http://schemas.microsoft.com/office/drawing/2014/main" id="{24E84B17-C226-ED71-FBA9-88BFCAE0C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3619" y="2297262"/>
            <a:ext cx="413385" cy="26161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1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(a)</a:t>
            </a:r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C0420F42-88D3-F7AD-1429-7B3AF848A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7787" y="2296482"/>
            <a:ext cx="413385" cy="2603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1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3477267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CA97C23-393C-ED27-FE0F-ECAF5A02B3A7}"/>
              </a:ext>
            </a:extLst>
          </p:cNvPr>
          <p:cNvGrpSpPr>
            <a:grpSpLocks noChangeAspect="1"/>
          </p:cNvGrpSpPr>
          <p:nvPr/>
        </p:nvGrpSpPr>
        <p:grpSpPr>
          <a:xfrm>
            <a:off x="2549842" y="2151063"/>
            <a:ext cx="7092315" cy="2468187"/>
            <a:chOff x="0" y="0"/>
            <a:chExt cx="5276215" cy="18923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B1974AE-5221-AF23-B014-D6A57EE34ED6}"/>
                </a:ext>
              </a:extLst>
            </p:cNvPr>
            <p:cNvGrpSpPr/>
            <p:nvPr/>
          </p:nvGrpSpPr>
          <p:grpSpPr>
            <a:xfrm>
              <a:off x="0" y="0"/>
              <a:ext cx="5276215" cy="1892300"/>
              <a:chOff x="0" y="0"/>
              <a:chExt cx="5335797" cy="1913890"/>
            </a:xfrm>
          </p:grpSpPr>
          <p:pic>
            <p:nvPicPr>
              <p:cNvPr id="11" name="Picture 10" descr="A graph with a blue line&#10;&#10;Description automatically generated">
                <a:extLst>
                  <a:ext uri="{FF2B5EF4-FFF2-40B4-BE49-F238E27FC236}">
                    <a16:creationId xmlns:a16="http://schemas.microsoft.com/office/drawing/2014/main" id="{36FFE555-41B6-DF2D-46C4-686DCA25C7D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424" r="4500"/>
              <a:stretch/>
            </p:blipFill>
            <p:spPr bwMode="auto">
              <a:xfrm>
                <a:off x="0" y="8626"/>
                <a:ext cx="2609850" cy="1898015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pic>
            <p:nvPicPr>
              <p:cNvPr id="12" name="Picture 11" descr="A graph with a curved line&#10;&#10;Description automatically generated">
                <a:extLst>
                  <a:ext uri="{FF2B5EF4-FFF2-40B4-BE49-F238E27FC236}">
                    <a16:creationId xmlns:a16="http://schemas.microsoft.com/office/drawing/2014/main" id="{49788106-C9A1-1EDE-E443-0C438C42BFC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424" r="5325"/>
              <a:stretch/>
            </p:blipFill>
            <p:spPr bwMode="auto">
              <a:xfrm>
                <a:off x="2725947" y="0"/>
                <a:ext cx="2609850" cy="1913890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F7888A4-5193-05FE-6035-C86F786A1E88}"/>
                </a:ext>
              </a:extLst>
            </p:cNvPr>
            <p:cNvCxnSpPr/>
            <p:nvPr/>
          </p:nvCxnSpPr>
          <p:spPr>
            <a:xfrm>
              <a:off x="2250057" y="640151"/>
              <a:ext cx="0" cy="628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8FDB12C-F998-C65E-2B99-A8CB85191B46}"/>
                </a:ext>
              </a:extLst>
            </p:cNvPr>
            <p:cNvCxnSpPr/>
            <p:nvPr/>
          </p:nvCxnSpPr>
          <p:spPr>
            <a:xfrm>
              <a:off x="4967377" y="640151"/>
              <a:ext cx="0" cy="629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C77A9CB-BECD-5A96-C102-99D2F2D46DF5}"/>
                </a:ext>
              </a:extLst>
            </p:cNvPr>
            <p:cNvCxnSpPr/>
            <p:nvPr/>
          </p:nvCxnSpPr>
          <p:spPr>
            <a:xfrm flipV="1">
              <a:off x="3224842" y="676454"/>
              <a:ext cx="0" cy="6292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3" name="Text Box 2">
            <a:extLst>
              <a:ext uri="{FF2B5EF4-FFF2-40B4-BE49-F238E27FC236}">
                <a16:creationId xmlns:a16="http://schemas.microsoft.com/office/drawing/2014/main" id="{AEB96D17-0AC3-16C2-363E-8AB38E9C3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3540" y="2306787"/>
            <a:ext cx="413385" cy="26161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1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(a)</a:t>
            </a:r>
          </a:p>
        </p:txBody>
      </p:sp>
      <p:sp>
        <p:nvSpPr>
          <p:cNvPr id="14" name="Text Box 2">
            <a:extLst>
              <a:ext uri="{FF2B5EF4-FFF2-40B4-BE49-F238E27FC236}">
                <a16:creationId xmlns:a16="http://schemas.microsoft.com/office/drawing/2014/main" id="{FCBBE230-C788-549E-373E-7511200C9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8354" y="2288318"/>
            <a:ext cx="413385" cy="2603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1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(b)</a:t>
            </a:r>
          </a:p>
        </p:txBody>
      </p:sp>
      <p:sp>
        <p:nvSpPr>
          <p:cNvPr id="16" name="Text Box 2">
            <a:extLst>
              <a:ext uri="{FF2B5EF4-FFF2-40B4-BE49-F238E27FC236}">
                <a16:creationId xmlns:a16="http://schemas.microsoft.com/office/drawing/2014/main" id="{81A7B36C-D5AD-2A5A-2293-0E579DD1D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2794" y="2781048"/>
            <a:ext cx="897890" cy="260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100" dirty="0">
                <a:solidFill>
                  <a:srgbClr val="196B24"/>
                </a:solidFill>
                <a:effectLst/>
                <a:latin typeface="Arial" panose="020B0604020202020204" pitchFamily="34" charset="0"/>
                <a:ea typeface="TH Sarabun PSK"/>
                <a:cs typeface="TH Sarabun PSK"/>
              </a:rPr>
              <a:t>n</a:t>
            </a:r>
            <a:r>
              <a:rPr lang="en-GB" sz="1100" baseline="-25000" dirty="0">
                <a:solidFill>
                  <a:srgbClr val="196B24"/>
                </a:solidFill>
                <a:effectLst/>
                <a:latin typeface="Arial" panose="020B0604020202020204" pitchFamily="34" charset="0"/>
                <a:ea typeface="TH Sarabun PSK"/>
                <a:cs typeface="TH Sarabun PSK"/>
              </a:rPr>
              <a:t>r</a:t>
            </a:r>
            <a:r>
              <a:rPr lang="en-GB" sz="1100" dirty="0">
                <a:solidFill>
                  <a:srgbClr val="196B24"/>
                </a:solidFill>
                <a:effectLst/>
                <a:latin typeface="Arial" panose="020B0604020202020204" pitchFamily="34" charset="0"/>
                <a:ea typeface="TH Sarabun PSK"/>
                <a:cs typeface="TH Sarabun PSK"/>
              </a:rPr>
              <a:t>=n</a:t>
            </a:r>
            <a:r>
              <a:rPr lang="en-GB" sz="1100" baseline="-25000" dirty="0">
                <a:solidFill>
                  <a:srgbClr val="196B24"/>
                </a:solidFill>
                <a:effectLst/>
                <a:latin typeface="Arial" panose="020B0604020202020204" pitchFamily="34" charset="0"/>
                <a:ea typeface="TH Sarabun PSK"/>
                <a:cs typeface="TH Sarabun PSK"/>
              </a:rPr>
              <a:t>a</a:t>
            </a:r>
            <a:r>
              <a:rPr lang="en-GB" sz="1100" dirty="0">
                <a:solidFill>
                  <a:srgbClr val="196B24"/>
                </a:solidFill>
                <a:effectLst/>
                <a:latin typeface="Arial" panose="020B0604020202020204" pitchFamily="34" charset="0"/>
                <a:ea typeface="TH Sarabun PSK"/>
                <a:cs typeface="TH Sarabun PSK"/>
              </a:rPr>
              <a:t>=1.0</a:t>
            </a:r>
          </a:p>
        </p:txBody>
      </p:sp>
      <p:sp>
        <p:nvSpPr>
          <p:cNvPr id="17" name="Text Box 2">
            <a:extLst>
              <a:ext uri="{FF2B5EF4-FFF2-40B4-BE49-F238E27FC236}">
                <a16:creationId xmlns:a16="http://schemas.microsoft.com/office/drawing/2014/main" id="{333B60FF-DBC5-34C3-F44B-354F029BE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613" y="3021329"/>
            <a:ext cx="651510" cy="260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100" dirty="0">
                <a:solidFill>
                  <a:srgbClr val="1515FF"/>
                </a:solidFill>
                <a:effectLst/>
                <a:latin typeface="Arial" panose="020B0604020202020204" pitchFamily="34" charset="0"/>
                <a:ea typeface="TH Sarabun PSK"/>
                <a:cs typeface="TH Sarabun PSK"/>
              </a:rPr>
              <a:t>n</a:t>
            </a:r>
            <a:r>
              <a:rPr lang="en-GB" sz="1100" baseline="-25000" dirty="0">
                <a:solidFill>
                  <a:srgbClr val="1515FF"/>
                </a:solidFill>
                <a:effectLst/>
                <a:latin typeface="Arial" panose="020B0604020202020204" pitchFamily="34" charset="0"/>
                <a:ea typeface="TH Sarabun PSK"/>
                <a:cs typeface="TH Sarabun PSK"/>
              </a:rPr>
              <a:t>s</a:t>
            </a:r>
            <a:r>
              <a:rPr lang="en-GB" sz="1100" dirty="0">
                <a:solidFill>
                  <a:srgbClr val="1515FF"/>
                </a:solidFill>
                <a:effectLst/>
                <a:latin typeface="Arial" panose="020B0604020202020204" pitchFamily="34" charset="0"/>
                <a:ea typeface="TH Sarabun PSK"/>
                <a:cs typeface="TH Sarabun PSK"/>
              </a:rPr>
              <a:t>=1.5</a:t>
            </a:r>
          </a:p>
        </p:txBody>
      </p:sp>
    </p:spTree>
    <p:extLst>
      <p:ext uri="{BB962C8B-B14F-4D97-AF65-F5344CB8AC3E}">
        <p14:creationId xmlns:p14="http://schemas.microsoft.com/office/powerpoint/2010/main" val="3404099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graph&#10;&#10;Description automatically generated">
            <a:extLst>
              <a:ext uri="{FF2B5EF4-FFF2-40B4-BE49-F238E27FC236}">
                <a16:creationId xmlns:a16="http://schemas.microsoft.com/office/drawing/2014/main" id="{972D6D58-2774-2DF0-7C4C-E4BCF61414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90" r="7099"/>
          <a:stretch/>
        </p:blipFill>
        <p:spPr bwMode="auto">
          <a:xfrm>
            <a:off x="3853976" y="1550077"/>
            <a:ext cx="4099529" cy="2628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35115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D8ACBB4-61B2-962A-7526-43176ABF5743}"/>
              </a:ext>
            </a:extLst>
          </p:cNvPr>
          <p:cNvGrpSpPr/>
          <p:nvPr/>
        </p:nvGrpSpPr>
        <p:grpSpPr>
          <a:xfrm>
            <a:off x="2869070" y="1218734"/>
            <a:ext cx="7223905" cy="2700391"/>
            <a:chOff x="4507370" y="411014"/>
            <a:chExt cx="7223905" cy="270039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DB89C2E-D261-4FBD-7B0E-36D1FF73EC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053" r="6013"/>
            <a:stretch/>
          </p:blipFill>
          <p:spPr bwMode="auto">
            <a:xfrm>
              <a:off x="4507370" y="411014"/>
              <a:ext cx="3602933" cy="2700391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22" name="Picture 21" descr="A graph with red and green arrows&#10;&#10;Description automatically generated">
              <a:extLst>
                <a:ext uri="{FF2B5EF4-FFF2-40B4-BE49-F238E27FC236}">
                  <a16:creationId xmlns:a16="http://schemas.microsoft.com/office/drawing/2014/main" id="{88EA67B4-BCCD-14A3-9822-8E96E32AD5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053" r="5552"/>
            <a:stretch/>
          </p:blipFill>
          <p:spPr bwMode="auto">
            <a:xfrm>
              <a:off x="8110303" y="411014"/>
              <a:ext cx="3620972" cy="2700391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8" name="Text Box 2">
              <a:extLst>
                <a:ext uri="{FF2B5EF4-FFF2-40B4-BE49-F238E27FC236}">
                  <a16:creationId xmlns:a16="http://schemas.microsoft.com/office/drawing/2014/main" id="{648CED21-64BB-F935-25F9-728CB216A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4193" y="1364565"/>
              <a:ext cx="1267532" cy="3125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/>
              <a:r>
                <a:rPr lang="en-GB" sz="1100" dirty="0">
                  <a:solidFill>
                    <a:srgbClr val="12512A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θ =</a:t>
              </a:r>
              <a:r>
                <a:rPr lang="ar-SA" sz="1100" dirty="0">
                  <a:solidFill>
                    <a:srgbClr val="12512A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r>
                <a:rPr lang="en-GB" sz="1100" dirty="0">
                  <a:solidFill>
                    <a:srgbClr val="12512A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1.18</a:t>
              </a:r>
              <a:r>
                <a:rPr lang="en-GB" sz="1100" dirty="0">
                  <a:solidFill>
                    <a:srgbClr val="12512A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r>
                <a:rPr lang="en-GB" sz="1100" dirty="0">
                  <a:solidFill>
                    <a:srgbClr val="12512A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QWOT</a:t>
              </a:r>
            </a:p>
          </p:txBody>
        </p:sp>
        <p:sp>
          <p:nvSpPr>
            <p:cNvPr id="19" name="Text Box 2">
              <a:extLst>
                <a:ext uri="{FF2B5EF4-FFF2-40B4-BE49-F238E27FC236}">
                  <a16:creationId xmlns:a16="http://schemas.microsoft.com/office/drawing/2014/main" id="{98398C8C-7CF4-7DF6-C758-242A61F2AD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77425" y="2077724"/>
              <a:ext cx="1277043" cy="3125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/>
              <a:r>
                <a:rPr lang="en-GB" sz="1100" dirty="0">
                  <a:solidFill>
                    <a:srgbClr val="86313B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θ = 1.47 QWOT</a:t>
              </a:r>
            </a:p>
          </p:txBody>
        </p:sp>
      </p:grpSp>
      <p:sp>
        <p:nvSpPr>
          <p:cNvPr id="5" name="Text Box 2">
            <a:extLst>
              <a:ext uri="{FF2B5EF4-FFF2-40B4-BE49-F238E27FC236}">
                <a16:creationId xmlns:a16="http://schemas.microsoft.com/office/drawing/2014/main" id="{AF027207-819D-A914-A6E7-739BC7C6F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0536" y="1463583"/>
            <a:ext cx="1277043" cy="312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/>
            <a:r>
              <a:rPr lang="en-GB" sz="1100" dirty="0">
                <a:solidFill>
                  <a:srgbClr val="86313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θ = </a:t>
            </a:r>
            <a:r>
              <a:rPr lang="en-GB" sz="1100" dirty="0">
                <a:solidFill>
                  <a:srgbClr val="86313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0.53</a:t>
            </a:r>
            <a:r>
              <a:rPr lang="en-GB" sz="1100" dirty="0">
                <a:solidFill>
                  <a:srgbClr val="86313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QWOT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2C4F75EB-F234-5CBF-0BBC-A13E8865A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3113" y="2172285"/>
            <a:ext cx="1267532" cy="312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/>
            <a:r>
              <a:rPr lang="en-GB" sz="1100" dirty="0">
                <a:solidFill>
                  <a:srgbClr val="12512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θ =</a:t>
            </a:r>
            <a:r>
              <a:rPr lang="ar-SA" sz="1100" dirty="0">
                <a:solidFill>
                  <a:srgbClr val="12512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GB" sz="1100" dirty="0">
                <a:solidFill>
                  <a:srgbClr val="12512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0.82 </a:t>
            </a:r>
            <a:r>
              <a:rPr lang="en-GB" sz="1100" dirty="0">
                <a:solidFill>
                  <a:srgbClr val="12512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QWOT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F3801EE3-1CAB-EA23-DEE4-9A0301774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6418" y="1313726"/>
            <a:ext cx="413385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1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(a)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6AA382DE-E6E6-82B8-E565-399AF630E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8861" y="1308972"/>
            <a:ext cx="41338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1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619310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2ADBCA-D6A6-9910-70D4-17FFA99EF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2" r="1532"/>
          <a:stretch/>
        </p:blipFill>
        <p:spPr bwMode="auto">
          <a:xfrm>
            <a:off x="2829877" y="2601276"/>
            <a:ext cx="3490219" cy="270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0EBC14-0BB4-6E8C-6D00-93F2177952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7" r="2117"/>
          <a:stretch/>
        </p:blipFill>
        <p:spPr bwMode="auto">
          <a:xfrm>
            <a:off x="6166166" y="2601276"/>
            <a:ext cx="3447756" cy="270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40D0B4EA-A818-9516-959C-15117063D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7632" y="2883446"/>
            <a:ext cx="413385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1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(a)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B09B790E-0D83-AF87-B9EA-AC895D36F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3921" y="2884706"/>
            <a:ext cx="41338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1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1749562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graph with lines and dots&#10;&#10;AI-generated content may be incorrect.">
            <a:extLst>
              <a:ext uri="{FF2B5EF4-FFF2-40B4-BE49-F238E27FC236}">
                <a16:creationId xmlns:a16="http://schemas.microsoft.com/office/drawing/2014/main" id="{53DF7E74-E12F-4C21-2D04-5494F0B1735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9" r="5325"/>
          <a:stretch/>
        </p:blipFill>
        <p:spPr bwMode="auto">
          <a:xfrm>
            <a:off x="4916805" y="1495741"/>
            <a:ext cx="3587685" cy="270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E9521E1-27DC-81BE-6008-49DB65147BC5}"/>
              </a:ext>
            </a:extLst>
          </p:cNvPr>
          <p:cNvSpPr/>
          <p:nvPr/>
        </p:nvSpPr>
        <p:spPr>
          <a:xfrm>
            <a:off x="5951220" y="1495741"/>
            <a:ext cx="1790700" cy="1806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16764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a graph with lines and dots&#10;&#10;AI-generated content may be incorrect.">
            <a:extLst>
              <a:ext uri="{FF2B5EF4-FFF2-40B4-BE49-F238E27FC236}">
                <a16:creationId xmlns:a16="http://schemas.microsoft.com/office/drawing/2014/main" id="{4DCFF097-E25A-9434-D9E5-91C00A53FFE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44" r="7982"/>
          <a:stretch/>
        </p:blipFill>
        <p:spPr bwMode="auto">
          <a:xfrm>
            <a:off x="4953000" y="2547301"/>
            <a:ext cx="3500180" cy="270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2F5C5EC3-0CCF-B58D-5422-1BFC3BD27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7700" y="4328110"/>
            <a:ext cx="1492957" cy="312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/>
            <a:r>
              <a:rPr lang="en-GB" sz="11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Compensator layer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5AA919B-DDC1-FED6-A8BC-37A2DDE69700}"/>
              </a:ext>
            </a:extLst>
          </p:cNvPr>
          <p:cNvCxnSpPr>
            <a:cxnSpLocks/>
          </p:cNvCxnSpPr>
          <p:nvPr/>
        </p:nvCxnSpPr>
        <p:spPr>
          <a:xfrm flipH="1" flipV="1">
            <a:off x="5727700" y="4384675"/>
            <a:ext cx="114300" cy="69850"/>
          </a:xfrm>
          <a:prstGeom prst="straightConnector1">
            <a:avLst/>
          </a:prstGeom>
          <a:ln>
            <a:solidFill>
              <a:srgbClr val="BBBB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8972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2354664-4D6D-CF56-363E-216E97D13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7826" y="643467"/>
            <a:ext cx="4952059" cy="55710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41238A-1BAD-3EAF-5FEA-2315E5C70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69885" y="643467"/>
            <a:ext cx="4952059" cy="5571066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6AB05161-78B6-0F36-FDCF-34AD20B56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1629" y="1320375"/>
            <a:ext cx="5052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ctr"/>
            <a:r>
              <a:rPr lang="en-GB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(a)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42D66ADB-11E7-4E11-124E-0E64D40C5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3688" y="1320375"/>
            <a:ext cx="5052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ctr"/>
            <a:r>
              <a:rPr lang="en-GB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6983219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9CC76B-1FCF-4E55-8AB9-C5CB0D3E9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52" y="643467"/>
            <a:ext cx="4958248" cy="55710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2FB05B-2C12-341A-6065-2B8054A0D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9094" y="643467"/>
            <a:ext cx="4952059" cy="5571066"/>
          </a:xfrm>
          <a:prstGeom prst="rect">
            <a:avLst/>
          </a:prstGeom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648562E1-ABE5-C0E2-815D-B98765E08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0897" y="1320375"/>
            <a:ext cx="5052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ctr"/>
            <a:r>
              <a:rPr lang="en-GB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(a)</a:t>
            </a: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B734F301-707A-C5FD-6707-3C118FE40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2897" y="1320375"/>
            <a:ext cx="5052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ctr"/>
            <a:r>
              <a:rPr lang="en-GB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2406148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F18D20-C83F-4801-5C29-02FDF1BDF7C1}"/>
              </a:ext>
            </a:extLst>
          </p:cNvPr>
          <p:cNvGrpSpPr/>
          <p:nvPr/>
        </p:nvGrpSpPr>
        <p:grpSpPr>
          <a:xfrm>
            <a:off x="3353753" y="1851660"/>
            <a:ext cx="5484494" cy="1691640"/>
            <a:chOff x="0" y="7952"/>
            <a:chExt cx="5762979" cy="179242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7C559DF-8EB1-3519-7A99-DFC9F64AF8BF}"/>
                </a:ext>
              </a:extLst>
            </p:cNvPr>
            <p:cNvGrpSpPr/>
            <p:nvPr/>
          </p:nvGrpSpPr>
          <p:grpSpPr>
            <a:xfrm>
              <a:off x="0" y="7952"/>
              <a:ext cx="5762979" cy="1792427"/>
              <a:chOff x="0" y="7952"/>
              <a:chExt cx="5762979" cy="1792427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F149770E-4A82-8C47-6743-5D9F07B64CAA}"/>
                  </a:ext>
                </a:extLst>
              </p:cNvPr>
              <p:cNvGrpSpPr/>
              <p:nvPr/>
            </p:nvGrpSpPr>
            <p:grpSpPr>
              <a:xfrm>
                <a:off x="0" y="7952"/>
                <a:ext cx="5762979" cy="1792427"/>
                <a:chOff x="0" y="7952"/>
                <a:chExt cx="5762979" cy="1792427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FF272D9A-AA6C-AC95-2A8A-ABDAEB7D7802}"/>
                    </a:ext>
                  </a:extLst>
                </p:cNvPr>
                <p:cNvGrpSpPr/>
                <p:nvPr/>
              </p:nvGrpSpPr>
              <p:grpSpPr>
                <a:xfrm>
                  <a:off x="0" y="7952"/>
                  <a:ext cx="5762979" cy="1792427"/>
                  <a:chOff x="0" y="211782"/>
                  <a:chExt cx="6797630" cy="2309254"/>
                </a:xfrm>
              </p:grpSpPr>
              <p:pic>
                <p:nvPicPr>
                  <p:cNvPr id="13" name="Picture 12" descr="A graph of a function&#10;&#10;Description automatically generated">
                    <a:extLst>
                      <a:ext uri="{FF2B5EF4-FFF2-40B4-BE49-F238E27FC236}">
                        <a16:creationId xmlns:a16="http://schemas.microsoft.com/office/drawing/2014/main" id="{AC58C6B8-E75D-379D-F763-0DF313246E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8440" r="3"/>
                  <a:stretch/>
                </p:blipFill>
                <p:spPr>
                  <a:xfrm>
                    <a:off x="0" y="211782"/>
                    <a:ext cx="3359668" cy="2307029"/>
                  </a:xfrm>
                  <a:prstGeom prst="rect">
                    <a:avLst/>
                  </a:prstGeom>
                </p:spPr>
              </p:pic>
              <p:pic>
                <p:nvPicPr>
                  <p:cNvPr id="14" name="Picture 13" descr="A green line on a white background&#10;&#10;Description automatically generated">
                    <a:extLst>
                      <a:ext uri="{FF2B5EF4-FFF2-40B4-BE49-F238E27FC236}">
                        <a16:creationId xmlns:a16="http://schemas.microsoft.com/office/drawing/2014/main" id="{30B66BF1-D097-DECC-F1FF-71190AA46E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8442"/>
                  <a:stretch/>
                </p:blipFill>
                <p:spPr bwMode="auto">
                  <a:xfrm>
                    <a:off x="3434317" y="211782"/>
                    <a:ext cx="3363313" cy="2309254"/>
                  </a:xfrm>
                  <a:prstGeom prst="rect">
                    <a:avLst/>
                  </a:prstGeom>
                  <a:ln>
                    <a:noFill/>
                  </a:ln>
                  <a:extLst>
                    <a:ext uri="{53640926-AAD7-44D8-BBD7-CCE9431645EC}">
                      <a14:shadowObscured xmlns:a14="http://schemas.microsoft.com/office/drawing/2010/main"/>
                    </a:ext>
                  </a:extLst>
                </p:spPr>
              </p:pic>
            </p:grpSp>
            <p:sp>
              <p:nvSpPr>
                <p:cNvPr id="9" name="Text Box 2">
                  <a:extLst>
                    <a:ext uri="{FF2B5EF4-FFF2-40B4-BE49-F238E27FC236}">
                      <a16:creationId xmlns:a16="http://schemas.microsoft.com/office/drawing/2014/main" id="{D0ADAEE1-2210-6DFD-455B-ADF0FBC147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12610" y="115290"/>
                  <a:ext cx="523898" cy="42036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r>
                    <a:rPr lang="en-US" sz="80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</a:rPr>
                    <a:t>θ </a:t>
                  </a:r>
                  <a:r>
                    <a:rPr lang="en-US" sz="8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= 0</a:t>
                  </a:r>
                  <a:endParaRPr lang="en-GB" sz="1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r>
                    <a:rPr lang="en-US" sz="8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n</a:t>
                  </a:r>
                  <a:r>
                    <a:rPr lang="en-US" sz="800" baseline="-250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r </a:t>
                  </a:r>
                  <a:r>
                    <a:rPr lang="en-US" sz="8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= 1.5</a:t>
                  </a:r>
                  <a:endParaRPr lang="en-GB" sz="1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r>
                    <a:rPr lang="en-US" sz="8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  <a:endParaRPr lang="en-GB" sz="1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r>
                    <a:rPr lang="en-US" sz="800" b="1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  <a:endParaRPr lang="en-GB" sz="1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0" name="Text Box 2">
                  <a:extLst>
                    <a:ext uri="{FF2B5EF4-FFF2-40B4-BE49-F238E27FC236}">
                      <a16:creationId xmlns:a16="http://schemas.microsoft.com/office/drawing/2014/main" id="{D06898F4-2B1D-9A43-7583-83A28CC041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913046" y="55397"/>
                  <a:ext cx="530876" cy="38707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r>
                    <a:rPr lang="en-US" sz="8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</a:rPr>
                    <a:t>θ </a:t>
                  </a:r>
                  <a:r>
                    <a:rPr lang="en-US" sz="8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= 0</a:t>
                  </a:r>
                  <a:endParaRPr lang="en-GB" sz="1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r>
                    <a:rPr lang="en-US" sz="8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n</a:t>
                  </a:r>
                  <a:r>
                    <a:rPr lang="en-US" sz="800" baseline="-250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r</a:t>
                  </a:r>
                  <a:r>
                    <a:rPr lang="en-US" sz="8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 = 1.5</a:t>
                  </a:r>
                  <a:endParaRPr lang="en-GB" sz="1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r>
                    <a:rPr lang="en-US" sz="8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  <a:endParaRPr lang="en-GB" sz="1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r>
                    <a:rPr lang="en-US" sz="800" b="1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  <a:endParaRPr lang="en-GB" sz="1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1" name="Text Box 2">
                  <a:extLst>
                    <a:ext uri="{FF2B5EF4-FFF2-40B4-BE49-F238E27FC236}">
                      <a16:creationId xmlns:a16="http://schemas.microsoft.com/office/drawing/2014/main" id="{FF5C3CEE-482A-BD80-CF39-20EADA25DE1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63088" y="89978"/>
                  <a:ext cx="679943" cy="34780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r>
                    <a:rPr lang="en-US" sz="8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</a:rPr>
                    <a:t>θ</a:t>
                  </a:r>
                  <a:r>
                    <a:rPr lang="en-US" sz="8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 = </a:t>
                  </a:r>
                  <a:r>
                    <a:rPr lang="en-US" sz="8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</a:rPr>
                    <a:t>π</a:t>
                  </a:r>
                  <a:r>
                    <a:rPr lang="ar-SA" sz="8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/</a:t>
                  </a:r>
                  <a:r>
                    <a:rPr lang="en-GB" sz="8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2</a:t>
                  </a:r>
                </a:p>
                <a:p>
                  <a:r>
                    <a:rPr lang="en-US" sz="8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n</a:t>
                  </a:r>
                  <a:r>
                    <a:rPr lang="en-US" sz="800" baseline="-250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r</a:t>
                  </a:r>
                  <a:r>
                    <a:rPr lang="en-US" sz="8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 = 0.96</a:t>
                  </a:r>
                  <a:endParaRPr lang="en-GB" sz="1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2" name="Text Box 2">
                  <a:extLst>
                    <a:ext uri="{FF2B5EF4-FFF2-40B4-BE49-F238E27FC236}">
                      <a16:creationId xmlns:a16="http://schemas.microsoft.com/office/drawing/2014/main" id="{1A845EEA-765B-D6AD-5F42-F7DCA40697B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15048" y="72551"/>
                  <a:ext cx="639862" cy="42037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r>
                    <a:rPr lang="en-US" sz="8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</a:rPr>
                    <a:t>θ </a:t>
                  </a:r>
                  <a:r>
                    <a:rPr lang="en-US" sz="8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= </a:t>
                  </a:r>
                  <a:r>
                    <a:rPr lang="en-US" sz="8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</a:rPr>
                    <a:t>π</a:t>
                  </a:r>
                  <a:r>
                    <a:rPr lang="en-GB" sz="800" dirty="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/2</a:t>
                  </a:r>
                </a:p>
                <a:p>
                  <a:r>
                    <a:rPr lang="en-US" sz="8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n</a:t>
                  </a:r>
                  <a:r>
                    <a:rPr lang="en-US" sz="800" baseline="-250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r</a:t>
                  </a:r>
                  <a:r>
                    <a:rPr lang="en-US" sz="8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 = 1.00</a:t>
                  </a:r>
                  <a:endParaRPr lang="en-GB" sz="1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r>
                    <a:rPr lang="en-US" sz="800" b="1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  <a:endParaRPr lang="en-GB" sz="1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" name="Text Box 2">
                <a:extLst>
                  <a:ext uri="{FF2B5EF4-FFF2-40B4-BE49-F238E27FC236}">
                    <a16:creationId xmlns:a16="http://schemas.microsoft.com/office/drawing/2014/main" id="{EA5E015F-6F0F-4D6F-77EF-1C4357684C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371" y="1323877"/>
                <a:ext cx="3962539" cy="3553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r>
                  <a:rPr lang="en-US" sz="10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(a)			 (b)</a:t>
                </a:r>
                <a:endParaRPr lang="en-GB" sz="1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CB621B26-390A-DCCF-B11F-F19A8B4C4440}"/>
                </a:ext>
              </a:extLst>
            </p:cNvPr>
            <p:cNvCxnSpPr/>
            <p:nvPr/>
          </p:nvCxnSpPr>
          <p:spPr>
            <a:xfrm flipV="1">
              <a:off x="563088" y="121227"/>
              <a:ext cx="0" cy="692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FB6CA4C0-7DC6-0D13-B039-B3D486CD468B}"/>
                </a:ext>
              </a:extLst>
            </p:cNvPr>
            <p:cNvCxnSpPr/>
            <p:nvPr/>
          </p:nvCxnSpPr>
          <p:spPr>
            <a:xfrm flipV="1">
              <a:off x="3615047" y="115290"/>
              <a:ext cx="0" cy="692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0050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4163</TotalTime>
  <Words>252</Words>
  <Application>Microsoft Office PowerPoint</Application>
  <PresentationFormat>Widescreen</PresentationFormat>
  <Paragraphs>72</Paragraphs>
  <Slides>24</Slides>
  <Notes>3</Notes>
  <HiddenSlides>11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Chettant Padungatthakij</dc:creator>
  <cp:lastModifiedBy>Chettanat Padungatthakij</cp:lastModifiedBy>
  <cp:revision>23</cp:revision>
  <dcterms:created xsi:type="dcterms:W3CDTF">2026-01-12T00:22:11Z</dcterms:created>
  <dcterms:modified xsi:type="dcterms:W3CDTF">2026-06-18T11:12:39Z</dcterms:modified>
</cp:coreProperties>
</file>